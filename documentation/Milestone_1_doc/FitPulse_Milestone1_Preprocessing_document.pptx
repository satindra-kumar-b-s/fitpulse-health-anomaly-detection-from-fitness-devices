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0" r:id="rId7"/>
    <p:sldId id="266" r:id="rId8"/>
    <p:sldId id="261" r:id="rId9"/>
    <p:sldId id="268" r:id="rId10"/>
    <p:sldId id="262" r:id="rId11"/>
    <p:sldId id="263" r:id="rId12"/>
    <p:sldId id="271" r:id="rId13"/>
    <p:sldId id="272" r:id="rId14"/>
    <p:sldId id="274" r:id="rId15"/>
    <p:sldId id="275" r:id="rId16"/>
    <p:sldId id="276" r:id="rId17"/>
    <p:sldId id="277" r:id="rId18"/>
    <p:sldId id="278" r:id="rId19"/>
    <p:sldId id="279" r:id="rId20"/>
    <p:sldId id="273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3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0000" y="800000"/>
            <a:ext cx="9400000" cy="1600000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/>
              <a:t>FitPulse Analytics</a:t>
            </a:r>
          </a:p>
          <a:p>
            <a:pPr algn="ctr"/>
            <a:r>
              <a:rPr lang="en-US" sz="2000" b="0" dirty="0"/>
              <a:t>Milestone 1 — Data Preprocessing Pipeline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00000" y="3200000"/>
            <a:ext cx="6000000" cy="3200000"/>
          </a:xfrm>
        </p:spPr>
        <p:txBody>
          <a:bodyPr>
            <a:normAutofit/>
          </a:bodyPr>
          <a:lstStyle/>
          <a:p>
            <a:r>
              <a:rPr lang="en-IN" sz="1800" b="1" dirty="0"/>
              <a:t>Presented by:</a:t>
            </a:r>
          </a:p>
          <a:p>
            <a:r>
              <a:rPr lang="en-IN" sz="1600" dirty="0"/>
              <a:t>Satindra Kumar B S</a:t>
            </a:r>
          </a:p>
          <a:p>
            <a:endParaRPr lang="en-IN" sz="1200" dirty="0"/>
          </a:p>
          <a:p>
            <a:r>
              <a:rPr lang="en-IN" sz="1300" dirty="0"/>
              <a:t>Fitness ML Analytics Pipeline</a:t>
            </a:r>
          </a:p>
          <a:p>
            <a:r>
              <a:rPr lang="en-IN" sz="1300" dirty="0"/>
              <a:t>Streamlit • Python • Pandas • Scikit-Learn</a:t>
            </a:r>
          </a:p>
        </p:txBody>
      </p:sp>
    </p:spTree>
    <p:extLst>
      <p:ext uri="{BB962C8B-B14F-4D97-AF65-F5344CB8AC3E}">
        <p14:creationId xmlns:p14="http://schemas.microsoft.com/office/powerpoint/2010/main" val="1297029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518144" y="293246"/>
            <a:ext cx="2841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AGENDA :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1946787" y="724133"/>
            <a:ext cx="8858865" cy="460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Project Overview &amp; Problem Statement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Milestone 1 Objectives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Dataset Description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Platform Walkthrough — Upload &amp; Load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Missing Values Analysis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Data Cleaning &amp; Interpolation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Exploratory Data Analysis (EDA)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Key Findings &amp; Metrics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Technology Stack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396181" y="245806"/>
            <a:ext cx="80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Statement: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1615915" y="707471"/>
            <a:ext cx="9583329" cy="50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dirty="0"/>
              <a:t>Fitness data is vast, multi-source, and riddled with quality issues that hinder meaningful analysis.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900" b="1" dirty="0"/>
              <a:t>Massive Volume:</a:t>
            </a:r>
            <a:r>
              <a:rPr lang="en-US" sz="1900" dirty="0"/>
              <a:t> 36,500 rows across 16 columns — manual inspection is not feasible.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900" b="1" dirty="0"/>
              <a:t>Missing Data:</a:t>
            </a:r>
            <a:r>
              <a:rPr lang="en-US" sz="1900" dirty="0"/>
              <a:t> 21,951 missing cells across 5 key columns (Hours Slept, Water Intake, Active Minutes, Heart Rate, Workout Type).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900" b="1" dirty="0"/>
              <a:t>Mixed Data Types:</a:t>
            </a:r>
            <a:r>
              <a:rPr lang="en-US" sz="1900" dirty="0"/>
              <a:t> Numeric, categorical, and datetime fields require different treatment strategies.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900" b="1" dirty="0"/>
              <a:t>No Standardisation:</a:t>
            </a:r>
            <a:r>
              <a:rPr lang="en-US" sz="1900" dirty="0"/>
              <a:t> Raw exports from fitness devices need consistent formatting before analysis.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900" b="1" dirty="0"/>
              <a:t>Bias Risk:</a:t>
            </a:r>
            <a:r>
              <a:rPr lang="en-US" sz="1900" dirty="0"/>
              <a:t> Unaddressed nulls lead to skewed distributions and unreliable downstream ML results.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396181" y="245806"/>
            <a:ext cx="90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Milestone 1 — Objectives: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1615915" y="707471"/>
            <a:ext cx="9583329" cy="50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900" dirty="0"/>
              <a:t>Build an end-to-end interactive preprocessing pipeline for raw fitness CSVs.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900" dirty="0"/>
              <a:t>Detect and visualise missing values across all dataset columns.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900" dirty="0"/>
              <a:t>Apply intelligent interpolation &amp; fill strategies to handle nulls without data loss.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900" dirty="0"/>
              <a:t>Generate a clean, downloadable CSV ready for downstream ML.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900" dirty="0"/>
              <a:t>Perform Exploratory Data Analysis (EDA) to reveal distribution patterns and outliers.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900" dirty="0"/>
              <a:t>Deliver a polished Streamlit web application as the interactive deliverable.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396181" y="245806"/>
            <a:ext cx="80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Dataset Description: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1615915" y="707471"/>
            <a:ext cx="9583329" cy="50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900" b="1" dirty="0"/>
              <a:t>Dataset:</a:t>
            </a:r>
            <a:r>
              <a:rPr lang="en-US" sz="1900" dirty="0"/>
              <a:t> Fitness &amp; Health Tracking Dataset (synthetic Fitbit-style CSV)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900" b="1" dirty="0"/>
              <a:t>Size:</a:t>
            </a:r>
            <a:r>
              <a:rPr lang="en-US" sz="1900" dirty="0"/>
              <a:t> 36,500 rows × 16 columns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900" b="1" dirty="0"/>
              <a:t>Users:</a:t>
            </a:r>
            <a:r>
              <a:rPr lang="en-US" sz="1900" dirty="0"/>
              <a:t> 100 unique user profiles tracked over 365 days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900" b="1" dirty="0"/>
              <a:t>Key Features:</a:t>
            </a:r>
            <a:r>
              <a:rPr lang="en-US" sz="1900" dirty="0"/>
              <a:t> User ID, Full Name, Date, Age, Gender, Height, Weight, Steps Taken, Calories Burned, Hours Slept, Water Intake, Active Minutes, Heart Rate, Workout Type, Mood, Stress Level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900" b="1" dirty="0"/>
              <a:t>Missing Cells:</a:t>
            </a:r>
            <a:r>
              <a:rPr lang="en-US" sz="1900" dirty="0"/>
              <a:t> 21,951 across 5 columns — Hours Slept (3,659), Water Intake (5,401), Active Minutes (1,867), Heart Rate (1,832), Workout Type (9,192)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900" b="1" dirty="0"/>
              <a:t>Source Format:</a:t>
            </a:r>
            <a:r>
              <a:rPr lang="en-US" sz="1900" dirty="0"/>
              <a:t> Single CSV — 3.9 MB, UTF-8 encoded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396181" y="245806"/>
            <a:ext cx="90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Platform Walkthrough — Upload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1396181" y="750000"/>
            <a:ext cx="4500000" cy="52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/>
              <a:t>Step 1 — Upload Dataset</a:t>
            </a:r>
          </a:p>
          <a:p>
            <a:r>
              <a:rPr lang="en-US" sz="1700" dirty="0"/>
              <a:t>The user uploads a fitness CSV file. The platform auto-detects the file, validates format, and loads 36,500 rows × 16 columns instantly.</a:t>
            </a:r>
          </a:p>
          <a:p>
            <a:endParaRPr lang="en-US" sz="1700" dirty="0"/>
          </a:p>
          <a:p>
            <a:r>
              <a:rPr lang="en-US" sz="1700" dirty="0"/>
              <a:t>• Supports drag-and-drop or file browse (up to 200 MB)</a:t>
            </a:r>
          </a:p>
          <a:p>
            <a:r>
              <a:rPr lang="en-US" sz="1700" dirty="0"/>
              <a:t>• Raw data preview shown immediately after load</a:t>
            </a:r>
          </a:p>
          <a:p>
            <a:r>
              <a:rPr lang="en-US" sz="1700" dirty="0"/>
              <a:t>• Row and column count confirmed with success alert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396181" y="245806"/>
            <a:ext cx="90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Missing Values Analysis: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1396181" y="750000"/>
            <a:ext cx="4300000" cy="52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/>
              <a:t>Missing Values — Key Metrics</a:t>
            </a:r>
          </a:p>
          <a:p>
            <a:endParaRPr lang="en-US" sz="1700" dirty="0"/>
          </a:p>
          <a:p>
            <a:r>
              <a:rPr lang="en-US" sz="1700" dirty="0"/>
              <a:t>• Total Rows: 36,500</a:t>
            </a:r>
          </a:p>
          <a:p>
            <a:r>
              <a:rPr lang="en-US" sz="1700" dirty="0"/>
              <a:t>• Columns: 16</a:t>
            </a:r>
          </a:p>
          <a:p>
            <a:r>
              <a:rPr lang="en-US" sz="1700" dirty="0"/>
              <a:t>• Missing Cells: 21,951</a:t>
            </a:r>
          </a:p>
          <a:p>
            <a:endParaRPr lang="en-US" sz="1700" dirty="0"/>
          </a:p>
          <a:p>
            <a:r>
              <a:rPr lang="en-US" sz="1700" b="1" dirty="0"/>
              <a:t>Column Breakdown:</a:t>
            </a:r>
          </a:p>
          <a:p>
            <a:r>
              <a:rPr lang="en-US" sz="1600" dirty="0"/>
              <a:t>Hours Slept        : 3,659 nulls</a:t>
            </a:r>
          </a:p>
          <a:p>
            <a:r>
              <a:rPr lang="en-US" sz="1600" dirty="0"/>
              <a:t>Water Intake       : 5,401 nulls</a:t>
            </a:r>
          </a:p>
          <a:p>
            <a:r>
              <a:rPr lang="en-US" sz="1600" dirty="0"/>
              <a:t>Active Minutes     : 1,867 nulls</a:t>
            </a:r>
          </a:p>
          <a:p>
            <a:r>
              <a:rPr lang="en-US" sz="1600" dirty="0"/>
              <a:t>Heart Rate (bpm)   : 1,832 nulls</a:t>
            </a:r>
          </a:p>
          <a:p>
            <a:r>
              <a:rPr lang="en-US" sz="1600" dirty="0"/>
              <a:t>Workout Type       : 9,192 nulls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396181" y="245806"/>
            <a:ext cx="90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Data Cleaning &amp; Preprocessing: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1396181" y="750000"/>
            <a:ext cx="4300000" cy="52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/>
              <a:t>Cleaning Strategy</a:t>
            </a:r>
          </a:p>
          <a:p>
            <a:endParaRPr lang="en-US" sz="1700" dirty="0"/>
          </a:p>
          <a:p>
            <a:r>
              <a:rPr lang="en-US" sz="1700" b="1" dirty="0"/>
              <a:t>Numeric columns:</a:t>
            </a:r>
            <a:r>
              <a:rPr lang="en-US" sz="1700" dirty="0"/>
              <a:t> Linear interpolation applied to fill gaps without distorting distribution.</a:t>
            </a:r>
          </a:p>
          <a:p>
            <a:endParaRPr lang="en-US" sz="1600" dirty="0"/>
          </a:p>
          <a:p>
            <a:r>
              <a:rPr lang="en-US" sz="1700" b="1" dirty="0"/>
              <a:t>Categorical columns:</a:t>
            </a:r>
            <a:r>
              <a:rPr lang="en-US" sz="1700" dirty="0"/>
              <a:t> Filled with “Unknown” placeholder to preserve row integrity.</a:t>
            </a:r>
          </a:p>
          <a:p>
            <a:endParaRPr lang="en-US" sz="1600" dirty="0"/>
          </a:p>
          <a:p>
            <a:r>
              <a:rPr lang="en-US" sz="1700" b="1" dirty="0"/>
              <a:t>Result:</a:t>
            </a:r>
            <a:r>
              <a:rPr lang="en-US" sz="1700" dirty="0"/>
              <a:t> Zero missing values in the cleaned dataset.</a:t>
            </a:r>
          </a:p>
          <a:p>
            <a:endParaRPr lang="en-US" sz="1600" dirty="0"/>
          </a:p>
          <a:p>
            <a:r>
              <a:rPr lang="en-US" sz="1700" b="1" dirty="0"/>
              <a:t>Output:</a:t>
            </a:r>
            <a:r>
              <a:rPr lang="en-US" sz="1700" dirty="0"/>
              <a:t> Clean CSV downloadable for ML pipeline.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396181" y="245806"/>
            <a:ext cx="90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Exploratory Data Analysis (1/3):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1396181" y="750000"/>
            <a:ext cx="4200000" cy="52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/>
              <a:t>EDA — Demographics &amp; Body Metrics</a:t>
            </a:r>
          </a:p>
          <a:p>
            <a:endParaRPr lang="en-US" sz="1700" dirty="0"/>
          </a:p>
          <a:p>
            <a:r>
              <a:rPr lang="en-US" sz="1700" b="1" dirty="0"/>
              <a:t>User ID:</a:t>
            </a:r>
            <a:r>
              <a:rPr lang="en-US" sz="1700" dirty="0"/>
              <a:t> Uniform spread confirms balanced user representation (IDs 1–100).</a:t>
            </a:r>
          </a:p>
          <a:p>
            <a:endParaRPr lang="en-US" sz="1500" dirty="0"/>
          </a:p>
          <a:p>
            <a:r>
              <a:rPr lang="en-US" sz="1700" b="1" dirty="0"/>
              <a:t>Age:</a:t>
            </a:r>
            <a:r>
              <a:rPr lang="en-US" sz="1700" dirty="0"/>
              <a:t> Multi-modal distribution with peaks at 25, 40 and 60 — diverse age groups.</a:t>
            </a:r>
          </a:p>
          <a:p>
            <a:endParaRPr lang="en-US" sz="1500" dirty="0"/>
          </a:p>
          <a:p>
            <a:r>
              <a:rPr lang="en-US" sz="1700" b="1" dirty="0"/>
              <a:t>Height:</a:t>
            </a:r>
            <a:r>
              <a:rPr lang="en-US" sz="1700" dirty="0"/>
              <a:t> Spread 150–200 cm with a bimodal pattern (male/female cohorts).</a:t>
            </a:r>
          </a:p>
          <a:p>
            <a:endParaRPr lang="en-US" sz="1500" dirty="0"/>
          </a:p>
          <a:p>
            <a:r>
              <a:rPr lang="en-US" sz="1700" b="1" dirty="0"/>
              <a:t>Weight:</a:t>
            </a:r>
            <a:r>
              <a:rPr lang="en-US" sz="1700" dirty="0"/>
              <a:t> Wide range 50–120 kg; right-skewed with heavy tails — outlier candidates identified.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396181" y="245806"/>
            <a:ext cx="90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Exploratory Data Analysis (2/3):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1396181" y="750000"/>
            <a:ext cx="4200000" cy="52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/>
              <a:t>EDA — Activity &amp; Health Metrics</a:t>
            </a:r>
          </a:p>
          <a:p>
            <a:endParaRPr lang="en-US" sz="1700" dirty="0"/>
          </a:p>
          <a:p>
            <a:r>
              <a:rPr lang="en-US" sz="1700" b="1" dirty="0"/>
              <a:t>Steps Taken:</a:t>
            </a:r>
            <a:r>
              <a:rPr lang="en-US" sz="1700" dirty="0"/>
              <a:t> Near-uniform from 2,500 to 20,000 — healthy variation across sedentary and active users.</a:t>
            </a:r>
          </a:p>
          <a:p>
            <a:endParaRPr lang="en-US" sz="1500" dirty="0"/>
          </a:p>
          <a:p>
            <a:r>
              <a:rPr lang="en-US" sz="1700" b="1" dirty="0"/>
              <a:t>Calories Burned:</a:t>
            </a:r>
            <a:r>
              <a:rPr lang="en-US" sz="1700" dirty="0"/>
              <a:t> Plateaus from 1,500 to 3,800 kcal — mostly uniform with edge drop-off.</a:t>
            </a:r>
          </a:p>
          <a:p>
            <a:endParaRPr lang="en-US" sz="1500" dirty="0"/>
          </a:p>
          <a:p>
            <a:r>
              <a:rPr lang="en-US" sz="1700" b="1" dirty="0"/>
              <a:t>Hours Slept:</a:t>
            </a:r>
            <a:r>
              <a:rPr lang="en-US" sz="1700" dirty="0"/>
              <a:t> Peaks at 6–8 hours — aligns with general population sleep patterns.</a:t>
            </a:r>
          </a:p>
          <a:p>
            <a:endParaRPr lang="en-US" sz="1500" dirty="0"/>
          </a:p>
          <a:p>
            <a:r>
              <a:rPr lang="en-US" sz="1700" b="1" dirty="0"/>
              <a:t>Water Intake:</a:t>
            </a:r>
            <a:r>
              <a:rPr lang="en-US" sz="1700" dirty="0"/>
              <a:t> 1.5–4.0 litres per day; right tail suggests hydration outliers.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396181" y="245806"/>
            <a:ext cx="90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Exploratory Data Analysis (3/3):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1396181" y="750000"/>
            <a:ext cx="4300000" cy="52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/>
              <a:t>EDA — Stress Level Distribution</a:t>
            </a:r>
          </a:p>
          <a:p>
            <a:endParaRPr lang="en-US" sz="1700" dirty="0"/>
          </a:p>
          <a:p>
            <a:r>
              <a:rPr lang="en-US" sz="1700" dirty="0"/>
              <a:t>Stress Level is rated 1–10. The bar chart reveals a </a:t>
            </a:r>
            <a:r>
              <a:rPr lang="en-US" sz="1700" b="1" dirty="0"/>
              <a:t>uniform distribution</a:t>
            </a:r>
            <a:r>
              <a:rPr lang="en-US" sz="1700" dirty="0"/>
              <a:t> across all 10 levels, each contributing approximately 3,500 records.</a:t>
            </a:r>
          </a:p>
          <a:p>
            <a:endParaRPr lang="en-US" sz="1700" dirty="0"/>
          </a:p>
          <a:p>
            <a:r>
              <a:rPr lang="en-US" sz="1700" b="1" dirty="0"/>
              <a:t>Key Insight:</a:t>
            </a:r>
            <a:r>
              <a:rPr lang="en-US" sz="1700" dirty="0"/>
              <a:t> No skew toward high or low stress — this dataset is synthetic and evenly distributed, which is ideal for training unbiased ML classifiers.</a:t>
            </a:r>
          </a:p>
          <a:p>
            <a:endParaRPr lang="en-US" sz="1700" dirty="0"/>
          </a:p>
          <a:p>
            <a:r>
              <a:rPr lang="en-US" sz="1700" b="1" dirty="0"/>
              <a:t>KDE overlay</a:t>
            </a:r>
            <a:r>
              <a:rPr lang="en-US" sz="1700" dirty="0"/>
              <a:t> shows gentle oscillation — confirming discrete uniform sampling.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396181" y="245806"/>
            <a:ext cx="90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Key Results &amp; Findings: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1615915" y="707471"/>
            <a:ext cx="9583329" cy="52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900" b="1" dirty="0"/>
              <a:t>Dataset Loaded:</a:t>
            </a:r>
            <a:r>
              <a:rPr lang="en-US" sz="1900" dirty="0"/>
              <a:t> 36,500 rows × 16 columns from a 3.9 MB fitness CSV, processed in under 2 seconds.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900" b="1" dirty="0"/>
              <a:t>Missing Data Detected:</a:t>
            </a:r>
            <a:r>
              <a:rPr lang="en-US" sz="1900" dirty="0"/>
              <a:t> 21,951 missing cells identified across 5 columns — visualised in an interactive bar chart.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900" b="1" dirty="0"/>
              <a:t>Cleaning Success:</a:t>
            </a:r>
            <a:r>
              <a:rPr lang="en-US" sz="1900" dirty="0"/>
              <a:t> All nulls resolved via interpolation (numeric) and “Unknown” fill (categorical). Zero residual nulls post-cleaning.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900" b="1" dirty="0"/>
              <a:t>EDA Insights:</a:t>
            </a:r>
            <a:r>
              <a:rPr lang="en-US" sz="1900" dirty="0"/>
              <a:t> Uniform stress distribution, normal sleep patterns (6–8 hrs), bimodal height (male/female cohort split) detected.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900" b="1" dirty="0"/>
              <a:t>Downloadable Output:</a:t>
            </a:r>
            <a:r>
              <a:rPr lang="en-US" sz="1900" dirty="0"/>
              <a:t> Clean CSV exported and ready for Milestone 2 — Pattern Extraction pipeline.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900" b="1" dirty="0"/>
              <a:t>Platform Live:</a:t>
            </a:r>
            <a:r>
              <a:rPr lang="en-US" sz="1900" dirty="0"/>
              <a:t> Fully interactive Streamlit app deployed at localhost:8502 with real-time preprocessing and visualisations.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396181" y="245806"/>
            <a:ext cx="90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Stack: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1615915" y="707471"/>
            <a:ext cx="9583329" cy="52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900" b="1" dirty="0"/>
              <a:t>Frontend / UI:</a:t>
            </a:r>
            <a:r>
              <a:rPr lang="en-US" sz="1900" dirty="0"/>
              <a:t> Streamlit — interactive web application with real-time controls and dark-theme CSS.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900" b="1" dirty="0"/>
              <a:t>Data Processing:</a:t>
            </a:r>
            <a:r>
              <a:rPr lang="en-US" sz="1900" dirty="0"/>
              <a:t> Pandas &amp; NumPy — efficient data loading, manipulation, interpolation, and null handling.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900" b="1" dirty="0"/>
              <a:t>Visualisation:</a:t>
            </a:r>
            <a:r>
              <a:rPr lang="en-US" sz="1900" dirty="0"/>
              <a:t> Matplotlib &amp; Seaborn — histogram KDE plots, missing value bar charts, styled with custom dark palettes.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900" b="1" dirty="0"/>
              <a:t>ML (Preprocessing):</a:t>
            </a:r>
            <a:r>
              <a:rPr lang="en-US" sz="1900" dirty="0"/>
              <a:t> Scikit-Learn StandardScaler / MinMaxScaler for feature normalisation readiness.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900" b="1" dirty="0"/>
              <a:t>Deployment:</a:t>
            </a:r>
            <a:r>
              <a:rPr lang="en-US" sz="1900" dirty="0"/>
              <a:t> Local Streamlit server (localhost:8502); portable via requirements.txt for cloud deployment.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900" b="1" dirty="0"/>
              <a:t>Language:</a:t>
            </a:r>
            <a:r>
              <a:rPr lang="en-US" sz="1900" dirty="0"/>
              <a:t> Python 3.10+ — modular, readable, and extendable codebase.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2312BC-7969-8DE1-5DB1-384D536A5D13}"/>
              </a:ext>
            </a:extLst>
          </p:cNvPr>
          <p:cNvSpPr txBox="1"/>
          <p:nvPr/>
        </p:nvSpPr>
        <p:spPr>
          <a:xfrm>
            <a:off x="1110781" y="619828"/>
            <a:ext cx="4228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RESULTS:</a:t>
            </a:r>
            <a:endParaRPr lang="en-IN" b="1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357" y="1065237"/>
            <a:ext cx="9855881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8924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28DC2-A171-0E2F-B504-1723F4595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991142-1034-6194-8CF8-3497BCCD0A58}"/>
              </a:ext>
            </a:extLst>
          </p:cNvPr>
          <p:cNvSpPr txBox="1"/>
          <p:nvPr/>
        </p:nvSpPr>
        <p:spPr>
          <a:xfrm>
            <a:off x="1110781" y="619828"/>
            <a:ext cx="4228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RESULTS:</a:t>
            </a:r>
            <a:endParaRPr lang="en-IN" b="1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684" y="1066625"/>
            <a:ext cx="9884139" cy="55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2565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083EB-8C45-2D44-B7B3-DDB924EEF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4D395B-0A79-3426-FDFA-ED1C81B39434}"/>
              </a:ext>
            </a:extLst>
          </p:cNvPr>
          <p:cNvSpPr txBox="1"/>
          <p:nvPr/>
        </p:nvSpPr>
        <p:spPr>
          <a:xfrm>
            <a:off x="1110781" y="619828"/>
            <a:ext cx="4228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RESULTS:</a:t>
            </a:r>
            <a:endParaRPr lang="en-IN" b="1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726" y="1213912"/>
            <a:ext cx="10049836" cy="55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8138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C7CEF-BC1D-61BA-619F-3C68A1118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4996DE-1979-377E-011F-6219E11F57D2}"/>
              </a:ext>
            </a:extLst>
          </p:cNvPr>
          <p:cNvSpPr txBox="1"/>
          <p:nvPr/>
        </p:nvSpPr>
        <p:spPr>
          <a:xfrm>
            <a:off x="1110781" y="619828"/>
            <a:ext cx="4228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RESULTS:</a:t>
            </a:r>
            <a:endParaRPr lang="en-IN" b="1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821" y="1066625"/>
            <a:ext cx="9824580" cy="55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1151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1D5D6-BAB1-5368-BBFA-30A80A9BF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41A32A-F9C7-16F5-5A80-72E5D8873934}"/>
              </a:ext>
            </a:extLst>
          </p:cNvPr>
          <p:cNvSpPr txBox="1"/>
          <p:nvPr/>
        </p:nvSpPr>
        <p:spPr>
          <a:xfrm>
            <a:off x="1110781" y="619828"/>
            <a:ext cx="4228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RESULTS:</a:t>
            </a:r>
            <a:endParaRPr lang="en-IN" b="1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548" y="1048215"/>
            <a:ext cx="9744800" cy="55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9327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8BFDF-C9DD-2803-79B5-4EAD1B6FB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FFC5A8-B885-25C2-D093-3618B2BA06AC}"/>
              </a:ext>
            </a:extLst>
          </p:cNvPr>
          <p:cNvSpPr txBox="1"/>
          <p:nvPr/>
        </p:nvSpPr>
        <p:spPr>
          <a:xfrm>
            <a:off x="1110781" y="619828"/>
            <a:ext cx="4228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RESULTS:</a:t>
            </a:r>
            <a:endParaRPr lang="en-IN" b="1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642" y="1207775"/>
            <a:ext cx="10057783" cy="55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8339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"/>
          <p:cNvSpPr txBox="1"/>
          <p:nvPr/>
        </p:nvSpPr>
        <p:spPr>
          <a:xfrm>
            <a:off x="1500000" y="2500000"/>
            <a:ext cx="9500000" cy="12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dirty="0"/>
              <a:t>THANK YOU</a:t>
            </a:r>
          </a:p>
        </p:txBody>
      </p:sp>
      <p:sp>
        <p:nvSpPr>
          <p:cNvPr id="3" name="Sub"/>
          <p:cNvSpPr txBox="1"/>
          <p:nvPr/>
        </p:nvSpPr>
        <p:spPr>
          <a:xfrm>
            <a:off x="2500000" y="3800000"/>
            <a:ext cx="7500000" cy="8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/>
              <a:t>FitPulse Analytics • Milestone 1 — Data Preprocessing • Satindra Kumar B 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180</TotalTime>
  <Words>1016</Words>
  <Application>Microsoft Office PowerPoint</Application>
  <PresentationFormat>Widescreen</PresentationFormat>
  <Paragraphs>118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Times New Roman</vt:lpstr>
      <vt:lpstr>Tw Cen MT</vt:lpstr>
      <vt:lpstr>Wingdings</vt:lpstr>
      <vt:lpstr>Circuit</vt:lpstr>
      <vt:lpstr>FitPulse Analytics Milestone 1 — Data Preprocessing Pipeline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Ashish Kumar Yadav</dc:creator>
  <cp:lastModifiedBy>SATINDRA KUMAR B S</cp:lastModifiedBy>
  <cp:revision>4</cp:revision>
  <dcterms:created xsi:type="dcterms:W3CDTF">2025-09-23T17:52:10Z</dcterms:created>
  <dcterms:modified xsi:type="dcterms:W3CDTF">2026-03-23T13:02:13Z</dcterms:modified>
</cp:coreProperties>
</file>