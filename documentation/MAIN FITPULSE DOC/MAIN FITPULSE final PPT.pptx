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0" r:id="rId26"/>
    <p:sldId id="282" r:id="rId27"/>
    <p:sldId id="283" r:id="rId28"/>
    <p:sldId id="284" r:id="rId29"/>
    <p:sldId id="285" r:id="rId30"/>
    <p:sldId id="286" r:id="rId31"/>
    <p:sldId id="292" r:id="rId32"/>
    <p:sldId id="291" r:id="rId33"/>
    <p:sldId id="290" r:id="rId34"/>
    <p:sldId id="289" r:id="rId35"/>
    <p:sldId id="288" r:id="rId36"/>
    <p:sldId id="287" r:id="rId37"/>
    <p:sldId id="296" r:id="rId38"/>
    <p:sldId id="295" r:id="rId39"/>
    <p:sldId id="294" r:id="rId40"/>
    <p:sldId id="293" r:id="rId41"/>
    <p:sldId id="273" r:id="rId4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jkt0pk2FeQL6vpvRoLqOrJ9DYr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9" name="Google Shape;51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0" name="Google Shape;57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1" name="Google Shape;62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2" name="Google Shape;67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2" name="Google Shape;72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2" name="Google Shape;77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B7A78F35-1314-8325-8272-C29BC355A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2006EFC8-0C5E-4D87-B0F4-A75AB97771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76BEB465-C23F-9F18-5D57-AD841E426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DA39974C-3A8F-5069-2BA8-74FAF28887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9482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C4C6078E-05E8-F8B0-73C1-05B634B5B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5D10233A-AC20-5CC5-DC42-9B3DEBDF8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0727AD89-155B-D82F-D093-293096E9AE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554EF7D2-A543-2597-74C0-082B644CF3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15632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EBBEEC95-CA1E-942F-3955-8C518E6B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29FB5272-BBDF-E1D4-F33E-CD4C774D61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9B06D252-E827-620F-A209-2A3ECB1E3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3DBE2457-B28F-0ED0-EECB-28D539C7B2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7750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89B2EA3E-33F8-9B01-BB49-CD96E6675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CF075923-929C-63B4-DFCD-3BE6AB1C5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68A1D2AF-5FAA-6BF3-B071-75FEDEA401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A5BC0BAB-1428-89A4-503F-C435A0EBAA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61062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F554BE05-DD65-6805-8265-D9F674C1E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903D794F-2B2C-DB44-3CBB-0C86A66559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6C0C9E6B-8BE1-AD7A-AA64-53DB773E4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82007F8C-A1A3-B3F4-CD71-E475C7E06B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759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D2A663AC-7B49-3859-528E-4625703FE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3E5F39AA-93DC-75AF-8AF6-A51368EBA4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22202A22-7040-1FC0-F6C1-DDECF71ECA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F7597DBD-5F70-375F-D6F1-13998CBB8A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098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0D063669-5628-E9FD-A0BA-92362BD8D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E3831F42-1C27-B775-1E97-3A47C90050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79F58E5D-143A-6244-4EEB-A5F3E291CF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BA36CD07-0840-B005-A423-2F466A8788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6241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27DF298D-6D3E-7C5C-5AF1-B2B62126A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5F9D7301-6AF6-6026-57A6-064201A95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31C5A1B9-6497-684B-1F00-8833EFCDF0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9E522FD0-056D-FE25-A88C-E672639B47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08442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74B2DAF7-F19F-4199-F570-0CF646C2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D46EFCE3-CC97-3357-A58B-870855D1B4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2979EF7C-97F5-BEED-7CA0-71DD8FE5D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06C869CB-073A-9111-0891-DE1C70718C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80982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392E3484-A8A6-BBB2-964F-12752751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C08A4071-DB75-0690-9196-066361DE05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2BAF510D-8150-5C76-C902-2E195FA801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457C2DE2-EA0F-59BF-D88E-B239F8966C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77627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490A8469-1163-0D45-2240-1A87F225A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A041F65A-DE8A-47A7-41BD-50E857A76D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C5042DC9-0553-D7F4-19F6-6544ECA68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FEFE59FF-54D6-47C2-C9CA-F22E4B8D98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49030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83632023-CCE5-8C59-3498-039F1DDFE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D93A2A7E-14FF-BD93-7EAC-6AD6437F3D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7D8A3DFE-3180-083D-5AA2-423205A5A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823C134D-A55E-C75A-B44D-D33D2831CD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98499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2EACB9DB-900A-8FC1-8A29-6291EA9E5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28112460-DF52-1116-562F-D04A16F712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FFDD68EC-3023-40BC-C649-6B9C154AB1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E614E0E3-9D1A-5BB5-1FDE-EBB125FBCA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21704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03B4DBAB-0A3A-9BBC-A9AA-4D9DB836E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0498EC13-7FD5-3274-12F7-6D613D6410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96FCB930-0168-88ED-1C43-E843B1134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DAF7BA2E-9AA7-8A2F-EBBE-DD772783CB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71810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8E2D9F2F-A3EE-C029-AEF3-C520376E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E689455A-A0AF-6330-5C42-FE09506BD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09B7B9E7-FD83-FB91-23F4-1C5AE0A31B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977495A0-5FEA-DA57-6DC6-E95F1D1C6A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32741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9458C2AE-B4ED-D4A0-5453-F0247E0B4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7FAE5B2C-6E8B-F923-54B1-5CC04651E0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4C0DE7E4-A248-A366-0C7F-20F363D0FB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7467D603-2591-FADC-700C-38FBC27429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37856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CF3FBB2F-230C-61A1-6F98-4B7608889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2DC4D566-FA72-261E-F11E-7E73B227D7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3AF28598-34FF-CCDA-1781-FC6181F604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D00629D5-1F03-FD5B-A70E-31F962CD94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95849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8F73AE2C-DD19-5BA6-FD89-D8E588D0B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793633A9-C75B-FED6-616B-5BD4190192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EA075662-58D5-207C-7828-5B55D8E89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6DD295AC-289A-3089-2A4F-377EEA37E6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16855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9BC2EBB4-AD64-D64D-87C6-AD3E49FBE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7F65D53F-46E9-9E69-F320-557FD5AC2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FB1859DE-5835-727F-20B5-975D9ADA2A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BD3699B0-A0C4-8762-D2B2-B9A1DAED20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18584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1CE05222-A890-202C-3929-312B4BBAC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43B717D4-5377-FC36-DC17-9B3BA0F53D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9FD296A7-B4EA-ECC7-32E8-63D2F43F9B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CD2D501E-14FB-4A16-0116-DC4164DD79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76305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9F63CD91-E1D0-4160-E75B-965D2CCBB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EE69CAFD-8D38-1250-82AC-EA049BB66A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14C48AAA-4BDC-6B46-CBBC-C0A07294C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6EC6025D-174D-9DEE-A320-4D69F715E6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52677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5F0724AA-2380-5690-9214-4BBDB4D79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95189B86-7124-A8FF-11AE-5A5A944A37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A49D98C7-98D6-58AC-8C43-9C073DE5C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28A374E2-2A5F-05F9-6D00-5775365121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27862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921288E4-D119-E824-4443-B21FF5F8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7:notes">
            <a:extLst>
              <a:ext uri="{FF2B5EF4-FFF2-40B4-BE49-F238E27FC236}">
                <a16:creationId xmlns:a16="http://schemas.microsoft.com/office/drawing/2014/main" id="{61D9E0BC-8FE1-5D70-2E97-540108B093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17:notes">
            <a:extLst>
              <a:ext uri="{FF2B5EF4-FFF2-40B4-BE49-F238E27FC236}">
                <a16:creationId xmlns:a16="http://schemas.microsoft.com/office/drawing/2014/main" id="{8D1A9A6F-0D38-B05A-617B-51AD76DB44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7:notes">
            <a:extLst>
              <a:ext uri="{FF2B5EF4-FFF2-40B4-BE49-F238E27FC236}">
                <a16:creationId xmlns:a16="http://schemas.microsoft.com/office/drawing/2014/main" id="{D2CBFF75-B09B-AC52-A562-D1A9197814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225208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5" name="Google Shape;89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1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1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21;p1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" name="Google Shape;31;p1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" name="Google Shape;32;p1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" name="Google Shape;33;p1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1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" name="Google Shape;42;p1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1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1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" name="Google Shape;48;p1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" name="Google Shape;49;p1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1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" name="Google Shape;52;p1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1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1097280" y="1280160"/>
            <a:ext cx="69494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FITPULSE ANALYTICS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097280" y="228600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ML Pipeline — Preprocessing &amp; Pattern Extraction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4114800" y="3017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4114800" y="33375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SATINDRA KUMAR B 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4114800" y="379476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9BC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E9BC0"/>
                </a:solidFill>
                <a:latin typeface="Calibri"/>
                <a:ea typeface="Calibri"/>
                <a:cs typeface="Calibri"/>
                <a:sym typeface="Calibri"/>
              </a:rPr>
              <a:t>FITNESS ML ANALYTICS PIPELINE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4114800" y="404164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9B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E9BC0"/>
                </a:solidFill>
                <a:latin typeface="Calibri"/>
                <a:ea typeface="Calibri"/>
                <a:cs typeface="Calibri"/>
                <a:sym typeface="Calibri"/>
              </a:rPr>
              <a:t>STREAMLIT • PYTHON • PANDAS • SCIKIT-LEARN • TSFRESH • PROPHET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39254" y="-739047"/>
            <a:ext cx="9065491" cy="5274471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6" name="Google Shape;66;p2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2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" name="Google Shape;68;p2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2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2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2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" name="Google Shape;72;p2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73;p2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0" name="Google Shape;80;p2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1" name="Google Shape;81;p2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" name="Google Shape;82;p2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" name="Google Shape;83;p2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2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7" name="Google Shape;87;p2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" name="Google Shape;88;p2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89;p2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" name="Google Shape;90;p2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Google Shape;91;p2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2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6" name="Google Shape;96;p2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" name="Google Shape;97;p2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" name="Google Shape;98;p2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" name="Google Shape;99;p2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2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p2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 :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005840" y="676655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Project Overview &amp; Problem Statement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996696" y="112471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Preprocessing Section — Objectives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005840" y="158191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Dataset Description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005840" y="2024749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Platform Walkthrough — Upload &amp; Preprocessing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005840" y="2459737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Pattern Extraction — 5-File Detection &amp; Loading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1005840" y="2903221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 dirty="0" err="1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TSFresh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Feature Extraction (ML-1)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996696" y="3342133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Prophet Forecasting — HR, Steps &amp; Sleep (ML-2)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1005840" y="379476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Clustering — </a:t>
            </a:r>
            <a:r>
              <a:rPr lang="en-US" sz="1500" b="0" i="0" u="none" strike="noStrike" cap="none" dirty="0" err="1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KMeans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, DBSCAN, PCA, t-SNE (ML-3)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996696" y="4251959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Elbow Curve, Cluster Profiles &amp; Pipeline Summary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1014984" y="4716458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55418" y="-4572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0" name="Google Shape;120;p3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" name="Google Shape;121;p3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" name="Google Shape;122;p3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" name="Google Shape;123;p3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" name="Google Shape;124;p3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" name="Google Shape;125;p3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" name="Google Shape;126;p3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" name="Google Shape;127;p3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4" name="Google Shape;134;p3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" name="Google Shape;135;p3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3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" name="Google Shape;137;p3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p3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1" name="Google Shape;141;p3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2" name="Google Shape;142;p3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" name="Google Shape;143;p3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" name="Google Shape;144;p3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" name="Google Shape;145;p3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" name="Google Shape;146;p3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0" name="Google Shape;150;p3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1" name="Google Shape;151;p3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" name="Google Shape;152;p3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" name="Google Shape;153;p3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5" name="Google Shape;155;p3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3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Statement: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1060704" y="788671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Fitness data is vast, multi-source, and riddled with quality issues that hinder meaningful analysis.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1115500" y="1241305"/>
            <a:ext cx="74982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1" i="0" u="none" strike="noStrike" cap="none" dirty="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Massive Volume: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36,500 rows across 16 columns — manual inspection is not feasible.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1097203" y="1728216"/>
            <a:ext cx="74982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Missing Data: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21,951 missing cells across 5 key columns (Hours Slept, Water Intake, Active Minutes, Heart Rate, Workout Type).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1097200" y="2203725"/>
            <a:ext cx="75348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Mixed Data Types: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Numeric, categorical, and datetime fields require different treatment strategies.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097253" y="2679192"/>
            <a:ext cx="74982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lang="en-US" sz="1500" b="1" i="0" u="none" strike="noStrike" cap="none" dirty="0" err="1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Standardisation</a:t>
            </a:r>
            <a:r>
              <a:rPr lang="en-US" sz="1500" b="1" i="0" u="none" strike="noStrike" cap="none" dirty="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Raw exports from fitness devices need consistent formatting before analysis.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1092640" y="3150118"/>
            <a:ext cx="74982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Bias Risk: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Unaddressed nulls lead to skewed distributions and unreliable downstream ML results.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/>
          <p:nvPr/>
        </p:nvSpPr>
        <p:spPr>
          <a:xfrm>
            <a:off x="-38025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0" name="Google Shape;170;p4"/>
          <p:cNvCxnSpPr/>
          <p:nvPr/>
        </p:nvCxnSpPr>
        <p:spPr>
          <a:xfrm>
            <a:off x="343145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4"/>
          <p:cNvCxnSpPr/>
          <p:nvPr/>
        </p:nvCxnSpPr>
        <p:spPr>
          <a:xfrm rot="10800000" flipH="1">
            <a:off x="322100" y="640125"/>
            <a:ext cx="638100" cy="117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p4"/>
          <p:cNvCxnSpPr/>
          <p:nvPr/>
        </p:nvCxnSpPr>
        <p:spPr>
          <a:xfrm>
            <a:off x="344925" y="1367025"/>
            <a:ext cx="523800" cy="4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4"/>
          <p:cNvCxnSpPr/>
          <p:nvPr/>
        </p:nvCxnSpPr>
        <p:spPr>
          <a:xfrm rot="10800000" flipH="1">
            <a:off x="322100" y="1996575"/>
            <a:ext cx="608400" cy="96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4"/>
          <p:cNvCxnSpPr/>
          <p:nvPr/>
        </p:nvCxnSpPr>
        <p:spPr>
          <a:xfrm rot="10800000" flipH="1">
            <a:off x="352550" y="2834725"/>
            <a:ext cx="424800" cy="84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4"/>
          <p:cNvCxnSpPr/>
          <p:nvPr/>
        </p:nvCxnSpPr>
        <p:spPr>
          <a:xfrm>
            <a:off x="322100" y="3550750"/>
            <a:ext cx="638100" cy="153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" name="Google Shape;176;p4"/>
          <p:cNvCxnSpPr/>
          <p:nvPr/>
        </p:nvCxnSpPr>
        <p:spPr>
          <a:xfrm rot="10800000" flipH="1">
            <a:off x="352550" y="4206200"/>
            <a:ext cx="516000" cy="141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7" name="Google Shape;177;p4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877826" y="1919084"/>
            <a:ext cx="164700" cy="16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649232" y="2747782"/>
            <a:ext cx="164700" cy="164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4" name="Google Shape;184;p4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5" name="Google Shape;185;p4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6" name="Google Shape;186;p4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7" name="Google Shape;187;p4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4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1" name="Google Shape;191;p4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92;p4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3" name="Google Shape;193;p4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4" name="Google Shape;194;p4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5" name="Google Shape;195;p4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6" name="Google Shape;196;p4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0" name="Google Shape;200;p4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1" name="Google Shape;201;p4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2" name="Google Shape;202;p4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3" name="Google Shape;203;p4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5" name="Google Shape;205;p4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6" name="Google Shape;206;p4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 — Objectives: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1005840" y="77724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Build an end-to-end interactive preprocessing pipeline for raw fitness CSVs.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1005840" y="1252728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Detect and visualise missing values across all dataset columns.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1036678" y="1728216"/>
            <a:ext cx="74982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Apply intelligent interpolation &amp; fill strategies to handle nulls without data loss.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1005840" y="2203704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Generate a clean, downloadable CSV ready for downstream ML.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1005840" y="267919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Perform Exploratory Data Analysis (EDA) to reveal distribution patterns and outliers.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1005840" y="315468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Deliver a polished Streamlit web application as the interactive deliverable.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cxnSp>
        <p:nvCxnSpPr>
          <p:cNvPr id="220" name="Google Shape;220;p5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5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2" name="Google Shape;222;p5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3" name="Google Shape;223;p5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4" name="Google Shape;224;p5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5" name="Google Shape;225;p5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6" name="Google Shape;226;p5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7" name="Google Shape;227;p5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cxnSp>
        <p:nvCxnSpPr>
          <p:cNvPr id="234" name="Google Shape;234;p5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5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" name="Google Shape;236;p5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7" name="Google Shape;237;p5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8" name="Google Shape;238;p5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cxnSp>
        <p:nvCxnSpPr>
          <p:cNvPr id="241" name="Google Shape;241;p5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2" name="Google Shape;242;p5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3" name="Google Shape;243;p5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4" name="Google Shape;244;p5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5" name="Google Shape;245;p5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p5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cxnSp>
        <p:nvCxnSpPr>
          <p:cNvPr id="250" name="Google Shape;250;p5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1" name="Google Shape;251;p5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2" name="Google Shape;252;p5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3" name="Google Shape;253;p5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cxnSp>
        <p:nvCxnSpPr>
          <p:cNvPr id="255" name="Google Shape;255;p5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5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Description: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1005840" y="77724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Dataset: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Fitness &amp; Health Tracking Dataset (synthetic Fitbit-style CSV)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1005840" y="1252728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Size: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36,500 rows × 16 columns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1005840" y="1728216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Users: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100 unique user profiles tracked over 365 days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1005840" y="2203704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Key Features: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User ID, Date, Age, Gender, Height, Weight, Steps Taken, Calories Burned, Hours Slept, Water Intake, Active Minutes, Heart Rate, Workout Type, Mood, Stress Level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1005840" y="267919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500" b="1" i="0" u="none" strike="noStrike" cap="none" dirty="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Missing Cells: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21,951 across 5 columns — Hours Slept (3,659), Water Intake (5,401), Active Minutes (1,867), Heart Rate (1,832), Workout Type (9,192)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1005840" y="315468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Source Format: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Single CSV — 3.9 MB, UTF-8 encoded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0" name="Google Shape;270;p6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1" name="Google Shape;271;p6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2" name="Google Shape;272;p6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3" name="Google Shape;273;p6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4" name="Google Shape;274;p6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5" name="Google Shape;275;p6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6" name="Google Shape;276;p6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7" name="Google Shape;277;p6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4" name="Google Shape;284;p6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5" name="Google Shape;285;p6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6" name="Google Shape;286;p6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7" name="Google Shape;287;p6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8" name="Google Shape;288;p6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6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1" name="Google Shape;291;p6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2" name="Google Shape;292;p6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3" name="Google Shape;293;p6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4" name="Google Shape;294;p6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5" name="Google Shape;295;p6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6" name="Google Shape;296;p6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6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6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0" name="Google Shape;300;p6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1" name="Google Shape;301;p6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2" name="Google Shape;302;p6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3" name="Google Shape;303;p6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5" name="Google Shape;305;p6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6" name="Google Shape;306;p6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6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 Walkthrough — Preprocessing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1005840" y="64008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Step 1 — Upload Dataset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1005840" y="100584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The user uploads a fitness CSV file. The platform auto-detects the file, validates format, and loads 36,500 rows × 16 columns instantly.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1005840" y="1481328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Supports drag-and-drop or file browse (up to 200 MB)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1005840" y="1956816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Raw data preview shown immediately after load (first 10 rows)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1005840" y="2432304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Row and column count confirmed with success alert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9" name="Google Shape;319;p7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0" name="Google Shape;320;p7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1" name="Google Shape;321;p7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2" name="Google Shape;322;p7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3" name="Google Shape;323;p7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4" name="Google Shape;324;p7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5" name="Google Shape;325;p7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6" name="Google Shape;326;p7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7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7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7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7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7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7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3" name="Google Shape;333;p7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4" name="Google Shape;334;p7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5" name="Google Shape;335;p7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" name="Google Shape;336;p7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7" name="Google Shape;337;p7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7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7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0" name="Google Shape;340;p7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1" name="Google Shape;341;p7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2" name="Google Shape;342;p7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3" name="Google Shape;343;p7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4" name="Google Shape;344;p7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5" name="Google Shape;345;p7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7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7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7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9" name="Google Shape;349;p7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0" name="Google Shape;350;p7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1" name="Google Shape;351;p7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2" name="Google Shape;352;p7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7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4" name="Google Shape;354;p7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5" name="Google Shape;355;p7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7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Missing Values Analysis: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1005840" y="64008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Step 2 — Null Detection &amp; Visualisation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1005840" y="100584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Total Rows: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36,500  |  Columns: 16  |  Missing Cells: 21,951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1005840" y="1481328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Hours Slept: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     3,659 nulls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1005840" y="1956816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Water Intake: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   5,401 nulls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1005840" y="2432304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Active Minutes: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 1,867 nulls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1005840" y="290779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Heart Rate (bpm):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1,832 nulls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1005840" y="338328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Workout Type: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   9,192 nulls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1005840" y="3858768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Interactive bar chart rendered for all missing columns. Zero missing on non-null columns confirmed.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"/>
          <p:cNvSpPr/>
          <p:nvPr/>
        </p:nvSpPr>
        <p:spPr>
          <a:xfrm>
            <a:off x="0" y="109728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71" name="Google Shape;371;p8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2" name="Google Shape;372;p8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3" name="Google Shape;373;p8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4" name="Google Shape;374;p8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5" name="Google Shape;375;p8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6" name="Google Shape;376;p8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7" name="Google Shape;377;p8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8" name="Google Shape;378;p8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8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8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8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5" name="Google Shape;385;p8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6" name="Google Shape;386;p8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7" name="Google Shape;387;p8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8" name="Google Shape;388;p8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9" name="Google Shape;389;p8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8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8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2" name="Google Shape;392;p8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3" name="Google Shape;393;p8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4" name="Google Shape;394;p8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5" name="Google Shape;395;p8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6" name="Google Shape;396;p8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7" name="Google Shape;397;p8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8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8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8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1" name="Google Shape;401;p8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2" name="Google Shape;402;p8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3" name="Google Shape;403;p8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4" name="Google Shape;404;p8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8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6" name="Google Shape;406;p8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7" name="Google Shape;407;p8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8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Cleaning &amp; Preprocessing: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1005840" y="64008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Step 3 — Interpolation &amp; Fill Strategy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1005840" y="100584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Numeric Columns: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Linear interpolation applied via </a:t>
            </a:r>
            <a:r>
              <a:rPr lang="en-US" sz="1500" b="0" i="0" u="none" strike="noStrike" cap="none" dirty="0" err="1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df.interpolate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() — fills gaps without distorting distribution.</a:t>
            </a:r>
          </a:p>
        </p:txBody>
      </p:sp>
      <p:sp>
        <p:nvSpPr>
          <p:cNvPr id="411" name="Google Shape;411;p8"/>
          <p:cNvSpPr/>
          <p:nvPr/>
        </p:nvSpPr>
        <p:spPr>
          <a:xfrm>
            <a:off x="1001268" y="1584199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Categorical Columns: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Filled with "Unknown" placeholder — preserves row integrity and prevents row loss.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1005840" y="202768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Zero missing values in the cleaned dataset — confirmed post-clean.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1005840" y="2478024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Clean CSV downloadable for ML pipeline via </a:t>
            </a:r>
            <a:r>
              <a:rPr lang="en-US" sz="1500" b="0" i="0" u="none" strike="noStrike" cap="none" dirty="0" err="1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st.download_button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().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982980" y="3026664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EDA histograms with KDE overlay rendered for all numeric columns in pairwise 2-column layout.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1" name="Google Shape;421;p9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2" name="Google Shape;422;p9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3" name="Google Shape;423;p9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4" name="Google Shape;424;p9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5" name="Google Shape;425;p9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6" name="Google Shape;426;p9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7" name="Google Shape;427;p9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8" name="Google Shape;428;p9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9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9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9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5" name="Google Shape;435;p9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6" name="Google Shape;436;p9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7" name="Google Shape;437;p9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8" name="Google Shape;438;p9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9" name="Google Shape;439;p9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9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9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2" name="Google Shape;442;p9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3" name="Google Shape;443;p9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4" name="Google Shape;444;p9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5" name="Google Shape;445;p9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6" name="Google Shape;446;p9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7" name="Google Shape;447;p9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9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9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9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51" name="Google Shape;451;p9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2" name="Google Shape;452;p9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3" name="Google Shape;453;p9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4" name="Google Shape;454;p9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9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56" name="Google Shape;456;p9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7" name="Google Shape;457;p9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 — File Detection: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9"/>
          <p:cNvSpPr/>
          <p:nvPr/>
        </p:nvSpPr>
        <p:spPr>
          <a:xfrm>
            <a:off x="1005840" y="64008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Step 1 &amp; 2 — Upload &amp; Auto-Detect 5 Fitbit CSVs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1005840" y="100584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Daily Activity: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    Detected by TotalSteps, Calories, VeryActiveMinutes columns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9"/>
          <p:cNvSpPr/>
          <p:nvPr/>
        </p:nvSpPr>
        <p:spPr>
          <a:xfrm>
            <a:off x="1005840" y="1481328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Hourly Steps: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     Detected by StepTotal column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1005840" y="1956816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Hourly Intensities: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Detected by TotalIntensity, AverageIntensity columns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1005840" y="2432304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Minute Sleep: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     Detected by logId, value, date columns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1005840" y="290779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Heart Rate: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       Detected by Value, Time columns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1005840" y="338328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Each file assigned a Found ✓ or Missing badge. All 5 required before the pipeline activates.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2" name="Google Shape;472;p10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3" name="Google Shape;473;p10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4" name="Google Shape;474;p10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5" name="Google Shape;475;p10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6" name="Google Shape;476;p10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7" name="Google Shape;477;p10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8" name="Google Shape;478;p10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9" name="Google Shape;479;p10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0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0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0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0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0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0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86" name="Google Shape;486;p10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7" name="Google Shape;487;p10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8" name="Google Shape;488;p10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9" name="Google Shape;489;p10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0" name="Google Shape;490;p10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0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0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3" name="Google Shape;493;p10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4" name="Google Shape;494;p10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5" name="Google Shape;495;p10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6" name="Google Shape;496;p10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7" name="Google Shape;497;p10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8" name="Google Shape;498;p10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0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0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0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2" name="Google Shape;502;p10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3" name="Google Shape;503;p10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4" name="Google Shape;504;p10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5" name="Google Shape;505;p10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0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7" name="Google Shape;507;p10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8" name="Google Shape;508;p10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0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Loading &amp; Master DataFrame: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1005840" y="64008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Step 3 — Parse, Merge &amp; Normalise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1005840" y="100584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All 5 CSVs parsed and merged into a single master </a:t>
            </a:r>
            <a:r>
              <a:rPr lang="en-US" sz="1500" b="0" i="0" u="none" strike="noStrike" cap="none" dirty="0" err="1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per user per day.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1005840" y="1481328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Heart Rate: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Aggregated to daily average BPM using groupby(Id, Date).mean()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1005840" y="1956816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Sleep: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Minute-level records counted per day → TotalSleepMinutes feature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0"/>
          <p:cNvSpPr/>
          <p:nvPr/>
        </p:nvSpPr>
        <p:spPr>
          <a:xfrm>
            <a:off x="1005840" y="2432304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Null Check: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Per-dataset null count displayed in 5 dashboard cards with row counts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1005840" y="290779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Time Normalisation: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HR resampled seconds → 1-minute intervals; 100% exact 1-hour steps for hourly data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1005840" y="338328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Master DataFrame: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Downloadable as fitpulse_master.csv for downstream use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3" name="Google Shape;523;p11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4" name="Google Shape;524;p11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5" name="Google Shape;525;p11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6" name="Google Shape;526;p11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7" name="Google Shape;527;p11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8" name="Google Shape;528;p11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p11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Google Shape;530;p11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1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1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1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1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1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1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7" name="Google Shape;537;p11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8" name="Google Shape;538;p11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9" name="Google Shape;539;p11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0" name="Google Shape;540;p11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1" name="Google Shape;541;p11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1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4" name="Google Shape;544;p11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5" name="Google Shape;545;p11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6" name="Google Shape;546;p11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7" name="Google Shape;547;p11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8" name="Google Shape;548;p11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9" name="Google Shape;549;p11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1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1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53" name="Google Shape;553;p11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4" name="Google Shape;554;p11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5" name="Google Shape;555;p11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6" name="Google Shape;556;p11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1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58" name="Google Shape;558;p11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9" name="Google Shape;559;p11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1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TSFresh Feature Extraction — ML-1: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/>
          <p:nvPr/>
        </p:nvSpPr>
        <p:spPr>
          <a:xfrm>
            <a:off x="1005840" y="64008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Extracts statistical features from Heart Rate time-series per user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1"/>
          <p:cNvSpPr/>
          <p:nvPr/>
        </p:nvSpPr>
        <p:spPr>
          <a:xfrm>
            <a:off x="1005840" y="100584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Heart Rate CSV parsed to (id, time, value) triplets; datetime and numeric types enforced.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1"/>
          <p:cNvSpPr/>
          <p:nvPr/>
        </p:nvSpPr>
        <p:spPr>
          <a:xfrm>
            <a:off x="1005840" y="1481328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extract_features():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MinimalFCParameters applied — extracts ~11 statistical features per user (mean, std, min, max, etc.)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1"/>
          <p:cNvSpPr/>
          <p:nvPr/>
        </p:nvSpPr>
        <p:spPr>
          <a:xfrm>
            <a:off x="1005840" y="1956816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Features DataFrame of shape (Users × Features) — typically 14 users × 11 features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1"/>
          <p:cNvSpPr/>
          <p:nvPr/>
        </p:nvSpPr>
        <p:spPr>
          <a:xfrm>
            <a:off x="1005840" y="2432304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Normalisation: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MinMaxScaler applied to produce 0–1 range for heatmap visualisation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1"/>
          <p:cNvSpPr/>
          <p:nvPr/>
        </p:nvSpPr>
        <p:spPr>
          <a:xfrm>
            <a:off x="1005840" y="290779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Heatmap: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YlOrRd sns.heatmap rendered — rows = users, columns = feature index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1"/>
          <p:cNvSpPr/>
          <p:nvPr/>
        </p:nvSpPr>
        <p:spPr>
          <a:xfrm>
            <a:off x="1005840" y="338328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Completion: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tsfresh_done session flag set; TSFresh step unlocks Prophet stage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74" name="Google Shape;574;p12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5" name="Google Shape;575;p12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6" name="Google Shape;576;p12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7" name="Google Shape;577;p12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8" name="Google Shape;578;p12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9" name="Google Shape;579;p12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0" name="Google Shape;580;p12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1" name="Google Shape;581;p12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2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2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2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2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2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2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8" name="Google Shape;588;p12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9" name="Google Shape;589;p12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0" name="Google Shape;590;p12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1" name="Google Shape;591;p12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2" name="Google Shape;592;p12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2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2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5" name="Google Shape;595;p12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6" name="Google Shape;596;p12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7" name="Google Shape;597;p12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8" name="Google Shape;598;p12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9" name="Google Shape;599;p12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12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2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2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2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4" name="Google Shape;604;p12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5" name="Google Shape;605;p12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6" name="Google Shape;606;p12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7" name="Google Shape;607;p12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2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9" name="Google Shape;609;p12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0" name="Google Shape;610;p12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2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Prophet Forecasting — ML-2: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2"/>
          <p:cNvSpPr/>
          <p:nvPr/>
        </p:nvSpPr>
        <p:spPr>
          <a:xfrm>
            <a:off x="1005840" y="64008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30-day forecasting for Heart Rate, Steps &amp; Sleep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2"/>
          <p:cNvSpPr/>
          <p:nvPr/>
        </p:nvSpPr>
        <p:spPr>
          <a:xfrm>
            <a:off x="1005840" y="100584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Heart Rate Forecast: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Daily average BPM from HR CSV → 30-day ahead forecast, 90% CI, weekly seasonality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2"/>
          <p:cNvSpPr/>
          <p:nvPr/>
        </p:nvSpPr>
        <p:spPr>
          <a:xfrm>
            <a:off x="1005840" y="1481328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Steps Forecast: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Daily TotalSteps from Activity CSV → 30-day ahead, 80% CI, changepoint_prior=0.1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2"/>
          <p:cNvSpPr/>
          <p:nvPr/>
        </p:nvSpPr>
        <p:spPr>
          <a:xfrm>
            <a:off x="1005840" y="1956816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Sleep Forecast: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Daily sleep minute count from minuteSleep CSV → 30-day ahead, 80% CI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2"/>
          <p:cNvSpPr/>
          <p:nvPr/>
        </p:nvSpPr>
        <p:spPr>
          <a:xfrm>
            <a:off x="1005840" y="2432304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Model Config: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mcmc_samples=0 for speed; last 60 days used as training window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2"/>
          <p:cNvSpPr/>
          <p:nvPr/>
        </p:nvSpPr>
        <p:spPr>
          <a:xfrm>
            <a:off x="1005840" y="290779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500"/>
            </a:pPr>
            <a:r>
              <a:rPr lang="en-US" sz="1500" b="0" i="0" u="none" strike="noStrike" cap="none" dirty="0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Forecast start dashed line plotted. Actual scatter + trend line + confidence band rendered per model.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2"/>
          <p:cNvSpPr/>
          <p:nvPr/>
        </p:nvSpPr>
        <p:spPr>
          <a:xfrm>
            <a:off x="1005840" y="338328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3 Prophet charts; prophet_done flag set; Clustering stage unlocked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25" name="Google Shape;625;p13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6" name="Google Shape;626;p13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7" name="Google Shape;627;p13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8" name="Google Shape;628;p13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p13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p13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1" name="Google Shape;631;p13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2" name="Google Shape;632;p13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13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3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13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13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3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13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9" name="Google Shape;639;p13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0" name="Google Shape;640;p13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1" name="Google Shape;641;p13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2" name="Google Shape;642;p13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3" name="Google Shape;643;p13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3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3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6" name="Google Shape;646;p13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7" name="Google Shape;647;p13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8" name="Google Shape;648;p13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9" name="Google Shape;649;p13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0" name="Google Shape;650;p13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1" name="Google Shape;651;p13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3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13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13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5" name="Google Shape;655;p13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6" name="Google Shape;656;p13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7" name="Google Shape;657;p13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8" name="Google Shape;658;p13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13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60" name="Google Shape;660;p13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1" name="Google Shape;661;p13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13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Clustering &amp; Dimensionality Reduction — ML-3: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3"/>
          <p:cNvSpPr/>
          <p:nvPr/>
        </p:nvSpPr>
        <p:spPr>
          <a:xfrm>
            <a:off x="1005840" y="64008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KMeans · DBSCAN · PCA · t-SNE on Daily Activity features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3"/>
          <p:cNvSpPr/>
          <p:nvPr/>
        </p:nvSpPr>
        <p:spPr>
          <a:xfrm>
            <a:off x="1005840" y="100584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Feature Columns: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TotalSteps, Calories, VeryActiveMinutes, FairlyActiveMinutes, LightlyActiveMinutes, SedentaryMinutes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3"/>
          <p:cNvSpPr/>
          <p:nvPr/>
        </p:nvSpPr>
        <p:spPr>
          <a:xfrm>
            <a:off x="1005840" y="1481328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Preprocessing: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User-level mean aggregation → StandardScaler normalisation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3"/>
          <p:cNvSpPr/>
          <p:nvPr/>
        </p:nvSpPr>
        <p:spPr>
          <a:xfrm>
            <a:off x="1005840" y="1956816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PCA: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2 principal components extracted for 2D scatter visualisation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3"/>
          <p:cNvSpPr/>
          <p:nvPr/>
        </p:nvSpPr>
        <p:spPr>
          <a:xfrm>
            <a:off x="1005840" y="2432304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KMeans: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k configurable (2–9) via sidebar slider; n_init=10, random_state=42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3"/>
          <p:cNvSpPr/>
          <p:nvPr/>
        </p:nvSpPr>
        <p:spPr>
          <a:xfrm>
            <a:off x="1005840" y="290779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DBSCAN: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eps configurable (0.5–5.0) via sidebar; min_samples=2; noise points shown in grey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3"/>
          <p:cNvSpPr/>
          <p:nvPr/>
        </p:nvSpPr>
        <p:spPr>
          <a:xfrm>
            <a:off x="1005840" y="338328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t-SNE: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2D embedding with KMeans labels coloured; perplexity auto-scaled to user count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76" name="Google Shape;676;p14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7" name="Google Shape;677;p14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8" name="Google Shape;678;p14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9" name="Google Shape;679;p14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0" name="Google Shape;680;p14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1" name="Google Shape;681;p14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2" name="Google Shape;682;p14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3" name="Google Shape;683;p14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14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14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14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14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14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14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0" name="Google Shape;690;p14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1" name="Google Shape;691;p14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2" name="Google Shape;692;p14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3" name="Google Shape;693;p14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4" name="Google Shape;694;p14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4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4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7" name="Google Shape;697;p14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8" name="Google Shape;698;p14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9" name="Google Shape;699;p14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0" name="Google Shape;700;p14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1" name="Google Shape;701;p14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2" name="Google Shape;702;p14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14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14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14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06" name="Google Shape;706;p14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7" name="Google Shape;707;p14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8" name="Google Shape;708;p14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9" name="Google Shape;709;p14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4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1" name="Google Shape;711;p14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2" name="Google Shape;712;p14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14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Elbow Curve &amp; Cluster Profiles — ML-6 &amp; ML-7: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4"/>
          <p:cNvSpPr/>
          <p:nvPr/>
        </p:nvSpPr>
        <p:spPr>
          <a:xfrm>
            <a:off x="1005840" y="64008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Optimal K selection + User behaviour profiling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4"/>
          <p:cNvSpPr/>
          <p:nvPr/>
        </p:nvSpPr>
        <p:spPr>
          <a:xfrm>
            <a:off x="1005840" y="100584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Elbow Curve: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Inertia computed for K = 2 to 9; plotted to find optimal cluster count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4"/>
          <p:cNvSpPr/>
          <p:nvPr/>
        </p:nvSpPr>
        <p:spPr>
          <a:xfrm>
            <a:off x="1005840" y="1481328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Cluster Profiles Table: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Mean feature values per KMeans cluster displayed as a DataFrame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4"/>
          <p:cNvSpPr/>
          <p:nvPr/>
        </p:nvSpPr>
        <p:spPr>
          <a:xfrm>
            <a:off x="1005840" y="1956816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Bar Chart: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TotalSteps, Calories, VeryActiveMinutes, SedentaryMinutes compared across clusters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4"/>
          <p:cNvSpPr/>
          <p:nvPr/>
        </p:nvSpPr>
        <p:spPr>
          <a:xfrm>
            <a:off x="1005840" y="2432304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Interpretation Cards: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Each cluster labelled as 🏃 Highly Active (&gt;10k steps), 🚶 Moderate (5–10k), or 🛋️ Sedentary (&lt;5k)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4"/>
          <p:cNvSpPr/>
          <p:nvPr/>
        </p:nvSpPr>
        <p:spPr>
          <a:xfrm>
            <a:off x="1005840" y="290779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Pipeline Summary: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Log-box showing dataset, TSFresh feature count, 3× Prophet models, KMeans distribution, DBSCAN noise %, screenshots list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26" name="Google Shape;726;p15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7" name="Google Shape;727;p15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8" name="Google Shape;728;p15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9" name="Google Shape;729;p15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0" name="Google Shape;730;p15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1" name="Google Shape;731;p15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2" name="Google Shape;732;p15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3" name="Google Shape;733;p15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15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15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15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15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15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15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40" name="Google Shape;740;p15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1" name="Google Shape;741;p15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2" name="Google Shape;742;p15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3" name="Google Shape;743;p15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4" name="Google Shape;744;p15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15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15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47" name="Google Shape;747;p15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8" name="Google Shape;748;p15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9" name="Google Shape;749;p15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0" name="Google Shape;750;p15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1" name="Google Shape;751;p15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2" name="Google Shape;752;p15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15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5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15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6" name="Google Shape;756;p15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7" name="Google Shape;757;p15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8" name="Google Shape;758;p15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9" name="Google Shape;759;p15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5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61" name="Google Shape;761;p15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2" name="Google Shape;762;p15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5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Results &amp; Findings: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5"/>
          <p:cNvSpPr/>
          <p:nvPr/>
        </p:nvSpPr>
        <p:spPr>
          <a:xfrm>
            <a:off x="1005840" y="77724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Preprocessing: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36,500 rows × 16 columns loaded; 21,951 nulls resolved via interpolation + Unknown fill. Zero residual nulls.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5"/>
          <p:cNvSpPr/>
          <p:nvPr/>
        </p:nvSpPr>
        <p:spPr>
          <a:xfrm>
            <a:off x="1005840" y="1252728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5-File Merge: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Daily Activity, Steps, Intensities, Sleep, Heart Rate merged into one master DataFrame.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5"/>
          <p:cNvSpPr/>
          <p:nvPr/>
        </p:nvSpPr>
        <p:spPr>
          <a:xfrm>
            <a:off x="1005840" y="1728216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TSFresh: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11 statistical HR features extracted per user; normalised heatmap visualised.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5"/>
          <p:cNvSpPr/>
          <p:nvPr/>
        </p:nvSpPr>
        <p:spPr>
          <a:xfrm>
            <a:off x="1005840" y="2203704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Prophet: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3 forecasts completed — HR (90% CI), Steps (80% CI), Sleep (80% CI) — all 30 days ahead.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5"/>
          <p:cNvSpPr/>
          <p:nvPr/>
        </p:nvSpPr>
        <p:spPr>
          <a:xfrm>
            <a:off x="1005840" y="267919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Clustering: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KMeans + DBSCAN on 6 activity features; PCA and t-SNE projections rendered.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5"/>
          <p:cNvSpPr/>
          <p:nvPr/>
        </p:nvSpPr>
        <p:spPr>
          <a:xfrm>
            <a:off x="1005840" y="315468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Platform Live: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Fully interactive Streamlit app with Preprocessing + Pattern Extraction sections.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76" name="Google Shape;776;p16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7" name="Google Shape;777;p16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8" name="Google Shape;778;p16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9" name="Google Shape;779;p16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0" name="Google Shape;780;p16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1" name="Google Shape;781;p16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2" name="Google Shape;782;p16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3" name="Google Shape;783;p16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16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6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16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16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16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16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90" name="Google Shape;790;p16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1" name="Google Shape;791;p16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2" name="Google Shape;792;p16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3" name="Google Shape;793;p16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4" name="Google Shape;794;p16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16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16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97" name="Google Shape;797;p16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8" name="Google Shape;798;p16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9" name="Google Shape;799;p16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00" name="Google Shape;800;p16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01" name="Google Shape;801;p16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2" name="Google Shape;802;p16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16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16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16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06" name="Google Shape;806;p16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07" name="Google Shape;807;p16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08" name="Google Shape;808;p16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9" name="Google Shape;809;p16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16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1" name="Google Shape;811;p16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2" name="Google Shape;812;p16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16"/>
          <p:cNvSpPr/>
          <p:nvPr/>
        </p:nvSpPr>
        <p:spPr>
          <a:xfrm>
            <a:off x="9144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Stack: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6"/>
          <p:cNvSpPr/>
          <p:nvPr/>
        </p:nvSpPr>
        <p:spPr>
          <a:xfrm>
            <a:off x="1005840" y="77724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Frontend / UI: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Streamlit — interactive two-section web app with dark-theme CSS, session state, and sidebar controls.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6"/>
          <p:cNvSpPr/>
          <p:nvPr/>
        </p:nvSpPr>
        <p:spPr>
          <a:xfrm>
            <a:off x="1005840" y="1252728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Data Processing: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Pandas &amp; NumPy — loading, interpolation, merging, groupby aggregation.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6"/>
          <p:cNvSpPr/>
          <p:nvPr/>
        </p:nvSpPr>
        <p:spPr>
          <a:xfrm>
            <a:off x="1005840" y="1728216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Visualisation: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Matplotlib &amp; Seaborn — KDE histograms, missing-value charts, heatmaps, scatter plots, bar charts.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6"/>
          <p:cNvSpPr/>
          <p:nvPr/>
        </p:nvSpPr>
        <p:spPr>
          <a:xfrm>
            <a:off x="1005840" y="2203704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Feature Engineering: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TSFresh (MinimalFCParameters) — statistical features from HR time-series.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6"/>
          <p:cNvSpPr/>
          <p:nvPr/>
        </p:nvSpPr>
        <p:spPr>
          <a:xfrm>
            <a:off x="1005840" y="267919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Forecasting: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Prophet (Meta) — weekly seasonality, CI bands, multi-metric 30-day forecasts.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6"/>
          <p:cNvSpPr/>
          <p:nvPr/>
        </p:nvSpPr>
        <p:spPr>
          <a:xfrm>
            <a:off x="1005840" y="3154680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ML / Clustering:</a:t>
            </a:r>
            <a:r>
              <a:rPr lang="en-US" sz="15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 Scikit-Learn — KMeans, DBSCAN, PCA, t-SNE, StandardScaler, MinMaxScaler.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6" name="Google Shape;826;p17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7" name="Google Shape;827;p17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8" name="Google Shape;828;p17"/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9" name="Google Shape;829;p17"/>
          <p:cNvSpPr/>
          <p:nvPr/>
        </p:nvSpPr>
        <p:spPr>
          <a:xfrm>
            <a:off x="78638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30" name="Google Shape;830;p17"/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1" name="Google Shape;831;p17"/>
          <p:cNvSpPr/>
          <p:nvPr/>
        </p:nvSpPr>
        <p:spPr>
          <a:xfrm>
            <a:off x="786384" y="17465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32" name="Google Shape;832;p17"/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3" name="Google Shape;833;p17"/>
          <p:cNvSpPr/>
          <p:nvPr/>
        </p:nvSpPr>
        <p:spPr>
          <a:xfrm>
            <a:off x="786384" y="31181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34" name="Google Shape;834;p17"/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5" name="Google Shape;835;p17"/>
          <p:cNvSpPr/>
          <p:nvPr/>
        </p:nvSpPr>
        <p:spPr>
          <a:xfrm>
            <a:off x="786384" y="430682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36" name="Google Shape;836;p17"/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7" name="Google Shape;837;p17"/>
          <p:cNvSpPr/>
          <p:nvPr/>
        </p:nvSpPr>
        <p:spPr>
          <a:xfrm>
            <a:off x="8193024" y="10149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38" name="Google Shape;838;p17"/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9" name="Google Shape;839;p17"/>
          <p:cNvSpPr/>
          <p:nvPr/>
        </p:nvSpPr>
        <p:spPr>
          <a:xfrm>
            <a:off x="8193024" y="26609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40" name="Google Shape;840;p17"/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1" name="Google Shape;841;p17"/>
          <p:cNvSpPr/>
          <p:nvPr/>
        </p:nvSpPr>
        <p:spPr>
          <a:xfrm>
            <a:off x="8193024" y="40325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17"/>
          <p:cNvSpPr/>
          <p:nvPr/>
        </p:nvSpPr>
        <p:spPr>
          <a:xfrm>
            <a:off x="914400" y="91440"/>
            <a:ext cx="7315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Flowchart — End-to-End: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7"/>
          <p:cNvSpPr/>
          <p:nvPr/>
        </p:nvSpPr>
        <p:spPr>
          <a:xfrm>
            <a:off x="1005840" y="5943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🔧  MILESTONE 1 — PREPROCESSING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7"/>
          <p:cNvSpPr/>
          <p:nvPr/>
        </p:nvSpPr>
        <p:spPr>
          <a:xfrm>
            <a:off x="4754880" y="5943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🤖  MILESTONE 2 — PATTERN EXTRACTION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7"/>
          <p:cNvSpPr/>
          <p:nvPr/>
        </p:nvSpPr>
        <p:spPr>
          <a:xfrm>
            <a:off x="1005840" y="960120"/>
            <a:ext cx="3383280" cy="566928"/>
          </a:xfrm>
          <a:prstGeom prst="rect">
            <a:avLst/>
          </a:prstGeom>
          <a:solidFill>
            <a:srgbClr val="1C1450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17"/>
          <p:cNvSpPr/>
          <p:nvPr/>
        </p:nvSpPr>
        <p:spPr>
          <a:xfrm>
            <a:off x="1005840" y="960120"/>
            <a:ext cx="54864" cy="566928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17"/>
          <p:cNvSpPr/>
          <p:nvPr/>
        </p:nvSpPr>
        <p:spPr>
          <a:xfrm>
            <a:off x="1143000" y="100584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① Upload CSV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7"/>
          <p:cNvSpPr/>
          <p:nvPr/>
        </p:nvSpPr>
        <p:spPr>
          <a:xfrm>
            <a:off x="1143000" y="12527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9B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E9BC0"/>
                </a:solidFill>
                <a:latin typeface="Calibri"/>
                <a:ea typeface="Calibri"/>
                <a:cs typeface="Calibri"/>
                <a:sym typeface="Calibri"/>
              </a:rPr>
              <a:t>36,500 rows × 16 cols loaded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7"/>
          <p:cNvSpPr/>
          <p:nvPr/>
        </p:nvSpPr>
        <p:spPr>
          <a:xfrm>
            <a:off x="2468880" y="15361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7"/>
          <p:cNvSpPr/>
          <p:nvPr/>
        </p:nvSpPr>
        <p:spPr>
          <a:xfrm>
            <a:off x="1005840" y="1764792"/>
            <a:ext cx="3383280" cy="566928"/>
          </a:xfrm>
          <a:prstGeom prst="rect">
            <a:avLst/>
          </a:prstGeom>
          <a:solidFill>
            <a:srgbClr val="1C1450"/>
          </a:solidFill>
          <a:ln w="12700" cap="flat" cmpd="sng">
            <a:solidFill>
              <a:srgbClr val="FCD3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7"/>
          <p:cNvSpPr/>
          <p:nvPr/>
        </p:nvSpPr>
        <p:spPr>
          <a:xfrm>
            <a:off x="1005840" y="1764792"/>
            <a:ext cx="54864" cy="566928"/>
          </a:xfrm>
          <a:prstGeom prst="rect">
            <a:avLst/>
          </a:prstGeom>
          <a:solidFill>
            <a:srgbClr val="FCD34D"/>
          </a:solidFill>
          <a:ln w="12700" cap="flat" cmpd="sng">
            <a:solidFill>
              <a:srgbClr val="FCD3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7"/>
          <p:cNvSpPr/>
          <p:nvPr/>
        </p:nvSpPr>
        <p:spPr>
          <a:xfrm>
            <a:off x="1143000" y="1810512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② Null Detection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7"/>
          <p:cNvSpPr/>
          <p:nvPr/>
        </p:nvSpPr>
        <p:spPr>
          <a:xfrm>
            <a:off x="1143000" y="205740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9B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E9BC0"/>
                </a:solidFill>
                <a:latin typeface="Calibri"/>
                <a:ea typeface="Calibri"/>
                <a:cs typeface="Calibri"/>
                <a:sym typeface="Calibri"/>
              </a:rPr>
              <a:t>21,951 missing cells visualised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7"/>
          <p:cNvSpPr/>
          <p:nvPr/>
        </p:nvSpPr>
        <p:spPr>
          <a:xfrm>
            <a:off x="2468880" y="234086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7"/>
          <p:cNvSpPr/>
          <p:nvPr/>
        </p:nvSpPr>
        <p:spPr>
          <a:xfrm>
            <a:off x="1005840" y="2569464"/>
            <a:ext cx="3383280" cy="566928"/>
          </a:xfrm>
          <a:prstGeom prst="rect">
            <a:avLst/>
          </a:prstGeom>
          <a:solidFill>
            <a:srgbClr val="1C1450"/>
          </a:solidFill>
          <a:ln w="12700" cap="flat" cmpd="sng">
            <a:solidFill>
              <a:srgbClr val="6EE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17"/>
          <p:cNvSpPr/>
          <p:nvPr/>
        </p:nvSpPr>
        <p:spPr>
          <a:xfrm>
            <a:off x="1005840" y="2569464"/>
            <a:ext cx="54864" cy="566928"/>
          </a:xfrm>
          <a:prstGeom prst="rect">
            <a:avLst/>
          </a:prstGeom>
          <a:solidFill>
            <a:srgbClr val="6EE7B7"/>
          </a:solidFill>
          <a:ln w="12700" cap="flat" cmpd="sng">
            <a:solidFill>
              <a:srgbClr val="6EE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17"/>
          <p:cNvSpPr/>
          <p:nvPr/>
        </p:nvSpPr>
        <p:spPr>
          <a:xfrm>
            <a:off x="1143000" y="2615184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③ Interpolate &amp; Fill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7"/>
          <p:cNvSpPr/>
          <p:nvPr/>
        </p:nvSpPr>
        <p:spPr>
          <a:xfrm>
            <a:off x="1143000" y="28620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9B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E9BC0"/>
                </a:solidFill>
                <a:latin typeface="Calibri"/>
                <a:ea typeface="Calibri"/>
                <a:cs typeface="Calibri"/>
                <a:sym typeface="Calibri"/>
              </a:rPr>
              <a:t>Numeric → interpolate, Cat → Unknown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7"/>
          <p:cNvSpPr/>
          <p:nvPr/>
        </p:nvSpPr>
        <p:spPr>
          <a:xfrm>
            <a:off x="2468880" y="3145536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17"/>
          <p:cNvSpPr/>
          <p:nvPr/>
        </p:nvSpPr>
        <p:spPr>
          <a:xfrm>
            <a:off x="1005840" y="3374136"/>
            <a:ext cx="3383280" cy="566928"/>
          </a:xfrm>
          <a:prstGeom prst="rect">
            <a:avLst/>
          </a:prstGeom>
          <a:solidFill>
            <a:srgbClr val="1C1450"/>
          </a:solidFill>
          <a:ln w="12700" cap="flat" cmpd="sng">
            <a:solidFill>
              <a:srgbClr val="FDBA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17"/>
          <p:cNvSpPr/>
          <p:nvPr/>
        </p:nvSpPr>
        <p:spPr>
          <a:xfrm>
            <a:off x="1005840" y="3374136"/>
            <a:ext cx="54864" cy="566928"/>
          </a:xfrm>
          <a:prstGeom prst="rect">
            <a:avLst/>
          </a:prstGeom>
          <a:solidFill>
            <a:srgbClr val="FDBA74"/>
          </a:solidFill>
          <a:ln w="12700" cap="flat" cmpd="sng">
            <a:solidFill>
              <a:srgbClr val="FDBA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17"/>
          <p:cNvSpPr/>
          <p:nvPr/>
        </p:nvSpPr>
        <p:spPr>
          <a:xfrm>
            <a:off x="1143000" y="3419856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BA7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DBA74"/>
                </a:solidFill>
                <a:latin typeface="Calibri"/>
                <a:ea typeface="Calibri"/>
                <a:cs typeface="Calibri"/>
                <a:sym typeface="Calibri"/>
              </a:rPr>
              <a:t>④ EDA Histograms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7"/>
          <p:cNvSpPr/>
          <p:nvPr/>
        </p:nvSpPr>
        <p:spPr>
          <a:xfrm>
            <a:off x="1143000" y="3666744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9B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E9BC0"/>
                </a:solidFill>
                <a:latin typeface="Calibri"/>
                <a:ea typeface="Calibri"/>
                <a:cs typeface="Calibri"/>
                <a:sym typeface="Calibri"/>
              </a:rPr>
              <a:t>KDE plots all numeric columns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17"/>
          <p:cNvSpPr/>
          <p:nvPr/>
        </p:nvSpPr>
        <p:spPr>
          <a:xfrm>
            <a:off x="2468880" y="39502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BA7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DBA7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17"/>
          <p:cNvSpPr/>
          <p:nvPr/>
        </p:nvSpPr>
        <p:spPr>
          <a:xfrm>
            <a:off x="1005840" y="4178808"/>
            <a:ext cx="3383280" cy="566928"/>
          </a:xfrm>
          <a:prstGeom prst="rect">
            <a:avLst/>
          </a:prstGeom>
          <a:solidFill>
            <a:srgbClr val="1C1450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17"/>
          <p:cNvSpPr/>
          <p:nvPr/>
        </p:nvSpPr>
        <p:spPr>
          <a:xfrm>
            <a:off x="1005840" y="4178808"/>
            <a:ext cx="54864" cy="566928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17"/>
          <p:cNvSpPr/>
          <p:nvPr/>
        </p:nvSpPr>
        <p:spPr>
          <a:xfrm>
            <a:off x="1143000" y="422452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⑤ Download Clean CSV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7"/>
          <p:cNvSpPr/>
          <p:nvPr/>
        </p:nvSpPr>
        <p:spPr>
          <a:xfrm>
            <a:off x="1143000" y="447141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9B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E9BC0"/>
                </a:solidFill>
                <a:latin typeface="Calibri"/>
                <a:ea typeface="Calibri"/>
                <a:cs typeface="Calibri"/>
                <a:sym typeface="Calibri"/>
              </a:rPr>
              <a:t>Zero nulls, ready for ML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7"/>
          <p:cNvSpPr/>
          <p:nvPr/>
        </p:nvSpPr>
        <p:spPr>
          <a:xfrm>
            <a:off x="4754880" y="960120"/>
            <a:ext cx="3383280" cy="566928"/>
          </a:xfrm>
          <a:prstGeom prst="rect">
            <a:avLst/>
          </a:prstGeom>
          <a:solidFill>
            <a:srgbClr val="1C1450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17"/>
          <p:cNvSpPr/>
          <p:nvPr/>
        </p:nvSpPr>
        <p:spPr>
          <a:xfrm>
            <a:off x="4754880" y="960120"/>
            <a:ext cx="54864" cy="566928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17"/>
          <p:cNvSpPr/>
          <p:nvPr/>
        </p:nvSpPr>
        <p:spPr>
          <a:xfrm>
            <a:off x="4892040" y="100584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⑥ Load 5 Fitbit CSVs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7"/>
          <p:cNvSpPr/>
          <p:nvPr/>
        </p:nvSpPr>
        <p:spPr>
          <a:xfrm>
            <a:off x="4892040" y="12527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9B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E9BC0"/>
                </a:solidFill>
                <a:latin typeface="Calibri"/>
                <a:ea typeface="Calibri"/>
                <a:cs typeface="Calibri"/>
                <a:sym typeface="Calibri"/>
              </a:rPr>
              <a:t>Auto-detect by column signature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7"/>
          <p:cNvSpPr/>
          <p:nvPr/>
        </p:nvSpPr>
        <p:spPr>
          <a:xfrm>
            <a:off x="6217920" y="15361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7"/>
          <p:cNvSpPr/>
          <p:nvPr/>
        </p:nvSpPr>
        <p:spPr>
          <a:xfrm>
            <a:off x="4754880" y="1764792"/>
            <a:ext cx="3383280" cy="566928"/>
          </a:xfrm>
          <a:prstGeom prst="rect">
            <a:avLst/>
          </a:prstGeom>
          <a:solidFill>
            <a:srgbClr val="1C1450"/>
          </a:solidFill>
          <a:ln w="12700" cap="flat" cmpd="sng">
            <a:solidFill>
              <a:srgbClr val="FCD3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17"/>
          <p:cNvSpPr/>
          <p:nvPr/>
        </p:nvSpPr>
        <p:spPr>
          <a:xfrm>
            <a:off x="4754880" y="1764792"/>
            <a:ext cx="54864" cy="566928"/>
          </a:xfrm>
          <a:prstGeom prst="rect">
            <a:avLst/>
          </a:prstGeom>
          <a:solidFill>
            <a:srgbClr val="FCD34D"/>
          </a:solidFill>
          <a:ln w="12700" cap="flat" cmpd="sng">
            <a:solidFill>
              <a:srgbClr val="FCD3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17"/>
          <p:cNvSpPr/>
          <p:nvPr/>
        </p:nvSpPr>
        <p:spPr>
          <a:xfrm>
            <a:off x="4892040" y="1810512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⑦ TSFresh (ML-1)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7"/>
          <p:cNvSpPr/>
          <p:nvPr/>
        </p:nvSpPr>
        <p:spPr>
          <a:xfrm>
            <a:off x="4892040" y="205740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9B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E9BC0"/>
                </a:solidFill>
                <a:latin typeface="Calibri"/>
                <a:ea typeface="Calibri"/>
                <a:cs typeface="Calibri"/>
                <a:sym typeface="Calibri"/>
              </a:rPr>
              <a:t>11 HR features per user → heatmap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7"/>
          <p:cNvSpPr/>
          <p:nvPr/>
        </p:nvSpPr>
        <p:spPr>
          <a:xfrm>
            <a:off x="6217920" y="234086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7"/>
          <p:cNvSpPr/>
          <p:nvPr/>
        </p:nvSpPr>
        <p:spPr>
          <a:xfrm>
            <a:off x="4754880" y="2569464"/>
            <a:ext cx="3383280" cy="566928"/>
          </a:xfrm>
          <a:prstGeom prst="rect">
            <a:avLst/>
          </a:prstGeom>
          <a:solidFill>
            <a:srgbClr val="1C1450"/>
          </a:solidFill>
          <a:ln w="12700" cap="flat" cmpd="sng">
            <a:solidFill>
              <a:srgbClr val="6EE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17"/>
          <p:cNvSpPr/>
          <p:nvPr/>
        </p:nvSpPr>
        <p:spPr>
          <a:xfrm>
            <a:off x="4754880" y="2569464"/>
            <a:ext cx="54864" cy="566928"/>
          </a:xfrm>
          <a:prstGeom prst="rect">
            <a:avLst/>
          </a:prstGeom>
          <a:solidFill>
            <a:srgbClr val="6EE7B7"/>
          </a:solidFill>
          <a:ln w="12700" cap="flat" cmpd="sng">
            <a:solidFill>
              <a:srgbClr val="6EE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17"/>
          <p:cNvSpPr/>
          <p:nvPr/>
        </p:nvSpPr>
        <p:spPr>
          <a:xfrm>
            <a:off x="4892040" y="2615184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⑧ Prophet HR (ML-2)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7"/>
          <p:cNvSpPr/>
          <p:nvPr/>
        </p:nvSpPr>
        <p:spPr>
          <a:xfrm>
            <a:off x="4892040" y="28620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9B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E9BC0"/>
                </a:solidFill>
                <a:latin typeface="Calibri"/>
                <a:ea typeface="Calibri"/>
                <a:cs typeface="Calibri"/>
                <a:sym typeface="Calibri"/>
              </a:rPr>
              <a:t>30-day BPM forecast, 90% CI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7"/>
          <p:cNvSpPr/>
          <p:nvPr/>
        </p:nvSpPr>
        <p:spPr>
          <a:xfrm>
            <a:off x="6217920" y="3145536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7"/>
          <p:cNvSpPr/>
          <p:nvPr/>
        </p:nvSpPr>
        <p:spPr>
          <a:xfrm>
            <a:off x="4754880" y="3374136"/>
            <a:ext cx="3383280" cy="566928"/>
          </a:xfrm>
          <a:prstGeom prst="rect">
            <a:avLst/>
          </a:prstGeom>
          <a:solidFill>
            <a:srgbClr val="1C1450"/>
          </a:solidFill>
          <a:ln w="12700" cap="flat" cmpd="sng">
            <a:solidFill>
              <a:srgbClr val="FDBA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7"/>
          <p:cNvSpPr/>
          <p:nvPr/>
        </p:nvSpPr>
        <p:spPr>
          <a:xfrm>
            <a:off x="4754880" y="3374136"/>
            <a:ext cx="54864" cy="566928"/>
          </a:xfrm>
          <a:prstGeom prst="rect">
            <a:avLst/>
          </a:prstGeom>
          <a:solidFill>
            <a:srgbClr val="FDBA74"/>
          </a:solidFill>
          <a:ln w="12700" cap="flat" cmpd="sng">
            <a:solidFill>
              <a:srgbClr val="FDBA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17"/>
          <p:cNvSpPr/>
          <p:nvPr/>
        </p:nvSpPr>
        <p:spPr>
          <a:xfrm>
            <a:off x="4892040" y="3419856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BA7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DBA74"/>
                </a:solidFill>
                <a:latin typeface="Calibri"/>
                <a:ea typeface="Calibri"/>
                <a:cs typeface="Calibri"/>
                <a:sym typeface="Calibri"/>
              </a:rPr>
              <a:t>⑨ KMeans + DBSCAN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7"/>
          <p:cNvSpPr/>
          <p:nvPr/>
        </p:nvSpPr>
        <p:spPr>
          <a:xfrm>
            <a:off x="4892040" y="3666744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9B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E9BC0"/>
                </a:solidFill>
                <a:latin typeface="Calibri"/>
                <a:ea typeface="Calibri"/>
                <a:cs typeface="Calibri"/>
                <a:sym typeface="Calibri"/>
              </a:rPr>
              <a:t>PCA + t-SNE scatter, k configurable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17"/>
          <p:cNvSpPr/>
          <p:nvPr/>
        </p:nvSpPr>
        <p:spPr>
          <a:xfrm>
            <a:off x="6217920" y="39502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BA7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DBA7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7"/>
          <p:cNvSpPr/>
          <p:nvPr/>
        </p:nvSpPr>
        <p:spPr>
          <a:xfrm>
            <a:off x="4754880" y="4178808"/>
            <a:ext cx="3383280" cy="566928"/>
          </a:xfrm>
          <a:prstGeom prst="rect">
            <a:avLst/>
          </a:prstGeom>
          <a:solidFill>
            <a:srgbClr val="1C1450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17"/>
          <p:cNvSpPr/>
          <p:nvPr/>
        </p:nvSpPr>
        <p:spPr>
          <a:xfrm>
            <a:off x="4754880" y="4178808"/>
            <a:ext cx="54864" cy="566928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7"/>
          <p:cNvSpPr/>
          <p:nvPr/>
        </p:nvSpPr>
        <p:spPr>
          <a:xfrm>
            <a:off x="4892040" y="422452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⑩ Steps &amp; Sleep Forecast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17"/>
          <p:cNvSpPr/>
          <p:nvPr/>
        </p:nvSpPr>
        <p:spPr>
          <a:xfrm>
            <a:off x="4892040" y="447141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9B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E9BC0"/>
                </a:solidFill>
                <a:latin typeface="Calibri"/>
                <a:ea typeface="Calibri"/>
                <a:cs typeface="Calibri"/>
                <a:sym typeface="Calibri"/>
              </a:rPr>
              <a:t>Prophet 80% CI, multi-series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2A5436C8-E229-4072-B7B5-A924EE60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B4C65257-B747-4974-0FD3-462A83439CAE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89111EF1-F63E-2382-D717-02202D015E87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C0B3A2C4-607A-9C6B-580C-34E17470764B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C488A31E-5937-9D4E-BEAF-1A1EB94F597C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E208D2C0-C1A0-F9FC-D2BA-867A1FB2700B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271BBFEB-EB02-5925-B49C-9EE86FA18FEB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8F7D3A71-4E2D-76C5-32F3-CEB7AB8E37A1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2F89594F-7F27-8A0C-79C0-210E266A08F7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7782B17E-392F-93DB-9491-E1A9D6431522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D2CB321-195F-B4C8-06AC-1ED38CAFE5A8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Preprocessing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7B2449-5833-3440-B2B7-C74745253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640080"/>
            <a:ext cx="7269018" cy="42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528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31039777-4525-F1A3-F2E5-3C169BFB8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3CC97B10-D546-3584-95A2-6D50CFC456AA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10442DED-C785-806A-52F7-73883E7ED5F0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23C25897-8BC8-2A5C-452C-69A3F43DE331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E2CF7248-503D-DE28-11CB-0E33352BC6BA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E84FE22D-50EA-89EE-614F-77001A3945C9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EE5ACCE5-133E-8022-A118-82D10499007C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DC21BEB2-5A69-085A-8441-03549E9E58A2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DB710EFB-8B0C-B430-52A6-8043FB5028C0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D9BCAD4E-04F2-66AE-466A-DD0A23306BE9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7300BCF-EA78-216E-D8AD-EB64C59F0058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Preprocessing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6FE02D-A852-3E18-5445-B40620317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55" y="640080"/>
            <a:ext cx="7176655" cy="43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95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6892A416-EB7D-6030-D328-55FE07F7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8EEB5F0A-A5C7-1328-B4BB-6E114DF607FB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6F64A1CD-09AA-CF0E-0F66-EB9137E0407F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0FE51726-A28A-B9AD-5545-371E85A07C82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643F0578-69C9-065D-4E36-F341D01A35DA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A4FBBBF1-F394-C2B0-7F94-79CAA720AC3A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40E5DF0B-6436-D038-DF89-3D867DD66631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654FEF95-FAD6-8FA9-E13F-63CF244C1B89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B24D53EE-EB55-F762-5DEE-46DF75E5DF36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A6AA62F8-F5AB-1500-698B-8AE52633D7BD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16C0A8-81CC-0EFE-675E-D90E140E7DB1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Preprocessing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8742B2-D597-F2DB-D5F4-D80DC0E70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17" y="678873"/>
            <a:ext cx="7271684" cy="428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85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09D6D2E3-EDAB-30FC-4EA3-E7AD2AE5F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9D2EBB21-EE24-A4DD-EFE0-4ECCF2D768C7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06F3A033-0C29-705D-F85B-40C351F76D83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F08EFBB0-AD99-467F-1729-EB41274735C2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3469ECD9-9810-931F-E770-16A155E2BEDC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8438CBA7-4609-9E9F-E4B7-B5F46B4D1B45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F409705D-AB12-A978-82C4-993C26D2BBF1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C3160E2C-6BDC-3DE0-B7A0-19C1EE11DD18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608BF108-3D14-0EDD-3549-6C00F2337EBF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E37DD0D5-C998-8B7C-51FB-3D91FF5C260C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3274085-BD79-B56E-BAF4-03D9C66D1324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Preprocessing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4912CB-F126-4738-5887-072F57D1B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54" y="715821"/>
            <a:ext cx="7093526" cy="418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21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2E959D38-E02B-48D0-3B3E-41A00411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D38EEFEE-592D-04D6-8F60-BD947CB497A0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8BD94C6D-76F7-AC5E-71CD-08387C846026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EF5EFEE8-5C9E-004A-AA6C-B1F8D954B271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F90EC4C9-B5D2-CA90-D385-9A3FD7B2A5DC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8B00BBCC-6CAA-EC09-8B62-066D155961F0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3960CDB3-41D5-15AB-16E5-CC8234DA3631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FC296545-FDD0-A113-3220-BFA90BF8B92D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23E478F6-5F0E-F13D-5589-D5B8DA1E962D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728CA355-4D8A-ECA3-A683-489A4F1F7BE6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D6862C6-4950-F7EB-8A11-947AC6854C1E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Preprocessing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BE9746-B9AF-9895-2562-58B5F802B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55" y="645709"/>
            <a:ext cx="7135090" cy="441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65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BA3294D9-A49F-4782-973A-65C76EE4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404E4B4D-E574-2C2A-15DC-0E699C29AB85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21AD2412-A580-C308-39C0-F42846B1AEEC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9988D973-C7E5-EE87-3349-DC4DD7A05CE6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FF1B4DD0-779D-6A5B-DA24-EBA46A3F24B4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F4D1F7B7-8001-3EDE-2B82-140AFA41E613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0D706C91-688D-EDC6-F6BA-525FC8CB708C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CC07FD31-43F4-69EB-BBD1-510A421139BF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7D6FD12C-42AE-0517-653B-B2BFC478EC0D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DAA0D177-1AE3-F702-BFFE-6144543350EB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8DF2F9C-5446-2D37-CB65-C6488B9E4CED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Preprocessing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B0808A-B239-CF7D-1F75-E51BF8529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26" y="640080"/>
            <a:ext cx="7075053" cy="445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44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F2B4BC75-AB11-8A21-3D5C-580D5B81D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F1053146-A0A3-C7ED-183A-EB492B256911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22B8F07D-EC58-318E-B831-99F9343A902D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C9E65623-D425-2847-BEA1-02807B9740DB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1CC28835-0FAF-B1BD-6009-6CB88682ACE4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CC13E3EA-807F-6FC5-ECFD-25CB5524E5FD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E90336C8-0B03-BEB6-A5F8-0DF0487BED7B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29FF9584-959A-366F-732B-BE367D073836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F22E7961-E28C-689F-89DC-6C1CA2454B80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3784AD5A-39A0-B9CE-6CE0-BC490956E9FB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3F3DE9-9949-1320-D719-54B8D503A988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Preprocessing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5A2619-2314-EB71-8103-DDE17C2B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40" y="577150"/>
            <a:ext cx="7208979" cy="442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13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25EA0687-1539-D48F-5811-A550AD7FE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B38E6BD1-037F-64BE-70B3-DA3AEF7CB0C9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C9A4A07E-3735-8E8F-2671-C5CAB5DFAF2E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5A737276-C096-A604-C8CA-3C50A397201D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6ED72144-4604-77DF-C654-5B3C363F96F9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8AED4E80-34F0-98A0-11B4-D2B1400D4D3F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26368588-889F-4C24-7CC7-B4D56A480593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C5BA3182-E33A-7E8A-0E89-C2A546AFCD03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D25CD538-23E7-3458-16EE-E14EC54F5AC3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60BAAECD-F128-0919-9F02-A0B58C544C3D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42126D-8550-9A09-DFD4-745B933DDB5E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Preprocessing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09723C-1660-70D8-18E0-190698736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54" y="640081"/>
            <a:ext cx="7352446" cy="429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67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CFF4E8D1-59ED-9DE6-8D67-F8CF86EC0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DC70E39E-4609-93F2-BDC7-70CAB3F48292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E74F4FDE-0B26-7355-38DE-E9C488B496F9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8ED62810-4A7F-104D-3819-A571CEDC0922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A36ECF8F-639B-4461-39E7-B51E47AE21F0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4086ADA0-49BA-11C3-AEBB-1AAAD4F512AC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6231C670-F77E-F467-FE39-AA7DECF18D90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1EF12B28-FFC5-27DB-8057-2FAEE2D3B58F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5A85C6E7-1345-2F86-C35D-28AB8ED8A988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6D7276FA-A83C-16E5-A52F-8D641E8790B7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BBC0B3-88D0-A307-D714-845E7F39FAA1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848DCD-D824-D113-FD0E-67EC8E955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491" y="674255"/>
            <a:ext cx="7292109" cy="426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8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40C2C827-27E7-F87C-F4CB-09B217939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96D304C6-CC2A-5BE8-8FB7-B55E92349C09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14C5195E-9CA5-A193-93C9-C780F7510761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C250844B-D9C8-CC47-ABBA-7A5BCB73ABD5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8F9CE547-6022-9CBF-F6C0-A22FAAF5DD40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F8A71D85-0039-5AB3-5708-2E7964322491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0D663F78-AE35-5849-F25A-B416754A721F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A14191B1-C06C-6AA5-5A22-AFEBDA8A6E7E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BA09A8A4-C84F-04E1-237B-E3019A5BDA61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6516E325-B917-7DC9-878D-31D955501F4B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BA0045E-43AB-3418-5E99-18330B964CB2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24108A-01A9-36AB-6244-1373B9B71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528" y="640080"/>
            <a:ext cx="7190508" cy="438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82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12D2C051-F2A5-71D6-6484-CDF64A962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E0F3FBCC-C676-D74D-1AED-CF64B50A6EE6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54B99AB2-FC81-7AEE-99E2-FD5563E8CFFD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8EA6DE27-BF4E-01C5-CBCC-E65F07CEC28A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3A0F05E5-DAA0-388B-CC19-0ADE7E3037BE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D7A72E5F-DAE6-6CB6-9CE5-04D8B4F67C8A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FCA7AC45-E93C-DBFD-5B58-6E37599653CD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67479D79-C585-8C0A-158C-1F574CE9E2A9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FE7F3FB3-9CCC-86A9-78C1-98811C925ABB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6FAA2E4B-C3A1-0F44-3E76-E6838B87AAD2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D67BA73-87FE-D488-2EB3-317B53D40E21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C66FBB-3ADC-6C58-2FF4-928EEFB8B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57" y="640080"/>
            <a:ext cx="7259779" cy="437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8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55C89097-54F8-5968-0F6E-5C2FB68A1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531AD79D-183A-62F4-F37F-5779E9CEB352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8037A80C-8244-6120-013F-B4EB8C3606F6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FD7DAB42-ADE9-DE05-858C-B7D3D1894960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562ADB69-51A1-5C7C-CAFB-260837F8BFCF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14DED126-21D2-2C66-2980-80CE7BFC7889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FCEA6D07-660A-DC66-EDB9-3DD980B051AD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B5864F18-999F-52C7-6178-8ED4B6F67F98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8D4506DA-022E-62DD-B364-493A7C856050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6B30C8F6-8E5D-3F43-0128-A1184CCCDA06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9FE77C6-3332-CCF2-2CA7-43AA71DC578D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430077-B085-D4B7-DCD1-31766A44C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64" y="640080"/>
            <a:ext cx="7278252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55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5F2AB697-4DE3-B030-AB13-7ECCFFE2E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37376CC1-24DB-E2CE-74C2-C40975B4E474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F6806C60-5D17-6086-EE4F-5E08E75BE9AA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D2CE9105-3F00-3CB1-DE75-9685E228887A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A9180A86-A4F3-7CF6-6D82-634BEB056B56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18913005-D85D-9226-CDC9-9A8D9EC7BC32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78C2A496-000F-6D63-F42F-CC9AD2094189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5CCD0B10-9E00-B6E1-8AEE-A38A842275DD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72379116-77E8-098A-8D8D-2D63414D7DC2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AB851152-2168-CACF-6DCD-2F0CF30A7CD3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F43F7D-1F54-D00B-13B5-F48C857B5748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B4E005-9480-20CE-D6ED-1F5EDC842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55" y="576800"/>
            <a:ext cx="7273636" cy="442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089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A7A2A29B-6736-7A7C-5CAD-E43BB17E7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5146A98F-01DC-A7A4-6B2A-2EBE33E5A169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206395D7-E3E8-84E9-F79E-EF76305A3EE7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F2ED7444-6064-E2C5-98A8-26298DE85AAC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B57DBB5C-5290-50F7-6997-778DF0806DE4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8C3014D9-A7C9-EB80-E4F0-F3F59D2B2B27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523C77EA-94AE-4608-C068-A3682D87D7F7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FD739F85-015C-497E-76C2-F82CE3A2D0E9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72CD5F0C-2957-3C3D-7ADD-D9CDFC98DA8E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EBFC9CC9-D741-7EAE-033D-0248248F4FB2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CE3E875-B44E-2E2E-5BDF-75AAB5FA0874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F0D684-382F-C27E-65CA-6656E100B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55" y="678916"/>
            <a:ext cx="7093528" cy="415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740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2F00E993-9F63-0DDD-23C5-E77813235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1EEA68E8-D569-33B6-70C8-4B35928FCD3C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8886D8F9-8EBA-8A3F-5884-104F2BDEADC7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8D3A9C69-FCA4-3FC6-9824-ADED87F14233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78D582C9-CFCC-C285-1CB7-5B7DCF7754A5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A555348D-ECEA-97B5-8E05-FB53E59FF51F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855A3510-7BEA-9822-5168-6FE96EB8EB9F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2893E23D-CC79-9B11-4B32-1E21783BB634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CDE1B6C9-082E-210F-6562-25B45289023F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3B050D94-8214-B59E-9DAA-BC24CD61534F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0A067A9-6FAA-360E-09C2-8BFDFA7E03A0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547E59-419A-4D08-2AA1-CC800C3EC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64" y="674256"/>
            <a:ext cx="7250545" cy="435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494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7DF5E589-4287-B268-9DA9-425D03014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76631519-90F2-EA0F-5000-8EE02184369C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9EB733C5-ADD8-BFBB-D4FA-9B290A1FB103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8A0C2D50-A72D-5485-C407-7F70FB903C4C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100D862C-8B5D-BFD8-D660-D93E44722EA4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4E7C7F15-0B99-02BB-9A2A-EC4BFF0EDA67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89C022C3-FD53-C1EF-FC33-FDB2FE9910CE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CA807610-2472-90D4-17C1-451956B3AEED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36F083D4-B863-001F-32F1-ED255E98F150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510F46A5-B07F-B9BC-719B-F316036539B0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3DC4A30-A9A9-3DEE-30AA-E17BA4346C15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252337-FE3E-5577-6984-D62921CA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1" y="688109"/>
            <a:ext cx="7236692" cy="433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142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9805D561-DB30-08C0-0797-49CDCA511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24D61E9A-0CC4-B2EA-462D-6F6E198B2A36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1465FC25-B95E-98E3-8204-A8E71663AFE4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055AED5D-3F85-B8CE-E91B-C121F42DBE6C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0C55C295-4FD0-25CC-09C2-C05E0B9A26CC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99F19AE7-E2FF-840A-F22E-42F4D080292C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2990F00F-4BC6-81FA-59A6-94F7A6572B30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F79DE47C-58E8-F59A-081F-4384A46D9185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2C04DC05-D7A4-879E-7BCF-8F4D0B8C88AD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EA5ED735-D22B-4C1E-4D91-8015D0786D90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120970-D10E-C340-562F-2A7942518B55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112156-6D60-4B56-CBF5-6D8E99E82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653796"/>
            <a:ext cx="7315200" cy="43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851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444209ED-EB21-7F66-5C88-FA37DB092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D9A3386C-0011-E2FC-AF8C-58A38D829F22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CDFD22E3-675F-D11C-0B5D-C30E3B1C580A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783D50B7-D2E3-06C8-3722-51481CA00854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25E970B4-8EBE-BC1C-E77C-29C05A310C5F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C703B353-3CFA-39B9-CBE3-FBE7F4385A2E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79E5D6F5-5F53-7621-B4B5-A41EE4EBB67A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D8D04453-E09D-ED74-09C0-1A384CD4C150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AE8D921D-D5FF-D149-4094-F9821B934048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26E96AD0-0638-6C58-1316-EDFAA0F4DD63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3ED98FB-8A00-AFF8-840F-9483D1778B0F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E21CAEB-2EBE-BEDE-32CB-802E32D9A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640080"/>
            <a:ext cx="7181274" cy="436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970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53CC63F2-29F2-B2D5-E3BA-EFC709E81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4EEBA5D7-1565-B3C5-CAA3-F9E7DF12A0AF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E0941E04-90EC-5EF7-FF74-4BD3AB63050F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9A331330-E76D-24E9-86EE-953EF4CF7ABA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2539522F-6D7D-9083-1193-4629F575B0BD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11FDBECD-0637-570B-00FE-D2A043532B05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552446CA-6F1E-DD6C-FA9F-8C5794657485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D1693A21-064C-AFC2-0802-473008E5C9DA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1C41B718-D856-1C24-0A84-60064E3C3E6C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24E9934F-B17B-ADAC-C97B-113B426BC8B2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AB44C3-ABE9-3690-65F2-E6B3FB68EC2F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EF5266-5D45-F32C-4923-C01658A89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55" y="706583"/>
            <a:ext cx="7148944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0510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932E5FBA-5FA5-608F-2D96-C273127A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48C3451C-08D3-0B06-6B35-26C2289929CE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603DEF1D-CBFA-A90E-B4B4-8C008188A43A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D061A483-6CC7-7B23-264A-0E2B316D2CED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D996D0DF-49D4-B294-365D-8A29EA9D78BE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AEC659DE-911B-30F8-F9E3-8DD202C21B57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637839AE-1775-809B-7FA6-406CD0BA9F1A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311A326C-7DA3-961E-7F83-1CFD8FB57B48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D93D34DF-9F9B-E6E4-F3B5-643C14C186B6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F358846D-E8EF-9AC8-0E12-C4A2572D4F7E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C21BF6F-65FA-61C3-B0B1-5EA7B11CC259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760BD6-59F7-6E33-45B6-4EB6A2E38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67" y="674257"/>
            <a:ext cx="7227451" cy="432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770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FE642255-7403-6502-158D-BF1C3A5AD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23536EB5-F8FD-B092-E005-2DC6DC84FD8A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1DD5D3F6-6533-3AF1-E667-DA18612F91C0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336FE1E2-31BB-B0DD-83D5-73F78BAC2FEA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B0176408-A24A-3CCF-B6B5-909EA7EBF530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50C966E8-24D3-F111-6540-50C62C9FAECB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475CA8C8-EB23-FAC3-E8E0-C7A670BDF153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A4EA8960-2FDC-489C-723F-710A4319E4B2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FB19D846-C6D6-216B-38E0-1C0B31947C44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30812C5C-40DD-A049-3CF6-FE8B67AA9347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A9563D0-9797-0929-9BA2-57640E2C7CF1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8C9CA0-F85F-FE81-D1C2-45D7EE7BA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36" y="640081"/>
            <a:ext cx="7287491" cy="425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9145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9CF32733-C16D-0543-B1AE-AABE3311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D3167558-2CB6-310C-892C-5DB9B211EA29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64FE145A-5D4A-866C-A7F3-D33BC9349629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B940CDC8-1EBA-A3C8-2A3D-2853FCC5FD6D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95BF7068-6EAA-82C0-6D9F-6441B50F9D28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BD04F5DC-FDA4-A338-835B-6C8E049C7630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4564FFAB-67CA-1A0D-8531-A0121FC5C612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CB2C3920-CBB5-1DDF-ACFD-6C1E3515A8F1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4683D4CB-FD6B-DE81-BFD2-3010E359701B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640B48E5-2E9B-E634-4321-EA603A0CEEB4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5D95B76-E0C8-7E10-45DC-2680F053CBE9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915AB7-B427-9FCE-24D0-AD04AD29B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1" y="688109"/>
            <a:ext cx="7172034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917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24">
          <a:extLst>
            <a:ext uri="{FF2B5EF4-FFF2-40B4-BE49-F238E27FC236}">
              <a16:creationId xmlns:a16="http://schemas.microsoft.com/office/drawing/2014/main" id="{BA9966D6-5CB9-DEF7-8155-55E9A2C78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26;p17">
            <a:extLst>
              <a:ext uri="{FF2B5EF4-FFF2-40B4-BE49-F238E27FC236}">
                <a16:creationId xmlns:a16="http://schemas.microsoft.com/office/drawing/2014/main" id="{9B15E63D-A6E7-4A9C-0CC4-31D9CD4B2DED}"/>
              </a:ext>
            </a:extLst>
          </p:cNvPr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828;p17">
            <a:extLst>
              <a:ext uri="{FF2B5EF4-FFF2-40B4-BE49-F238E27FC236}">
                <a16:creationId xmlns:a16="http://schemas.microsoft.com/office/drawing/2014/main" id="{35444215-CEAC-8F5D-C12B-1744CE9BE354}"/>
              </a:ext>
            </a:extLst>
          </p:cNvPr>
          <p:cNvCxnSpPr/>
          <p:nvPr/>
        </p:nvCxnSpPr>
        <p:spPr>
          <a:xfrm>
            <a:off x="502920" y="6400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830;p17">
            <a:extLst>
              <a:ext uri="{FF2B5EF4-FFF2-40B4-BE49-F238E27FC236}">
                <a16:creationId xmlns:a16="http://schemas.microsoft.com/office/drawing/2014/main" id="{A47FA5B3-44FA-F521-E22C-8794AFA74D04}"/>
              </a:ext>
            </a:extLst>
          </p:cNvPr>
          <p:cNvCxnSpPr/>
          <p:nvPr/>
        </p:nvCxnSpPr>
        <p:spPr>
          <a:xfrm>
            <a:off x="502920" y="1828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832;p17">
            <a:extLst>
              <a:ext uri="{FF2B5EF4-FFF2-40B4-BE49-F238E27FC236}">
                <a16:creationId xmlns:a16="http://schemas.microsoft.com/office/drawing/2014/main" id="{4E2755A1-54B6-5397-052C-9B1ABDAEF82A}"/>
              </a:ext>
            </a:extLst>
          </p:cNvPr>
          <p:cNvCxnSpPr/>
          <p:nvPr/>
        </p:nvCxnSpPr>
        <p:spPr>
          <a:xfrm>
            <a:off x="502920" y="32004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834;p17">
            <a:extLst>
              <a:ext uri="{FF2B5EF4-FFF2-40B4-BE49-F238E27FC236}">
                <a16:creationId xmlns:a16="http://schemas.microsoft.com/office/drawing/2014/main" id="{BD4AB97D-1C82-87E7-C9A0-78805C675401}"/>
              </a:ext>
            </a:extLst>
          </p:cNvPr>
          <p:cNvCxnSpPr/>
          <p:nvPr/>
        </p:nvCxnSpPr>
        <p:spPr>
          <a:xfrm>
            <a:off x="502920" y="438912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827;p17">
            <a:extLst>
              <a:ext uri="{FF2B5EF4-FFF2-40B4-BE49-F238E27FC236}">
                <a16:creationId xmlns:a16="http://schemas.microsoft.com/office/drawing/2014/main" id="{71FB8B5B-95A0-16B4-0405-18B63E1CD73B}"/>
              </a:ext>
            </a:extLst>
          </p:cNvPr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836;p17">
            <a:extLst>
              <a:ext uri="{FF2B5EF4-FFF2-40B4-BE49-F238E27FC236}">
                <a16:creationId xmlns:a16="http://schemas.microsoft.com/office/drawing/2014/main" id="{4FB59345-689B-6A87-E1B8-81B50BD537F7}"/>
              </a:ext>
            </a:extLst>
          </p:cNvPr>
          <p:cNvCxnSpPr/>
          <p:nvPr/>
        </p:nvCxnSpPr>
        <p:spPr>
          <a:xfrm rot="10800000">
            <a:off x="8275320" y="109728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838;p17">
            <a:extLst>
              <a:ext uri="{FF2B5EF4-FFF2-40B4-BE49-F238E27FC236}">
                <a16:creationId xmlns:a16="http://schemas.microsoft.com/office/drawing/2014/main" id="{CA6254D3-C675-D127-E1AA-2D02655A58A9}"/>
              </a:ext>
            </a:extLst>
          </p:cNvPr>
          <p:cNvCxnSpPr/>
          <p:nvPr/>
        </p:nvCxnSpPr>
        <p:spPr>
          <a:xfrm rot="10800000">
            <a:off x="8275320" y="27432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840;p17">
            <a:extLst>
              <a:ext uri="{FF2B5EF4-FFF2-40B4-BE49-F238E27FC236}">
                <a16:creationId xmlns:a16="http://schemas.microsoft.com/office/drawing/2014/main" id="{26555E3F-250E-FD8A-CB43-24F59C2555A6}"/>
              </a:ext>
            </a:extLst>
          </p:cNvPr>
          <p:cNvCxnSpPr/>
          <p:nvPr/>
        </p:nvCxnSpPr>
        <p:spPr>
          <a:xfrm rot="10800000">
            <a:off x="8275320" y="41148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FE8A45F-52A8-DD92-C78C-07DA599D6B5B}"/>
              </a:ext>
            </a:extLst>
          </p:cNvPr>
          <p:cNvSpPr txBox="1"/>
          <p:nvPr/>
        </p:nvSpPr>
        <p:spPr>
          <a:xfrm>
            <a:off x="1029855" y="207818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Extraction</a:t>
            </a:r>
            <a:r>
              <a:rPr lang="en-US" sz="1800" b="1" dirty="0">
                <a:solidFill>
                  <a:srgbClr val="E0D9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Result: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D0F558-6F46-A0A4-7008-1C132BD38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66" y="678875"/>
            <a:ext cx="7250543" cy="420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5419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E"/>
        </a:solidFill>
        <a:effectLst/>
      </p:bgPr>
    </p:bg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40">
              <a:alpha val="60000"/>
            </a:srgbClr>
          </a:solidFill>
          <a:ln w="12700" cap="flat" cmpd="sng">
            <a:solidFill>
              <a:srgbClr val="1A1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99" name="Google Shape;899;p18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0" name="Google Shape;900;p18"/>
          <p:cNvCxnSpPr/>
          <p:nvPr/>
        </p:nvCxnSpPr>
        <p:spPr>
          <a:xfrm>
            <a:off x="502920" y="64008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1" name="Google Shape;901;p18"/>
          <p:cNvCxnSpPr/>
          <p:nvPr/>
        </p:nvCxnSpPr>
        <p:spPr>
          <a:xfrm>
            <a:off x="502920" y="137160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2" name="Google Shape;902;p18"/>
          <p:cNvCxnSpPr/>
          <p:nvPr/>
        </p:nvCxnSpPr>
        <p:spPr>
          <a:xfrm>
            <a:off x="502920" y="201168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3" name="Google Shape;903;p18"/>
          <p:cNvCxnSpPr/>
          <p:nvPr/>
        </p:nvCxnSpPr>
        <p:spPr>
          <a:xfrm>
            <a:off x="50292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4" name="Google Shape;904;p18"/>
          <p:cNvCxnSpPr/>
          <p:nvPr/>
        </p:nvCxnSpPr>
        <p:spPr>
          <a:xfrm>
            <a:off x="502920" y="356616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5" name="Google Shape;905;p18"/>
          <p:cNvCxnSpPr/>
          <p:nvPr/>
        </p:nvCxnSpPr>
        <p:spPr>
          <a:xfrm>
            <a:off x="502920" y="420624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6" name="Google Shape;906;p18"/>
          <p:cNvSpPr/>
          <p:nvPr/>
        </p:nvSpPr>
        <p:spPr>
          <a:xfrm>
            <a:off x="877824" y="5577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18"/>
          <p:cNvSpPr/>
          <p:nvPr/>
        </p:nvSpPr>
        <p:spPr>
          <a:xfrm>
            <a:off x="786384" y="12893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18"/>
          <p:cNvSpPr/>
          <p:nvPr/>
        </p:nvSpPr>
        <p:spPr>
          <a:xfrm>
            <a:off x="969264" y="19293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18"/>
          <p:cNvSpPr/>
          <p:nvPr/>
        </p:nvSpPr>
        <p:spPr>
          <a:xfrm>
            <a:off x="694944" y="27523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18"/>
          <p:cNvSpPr/>
          <p:nvPr/>
        </p:nvSpPr>
        <p:spPr>
          <a:xfrm>
            <a:off x="877824" y="34838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18"/>
          <p:cNvSpPr/>
          <p:nvPr/>
        </p:nvSpPr>
        <p:spPr>
          <a:xfrm>
            <a:off x="786384" y="412394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18"/>
          <p:cNvSpPr/>
          <p:nvPr/>
        </p:nvSpPr>
        <p:spPr>
          <a:xfrm>
            <a:off x="42062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13" name="Google Shape;913;p18"/>
          <p:cNvCxnSpPr/>
          <p:nvPr/>
        </p:nvCxnSpPr>
        <p:spPr>
          <a:xfrm>
            <a:off x="50292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4" name="Google Shape;914;p18"/>
          <p:cNvCxnSpPr/>
          <p:nvPr/>
        </p:nvCxnSpPr>
        <p:spPr>
          <a:xfrm>
            <a:off x="502920" y="475488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5" name="Google Shape;915;p18"/>
          <p:cNvCxnSpPr/>
          <p:nvPr/>
        </p:nvCxnSpPr>
        <p:spPr>
          <a:xfrm rot="10800000">
            <a:off x="320040" y="457200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6" name="Google Shape;916;p18"/>
          <p:cNvCxnSpPr/>
          <p:nvPr/>
        </p:nvCxnSpPr>
        <p:spPr>
          <a:xfrm>
            <a:off x="32004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7" name="Google Shape;917;p18"/>
          <p:cNvSpPr/>
          <p:nvPr/>
        </p:nvSpPr>
        <p:spPr>
          <a:xfrm>
            <a:off x="246888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18"/>
          <p:cNvSpPr/>
          <p:nvPr/>
        </p:nvSpPr>
        <p:spPr>
          <a:xfrm>
            <a:off x="8321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18"/>
          <p:cNvSpPr/>
          <p:nvPr/>
        </p:nvSpPr>
        <p:spPr>
          <a:xfrm>
            <a:off x="832104" y="49743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0" name="Google Shape;920;p18"/>
          <p:cNvCxnSpPr/>
          <p:nvPr/>
        </p:nvCxnSpPr>
        <p:spPr>
          <a:xfrm>
            <a:off x="914400" y="4754880"/>
            <a:ext cx="0" cy="393192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1" name="Google Shape;921;p18"/>
          <p:cNvCxnSpPr/>
          <p:nvPr/>
        </p:nvCxnSpPr>
        <p:spPr>
          <a:xfrm>
            <a:off x="8641080" y="0"/>
            <a:ext cx="0" cy="5143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2" name="Google Shape;922;p18"/>
          <p:cNvCxnSpPr/>
          <p:nvPr/>
        </p:nvCxnSpPr>
        <p:spPr>
          <a:xfrm rot="10800000">
            <a:off x="8275320" y="822960"/>
            <a:ext cx="36576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3" name="Google Shape;923;p18"/>
          <p:cNvCxnSpPr/>
          <p:nvPr/>
        </p:nvCxnSpPr>
        <p:spPr>
          <a:xfrm rot="10800000">
            <a:off x="8229600" y="2286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4" name="Google Shape;924;p18"/>
          <p:cNvCxnSpPr/>
          <p:nvPr/>
        </p:nvCxnSpPr>
        <p:spPr>
          <a:xfrm rot="10800000">
            <a:off x="8321040" y="3840480"/>
            <a:ext cx="32004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5" name="Google Shape;925;p18"/>
          <p:cNvSpPr/>
          <p:nvPr/>
        </p:nvSpPr>
        <p:spPr>
          <a:xfrm>
            <a:off x="8147304" y="74066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18"/>
          <p:cNvSpPr/>
          <p:nvPr/>
        </p:nvSpPr>
        <p:spPr>
          <a:xfrm>
            <a:off x="8101584" y="220370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18"/>
          <p:cNvSpPr/>
          <p:nvPr/>
        </p:nvSpPr>
        <p:spPr>
          <a:xfrm>
            <a:off x="8193024" y="37581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18"/>
          <p:cNvSpPr/>
          <p:nvPr/>
        </p:nvSpPr>
        <p:spPr>
          <a:xfrm>
            <a:off x="8558784" y="10972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9" name="Google Shape;929;p18"/>
          <p:cNvCxnSpPr/>
          <p:nvPr/>
        </p:nvCxnSpPr>
        <p:spPr>
          <a:xfrm>
            <a:off x="8641080" y="4572000"/>
            <a:ext cx="0" cy="57150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0" name="Google Shape;930;p18"/>
          <p:cNvCxnSpPr/>
          <p:nvPr/>
        </p:nvCxnSpPr>
        <p:spPr>
          <a:xfrm>
            <a:off x="8229600" y="457200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1" name="Google Shape;931;p18"/>
          <p:cNvCxnSpPr/>
          <p:nvPr/>
        </p:nvCxnSpPr>
        <p:spPr>
          <a:xfrm>
            <a:off x="8229600" y="4572000"/>
            <a:ext cx="0" cy="36576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2" name="Google Shape;932;p18"/>
          <p:cNvSpPr/>
          <p:nvPr/>
        </p:nvSpPr>
        <p:spPr>
          <a:xfrm>
            <a:off x="8147304" y="4672584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18"/>
          <p:cNvSpPr/>
          <p:nvPr/>
        </p:nvSpPr>
        <p:spPr>
          <a:xfrm>
            <a:off x="8147304" y="48920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34" name="Google Shape;934;p18"/>
          <p:cNvCxnSpPr/>
          <p:nvPr/>
        </p:nvCxnSpPr>
        <p:spPr>
          <a:xfrm>
            <a:off x="8229600" y="4892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4C3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5" name="Google Shape;935;p18"/>
          <p:cNvSpPr/>
          <p:nvPr/>
        </p:nvSpPr>
        <p:spPr>
          <a:xfrm>
            <a:off x="8558784" y="48188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0A2E"/>
          </a:solidFill>
          <a:ln w="19050" cap="flat" cmpd="sng">
            <a:solidFill>
              <a:srgbClr val="5B4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18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lang="en-US" sz="5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8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D9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0D9FF"/>
                </a:solidFill>
                <a:latin typeface="Calibri"/>
                <a:ea typeface="Calibri"/>
                <a:cs typeface="Calibri"/>
                <a:sym typeface="Calibri"/>
              </a:rPr>
              <a:t>FitPulse Analytics  •  ML Pipeline  •  Satindra Kumar B 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1778</Words>
  <Application>Microsoft Office PowerPoint</Application>
  <PresentationFormat>On-screen Show (16:9)</PresentationFormat>
  <Paragraphs>218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SATINDRA KUMAR B S</cp:lastModifiedBy>
  <cp:revision>2</cp:revision>
  <dcterms:created xsi:type="dcterms:W3CDTF">2026-03-26T03:48:15Z</dcterms:created>
  <dcterms:modified xsi:type="dcterms:W3CDTF">2026-03-26T04:20:35Z</dcterms:modified>
</cp:coreProperties>
</file>