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6" r:id="rId9"/>
    <p:sldId id="275" r:id="rId10"/>
    <p:sldId id="274" r:id="rId11"/>
    <p:sldId id="277" r:id="rId12"/>
    <p:sldId id="263" r:id="rId13"/>
    <p:sldId id="264" r:id="rId14"/>
    <p:sldId id="265" r:id="rId15"/>
    <p:sldId id="266" r:id="rId16"/>
    <p:sldId id="267" r:id="rId17"/>
    <p:sldId id="280" r:id="rId18"/>
    <p:sldId id="281" r:id="rId19"/>
    <p:sldId id="282" r:id="rId20"/>
    <p:sldId id="268" r:id="rId21"/>
    <p:sldId id="299" r:id="rId22"/>
    <p:sldId id="290" r:id="rId23"/>
    <p:sldId id="291" r:id="rId24"/>
    <p:sldId id="294" r:id="rId25"/>
    <p:sldId id="296" r:id="rId26"/>
    <p:sldId id="301" r:id="rId27"/>
    <p:sldId id="303" r:id="rId28"/>
    <p:sldId id="302" r:id="rId29"/>
    <p:sldId id="305" r:id="rId30"/>
    <p:sldId id="269" r:id="rId31"/>
    <p:sldId id="270" r:id="rId32"/>
    <p:sldId id="271" r:id="rId3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10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85905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5C5F80-AF59-1EBF-F55D-18A312466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136C4E-9D7B-C24B-7EEE-C4387E36E5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F61F8C-9703-0495-3F3D-1DB1AF3FB9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25F197-1971-7242-BD1B-E25E58B890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9655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6AF7C-26CA-EC0A-5EFA-B0597C09C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6BE5A1-305B-615F-2A07-6B7C62A9CB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23FB15-6BE9-18D2-6966-A5A7787668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F2B218-86C4-5824-3F57-228DF2354D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3430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C4A403-491B-4425-396B-0A404F524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BF07B9-159A-515D-E862-07861224D8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F3ED3D-F19C-E481-F6E7-A06832638A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546AA1-9829-F9E4-0CE9-3FF3736EAA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3313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84722-2D2B-6E10-B8A8-C86982DF0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4713F6-C4B1-B2D8-39F9-FDC74B6CB1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034CFF-39AC-D0BC-D450-64F36B39C7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5A73CD-FB7E-BF49-37E0-7BFEA5E6F2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9256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D51D5-46A4-BB05-A349-BC6E4AF64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C9C3EA-D605-607B-3B4D-6A843D7D9A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3C2D6F-5D3E-7E59-DDC0-A725ADEB0D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DED7DE-14A9-7424-44B3-4A83661586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81141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F30EC-60F8-C933-6641-4B3F02827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59F83C-CBC7-21CE-FD0E-A1047B038F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09D67E-AA17-3180-4EA5-66C8538C1E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225A3D-057A-BA31-E3CF-B42A5D692B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17862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58E57A-2187-F198-30D7-EE79CE664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2B64F8-A857-4A29-4723-85325BC8DC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BA47FF-565E-8454-0C31-81002A52FD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6E8326-733C-C56C-E0AD-398CF04EAD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08523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38316E-EE70-5593-0961-672AE820A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407DAD-FB65-0E0D-3E23-A1976C733B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D3D2E1-CCB3-F8F8-5E14-10909FE1F0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B4FF34-5CDE-EB91-5792-9B58975268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55573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F3228-7637-DE93-984D-860DF3F53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918142-E8AC-AD32-7465-C928843425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C97536-3CD9-B2B6-F635-B16678B4EE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8E04D3-F236-A4B9-EC18-64F8F647CE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50425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F1F3A-90A4-9432-BF3D-A8D316AB0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D1AC75-41EE-C8FD-DB08-BFB9A89AAC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0A0BA5-7076-EAAA-EC2D-3C85589B6B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E977C0-F443-62C0-E98D-74BBB09E66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72015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35239-0BB8-F351-C859-64B6D4B83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9B84A0-8456-AADD-9673-3E15625138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6EE1D9-BCC7-6FD0-61CD-02AD1D5078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2AC60C-4FBC-758D-389D-D4ECF21663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59968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1DA1B-947F-67C4-DF54-C1605E4C3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5BE028-D22D-D7DE-098A-EAC9837634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347EB7-7C91-426F-7584-7A70D9AC63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BEB1F1-3E0B-906D-CDD0-0BC00D479B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43688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66A90-DDFC-1457-EB4E-361D6E4A8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279DDC-6787-B2B5-D664-F262002ABD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9D0EE7-DC4E-669D-2C03-0726FF583F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04AA3E-37E6-3E62-7B2D-AAB940A3ED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91544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2AB6A-61C0-0FA0-2D72-33ECEDDE5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68808F-E860-E048-3CE1-9A0B22A02D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909C66-C765-B2B0-FB81-07ABF29A7D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6B5B90-0634-3EAF-3528-158340996A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12496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1B4001-3D5D-4529-ED68-315D6BD8D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36179B-2EC4-D79F-C723-7E676B2F08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30341C-06CB-3B46-07E1-7E846D793B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15FF91-0469-A38C-B286-E1142FFE3F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59661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01F2D-9AA4-E0F4-9D34-8E1C62E44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8F6958-84E9-C580-EC99-5C5A730C11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E1EC52-0479-795C-6608-FBF6C56AD8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3897A4-5B64-7725-D192-E404D3EE14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70583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41148" cy="41148"/>
          </a:xfrm>
          <a:prstGeom prst="ellipse">
            <a:avLst/>
          </a:prstGeom>
          <a:solidFill>
            <a:srgbClr val="63D7C4">
              <a:alpha val="12000"/>
            </a:srgbClr>
          </a:solidFill>
          <a:ln w="12700">
            <a:solidFill>
              <a:srgbClr val="63D7C4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0" y="365760"/>
            <a:ext cx="41148" cy="41148"/>
          </a:xfrm>
          <a:prstGeom prst="ellipse">
            <a:avLst/>
          </a:prstGeom>
          <a:solidFill>
            <a:srgbClr val="63D7C4">
              <a:alpha val="12000"/>
            </a:srgbClr>
          </a:solidFill>
          <a:ln w="12700">
            <a:solidFill>
              <a:srgbClr val="63D7C4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468880" y="365760"/>
            <a:ext cx="41148" cy="41148"/>
          </a:xfrm>
          <a:prstGeom prst="ellipse">
            <a:avLst/>
          </a:prstGeom>
          <a:solidFill>
            <a:srgbClr val="63D7C4">
              <a:alpha val="12000"/>
            </a:srgbClr>
          </a:solidFill>
          <a:ln w="12700">
            <a:solidFill>
              <a:srgbClr val="63D7C4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0" y="365760"/>
            <a:ext cx="41148" cy="41148"/>
          </a:xfrm>
          <a:prstGeom prst="ellipse">
            <a:avLst/>
          </a:prstGeom>
          <a:solidFill>
            <a:srgbClr val="63D7C4">
              <a:alpha val="12000"/>
            </a:srgbClr>
          </a:solidFill>
          <a:ln w="12700">
            <a:solidFill>
              <a:srgbClr val="63D7C4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480560" y="365760"/>
            <a:ext cx="41148" cy="41148"/>
          </a:xfrm>
          <a:prstGeom prst="ellipse">
            <a:avLst/>
          </a:prstGeom>
          <a:solidFill>
            <a:srgbClr val="63D7C4">
              <a:alpha val="12000"/>
            </a:srgbClr>
          </a:solidFill>
          <a:ln w="12700">
            <a:solidFill>
              <a:srgbClr val="63D7C4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0" y="365760"/>
            <a:ext cx="41148" cy="41148"/>
          </a:xfrm>
          <a:prstGeom prst="ellipse">
            <a:avLst/>
          </a:prstGeom>
          <a:solidFill>
            <a:srgbClr val="63D7C4">
              <a:alpha val="12000"/>
            </a:srgbClr>
          </a:solidFill>
          <a:ln w="12700">
            <a:solidFill>
              <a:srgbClr val="63D7C4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92240" y="365760"/>
            <a:ext cx="41148" cy="41148"/>
          </a:xfrm>
          <a:prstGeom prst="ellipse">
            <a:avLst/>
          </a:prstGeom>
          <a:solidFill>
            <a:srgbClr val="63D7C4">
              <a:alpha val="12000"/>
            </a:srgbClr>
          </a:solidFill>
          <a:ln w="12700">
            <a:solidFill>
              <a:srgbClr val="63D7C4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0" y="365760"/>
            <a:ext cx="41148" cy="41148"/>
          </a:xfrm>
          <a:prstGeom prst="ellipse">
            <a:avLst/>
          </a:prstGeom>
          <a:solidFill>
            <a:srgbClr val="63D7C4">
              <a:alpha val="12000"/>
            </a:srgbClr>
          </a:solidFill>
          <a:ln w="12700">
            <a:solidFill>
              <a:srgbClr val="63D7C4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03920" y="365760"/>
            <a:ext cx="41148" cy="41148"/>
          </a:xfrm>
          <a:prstGeom prst="ellipse">
            <a:avLst/>
          </a:prstGeom>
          <a:solidFill>
            <a:srgbClr val="63D7C4">
              <a:alpha val="12000"/>
            </a:srgbClr>
          </a:solidFill>
          <a:ln w="12700">
            <a:solidFill>
              <a:srgbClr val="63D7C4">
                <a:alpha val="1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371600"/>
            <a:ext cx="41148" cy="41148"/>
          </a:xfrm>
          <a:prstGeom prst="ellipse">
            <a:avLst/>
          </a:prstGeom>
          <a:solidFill>
            <a:srgbClr val="63D7C4">
              <a:alpha val="12000"/>
            </a:srgbClr>
          </a:solidFill>
          <a:ln w="12700">
            <a:solidFill>
              <a:srgbClr val="63D7C4">
                <a:alpha val="1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63040" y="1371600"/>
            <a:ext cx="41148" cy="41148"/>
          </a:xfrm>
          <a:prstGeom prst="ellipse">
            <a:avLst/>
          </a:prstGeom>
          <a:solidFill>
            <a:srgbClr val="63D7C4">
              <a:alpha val="12000"/>
            </a:srgbClr>
          </a:solidFill>
          <a:ln w="12700">
            <a:solidFill>
              <a:srgbClr val="63D7C4">
                <a:alpha val="1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68880" y="1371600"/>
            <a:ext cx="41148" cy="41148"/>
          </a:xfrm>
          <a:prstGeom prst="ellipse">
            <a:avLst/>
          </a:prstGeom>
          <a:solidFill>
            <a:srgbClr val="63D7C4">
              <a:alpha val="12000"/>
            </a:srgbClr>
          </a:solidFill>
          <a:ln w="12700">
            <a:solidFill>
              <a:srgbClr val="63D7C4">
                <a:alpha val="1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74720" y="1371600"/>
            <a:ext cx="41148" cy="41148"/>
          </a:xfrm>
          <a:prstGeom prst="ellipse">
            <a:avLst/>
          </a:prstGeom>
          <a:solidFill>
            <a:srgbClr val="63D7C4">
              <a:alpha val="12000"/>
            </a:srgbClr>
          </a:solidFill>
          <a:ln w="12700">
            <a:solidFill>
              <a:srgbClr val="63D7C4">
                <a:alpha val="1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80560" y="1371600"/>
            <a:ext cx="41148" cy="41148"/>
          </a:xfrm>
          <a:prstGeom prst="ellipse">
            <a:avLst/>
          </a:prstGeom>
          <a:solidFill>
            <a:srgbClr val="63D7C4">
              <a:alpha val="12000"/>
            </a:srgbClr>
          </a:solidFill>
          <a:ln w="12700">
            <a:solidFill>
              <a:srgbClr val="63D7C4">
                <a:alpha val="1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1371600"/>
            <a:ext cx="41148" cy="41148"/>
          </a:xfrm>
          <a:prstGeom prst="ellipse">
            <a:avLst/>
          </a:prstGeom>
          <a:solidFill>
            <a:srgbClr val="63D7C4">
              <a:alpha val="12000"/>
            </a:srgbClr>
          </a:solidFill>
          <a:ln w="12700">
            <a:solidFill>
              <a:srgbClr val="63D7C4">
                <a:alpha val="1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92240" y="1371600"/>
            <a:ext cx="41148" cy="41148"/>
          </a:xfrm>
          <a:prstGeom prst="ellipse">
            <a:avLst/>
          </a:prstGeom>
          <a:solidFill>
            <a:srgbClr val="63D7C4">
              <a:alpha val="12000"/>
            </a:srgbClr>
          </a:solidFill>
          <a:ln w="12700">
            <a:solidFill>
              <a:srgbClr val="63D7C4">
                <a:alpha val="1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98080" y="1371600"/>
            <a:ext cx="41148" cy="41148"/>
          </a:xfrm>
          <a:prstGeom prst="ellipse">
            <a:avLst/>
          </a:prstGeom>
          <a:solidFill>
            <a:srgbClr val="63D7C4">
              <a:alpha val="12000"/>
            </a:srgbClr>
          </a:solidFill>
          <a:ln w="12700">
            <a:solidFill>
              <a:srgbClr val="63D7C4">
                <a:alpha val="1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03920" y="1371600"/>
            <a:ext cx="41148" cy="41148"/>
          </a:xfrm>
          <a:prstGeom prst="ellipse">
            <a:avLst/>
          </a:prstGeom>
          <a:solidFill>
            <a:srgbClr val="63D7C4">
              <a:alpha val="12000"/>
            </a:srgbClr>
          </a:solidFill>
          <a:ln w="12700">
            <a:solidFill>
              <a:srgbClr val="63D7C4">
                <a:alpha val="1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2377440"/>
            <a:ext cx="41148" cy="41148"/>
          </a:xfrm>
          <a:prstGeom prst="ellipse">
            <a:avLst/>
          </a:prstGeom>
          <a:solidFill>
            <a:srgbClr val="63D7C4">
              <a:alpha val="12000"/>
            </a:srgbClr>
          </a:solidFill>
          <a:ln w="12700">
            <a:solidFill>
              <a:srgbClr val="63D7C4">
                <a:alpha val="1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463040" y="2377440"/>
            <a:ext cx="41148" cy="41148"/>
          </a:xfrm>
          <a:prstGeom prst="ellipse">
            <a:avLst/>
          </a:prstGeom>
          <a:solidFill>
            <a:srgbClr val="63D7C4">
              <a:alpha val="12000"/>
            </a:srgbClr>
          </a:solidFill>
          <a:ln w="12700">
            <a:solidFill>
              <a:srgbClr val="63D7C4">
                <a:alpha val="12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468880" y="2377440"/>
            <a:ext cx="41148" cy="41148"/>
          </a:xfrm>
          <a:prstGeom prst="ellipse">
            <a:avLst/>
          </a:prstGeom>
          <a:solidFill>
            <a:srgbClr val="63D7C4">
              <a:alpha val="12000"/>
            </a:srgbClr>
          </a:solidFill>
          <a:ln w="12700">
            <a:solidFill>
              <a:srgbClr val="63D7C4">
                <a:alpha val="12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74720" y="2377440"/>
            <a:ext cx="41148" cy="41148"/>
          </a:xfrm>
          <a:prstGeom prst="ellipse">
            <a:avLst/>
          </a:prstGeom>
          <a:solidFill>
            <a:srgbClr val="63D7C4">
              <a:alpha val="12000"/>
            </a:srgbClr>
          </a:solidFill>
          <a:ln w="12700">
            <a:solidFill>
              <a:srgbClr val="63D7C4">
                <a:alpha val="12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80560" y="2377440"/>
            <a:ext cx="41148" cy="41148"/>
          </a:xfrm>
          <a:prstGeom prst="ellipse">
            <a:avLst/>
          </a:prstGeom>
          <a:solidFill>
            <a:srgbClr val="63D7C4">
              <a:alpha val="12000"/>
            </a:srgbClr>
          </a:solidFill>
          <a:ln w="12700">
            <a:solidFill>
              <a:srgbClr val="63D7C4">
                <a:alpha val="12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0" y="2377440"/>
            <a:ext cx="41148" cy="41148"/>
          </a:xfrm>
          <a:prstGeom prst="ellipse">
            <a:avLst/>
          </a:prstGeom>
          <a:solidFill>
            <a:srgbClr val="63D7C4">
              <a:alpha val="12000"/>
            </a:srgbClr>
          </a:solidFill>
          <a:ln w="12700">
            <a:solidFill>
              <a:srgbClr val="63D7C4">
                <a:alpha val="12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92240" y="2377440"/>
            <a:ext cx="41148" cy="41148"/>
          </a:xfrm>
          <a:prstGeom prst="ellipse">
            <a:avLst/>
          </a:prstGeom>
          <a:solidFill>
            <a:srgbClr val="63D7C4">
              <a:alpha val="12000"/>
            </a:srgbClr>
          </a:solidFill>
          <a:ln w="12700">
            <a:solidFill>
              <a:srgbClr val="63D7C4">
                <a:alpha val="12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498080" y="2377440"/>
            <a:ext cx="41148" cy="41148"/>
          </a:xfrm>
          <a:prstGeom prst="ellipse">
            <a:avLst/>
          </a:prstGeom>
          <a:solidFill>
            <a:srgbClr val="63D7C4">
              <a:alpha val="12000"/>
            </a:srgbClr>
          </a:solidFill>
          <a:ln w="12700">
            <a:solidFill>
              <a:srgbClr val="63D7C4">
                <a:alpha val="12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503920" y="2377440"/>
            <a:ext cx="41148" cy="41148"/>
          </a:xfrm>
          <a:prstGeom prst="ellipse">
            <a:avLst/>
          </a:prstGeom>
          <a:solidFill>
            <a:srgbClr val="63D7C4">
              <a:alpha val="12000"/>
            </a:srgbClr>
          </a:solidFill>
          <a:ln w="12700">
            <a:solidFill>
              <a:srgbClr val="63D7C4">
                <a:alpha val="12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3383280"/>
            <a:ext cx="41148" cy="41148"/>
          </a:xfrm>
          <a:prstGeom prst="ellipse">
            <a:avLst/>
          </a:prstGeom>
          <a:solidFill>
            <a:srgbClr val="63D7C4">
              <a:alpha val="12000"/>
            </a:srgbClr>
          </a:solidFill>
          <a:ln w="12700">
            <a:solidFill>
              <a:srgbClr val="63D7C4">
                <a:alpha val="12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463040" y="3383280"/>
            <a:ext cx="41148" cy="41148"/>
          </a:xfrm>
          <a:prstGeom prst="ellipse">
            <a:avLst/>
          </a:prstGeom>
          <a:solidFill>
            <a:srgbClr val="63D7C4">
              <a:alpha val="12000"/>
            </a:srgbClr>
          </a:solidFill>
          <a:ln w="12700">
            <a:solidFill>
              <a:srgbClr val="63D7C4">
                <a:alpha val="12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468880" y="3383280"/>
            <a:ext cx="41148" cy="41148"/>
          </a:xfrm>
          <a:prstGeom prst="ellipse">
            <a:avLst/>
          </a:prstGeom>
          <a:solidFill>
            <a:srgbClr val="63D7C4">
              <a:alpha val="12000"/>
            </a:srgbClr>
          </a:solidFill>
          <a:ln w="12700">
            <a:solidFill>
              <a:srgbClr val="63D7C4">
                <a:alpha val="12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474720" y="3383280"/>
            <a:ext cx="41148" cy="41148"/>
          </a:xfrm>
          <a:prstGeom prst="ellipse">
            <a:avLst/>
          </a:prstGeom>
          <a:solidFill>
            <a:srgbClr val="63D7C4">
              <a:alpha val="12000"/>
            </a:srgbClr>
          </a:solidFill>
          <a:ln w="12700">
            <a:solidFill>
              <a:srgbClr val="63D7C4">
                <a:alpha val="12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480560" y="3383280"/>
            <a:ext cx="41148" cy="41148"/>
          </a:xfrm>
          <a:prstGeom prst="ellipse">
            <a:avLst/>
          </a:prstGeom>
          <a:solidFill>
            <a:srgbClr val="63D7C4">
              <a:alpha val="12000"/>
            </a:srgbClr>
          </a:solidFill>
          <a:ln w="12700">
            <a:solidFill>
              <a:srgbClr val="63D7C4">
                <a:alpha val="12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86400" y="3383280"/>
            <a:ext cx="41148" cy="41148"/>
          </a:xfrm>
          <a:prstGeom prst="ellipse">
            <a:avLst/>
          </a:prstGeom>
          <a:solidFill>
            <a:srgbClr val="63D7C4">
              <a:alpha val="12000"/>
            </a:srgbClr>
          </a:solidFill>
          <a:ln w="12700">
            <a:solidFill>
              <a:srgbClr val="63D7C4">
                <a:alpha val="12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92240" y="3383280"/>
            <a:ext cx="41148" cy="41148"/>
          </a:xfrm>
          <a:prstGeom prst="ellipse">
            <a:avLst/>
          </a:prstGeom>
          <a:solidFill>
            <a:srgbClr val="63D7C4">
              <a:alpha val="12000"/>
            </a:srgbClr>
          </a:solidFill>
          <a:ln w="12700">
            <a:solidFill>
              <a:srgbClr val="63D7C4">
                <a:alpha val="12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498080" y="3383280"/>
            <a:ext cx="41148" cy="41148"/>
          </a:xfrm>
          <a:prstGeom prst="ellipse">
            <a:avLst/>
          </a:prstGeom>
          <a:solidFill>
            <a:srgbClr val="63D7C4">
              <a:alpha val="12000"/>
            </a:srgbClr>
          </a:solidFill>
          <a:ln w="12700">
            <a:solidFill>
              <a:srgbClr val="63D7C4">
                <a:alpha val="12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503920" y="3383280"/>
            <a:ext cx="41148" cy="41148"/>
          </a:xfrm>
          <a:prstGeom prst="ellipse">
            <a:avLst/>
          </a:prstGeom>
          <a:solidFill>
            <a:srgbClr val="63D7C4">
              <a:alpha val="12000"/>
            </a:srgbClr>
          </a:solidFill>
          <a:ln w="12700">
            <a:solidFill>
              <a:srgbClr val="63D7C4">
                <a:alpha val="12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57200" y="4389120"/>
            <a:ext cx="41148" cy="41148"/>
          </a:xfrm>
          <a:prstGeom prst="ellipse">
            <a:avLst/>
          </a:prstGeom>
          <a:solidFill>
            <a:srgbClr val="63D7C4">
              <a:alpha val="12000"/>
            </a:srgbClr>
          </a:solidFill>
          <a:ln w="12700">
            <a:solidFill>
              <a:srgbClr val="63D7C4">
                <a:alpha val="12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463040" y="4389120"/>
            <a:ext cx="41148" cy="41148"/>
          </a:xfrm>
          <a:prstGeom prst="ellipse">
            <a:avLst/>
          </a:prstGeom>
          <a:solidFill>
            <a:srgbClr val="63D7C4">
              <a:alpha val="12000"/>
            </a:srgbClr>
          </a:solidFill>
          <a:ln w="12700">
            <a:solidFill>
              <a:srgbClr val="63D7C4">
                <a:alpha val="12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468880" y="4389120"/>
            <a:ext cx="41148" cy="41148"/>
          </a:xfrm>
          <a:prstGeom prst="ellipse">
            <a:avLst/>
          </a:prstGeom>
          <a:solidFill>
            <a:srgbClr val="63D7C4">
              <a:alpha val="12000"/>
            </a:srgbClr>
          </a:solidFill>
          <a:ln w="12700">
            <a:solidFill>
              <a:srgbClr val="63D7C4">
                <a:alpha val="12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474720" y="4389120"/>
            <a:ext cx="41148" cy="41148"/>
          </a:xfrm>
          <a:prstGeom prst="ellipse">
            <a:avLst/>
          </a:prstGeom>
          <a:solidFill>
            <a:srgbClr val="63D7C4">
              <a:alpha val="12000"/>
            </a:srgbClr>
          </a:solidFill>
          <a:ln w="12700">
            <a:solidFill>
              <a:srgbClr val="63D7C4">
                <a:alpha val="12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480560" y="4389120"/>
            <a:ext cx="41148" cy="41148"/>
          </a:xfrm>
          <a:prstGeom prst="ellipse">
            <a:avLst/>
          </a:prstGeom>
          <a:solidFill>
            <a:srgbClr val="63D7C4">
              <a:alpha val="12000"/>
            </a:srgbClr>
          </a:solidFill>
          <a:ln w="12700">
            <a:solidFill>
              <a:srgbClr val="63D7C4">
                <a:alpha val="12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486400" y="4389120"/>
            <a:ext cx="41148" cy="41148"/>
          </a:xfrm>
          <a:prstGeom prst="ellipse">
            <a:avLst/>
          </a:prstGeom>
          <a:solidFill>
            <a:srgbClr val="63D7C4">
              <a:alpha val="12000"/>
            </a:srgbClr>
          </a:solidFill>
          <a:ln w="12700">
            <a:solidFill>
              <a:srgbClr val="63D7C4">
                <a:alpha val="12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492240" y="4389120"/>
            <a:ext cx="41148" cy="41148"/>
          </a:xfrm>
          <a:prstGeom prst="ellipse">
            <a:avLst/>
          </a:prstGeom>
          <a:solidFill>
            <a:srgbClr val="63D7C4">
              <a:alpha val="12000"/>
            </a:srgbClr>
          </a:solidFill>
          <a:ln w="12700">
            <a:solidFill>
              <a:srgbClr val="63D7C4">
                <a:alpha val="12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498080" y="4389120"/>
            <a:ext cx="41148" cy="41148"/>
          </a:xfrm>
          <a:prstGeom prst="ellipse">
            <a:avLst/>
          </a:prstGeom>
          <a:solidFill>
            <a:srgbClr val="63D7C4">
              <a:alpha val="12000"/>
            </a:srgbClr>
          </a:solidFill>
          <a:ln w="12700">
            <a:solidFill>
              <a:srgbClr val="63D7C4">
                <a:alpha val="12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503920" y="4389120"/>
            <a:ext cx="41148" cy="41148"/>
          </a:xfrm>
          <a:prstGeom prst="ellipse">
            <a:avLst/>
          </a:prstGeom>
          <a:solidFill>
            <a:srgbClr val="63D7C4">
              <a:alpha val="12000"/>
            </a:srgbClr>
          </a:solidFill>
          <a:ln w="12700">
            <a:solidFill>
              <a:srgbClr val="63D7C4">
                <a:alpha val="12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371600" y="731520"/>
            <a:ext cx="6400800" cy="3657600"/>
          </a:xfrm>
          <a:prstGeom prst="ellipse">
            <a:avLst/>
          </a:prstGeom>
          <a:solidFill>
            <a:srgbClr val="63D7C4">
              <a:alpha val="4000"/>
            </a:srgbClr>
          </a:solidFill>
          <a:ln w="12700">
            <a:solidFill>
              <a:srgbClr val="63D7C4">
                <a:alpha val="4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108960" y="731520"/>
            <a:ext cx="2926080" cy="274320"/>
          </a:xfrm>
          <a:prstGeom prst="rect">
            <a:avLst/>
          </a:prstGeom>
          <a:solidFill>
            <a:srgbClr val="63D7C4">
              <a:alpha val="20000"/>
            </a:srgbClr>
          </a:solidFill>
          <a:ln w="12700">
            <a:solidFill>
              <a:srgbClr val="63D7C4">
                <a:alpha val="45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108960" y="7315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63D7C4"/>
                </a:solidFill>
              </a:rPr>
              <a:t>FITNESS ML ANALYTICS PIPELINE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914400" y="11430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FitPulse</a:t>
            </a:r>
            <a:endParaRPr lang="en-US" sz="7200" dirty="0"/>
          </a:p>
        </p:txBody>
      </p:sp>
      <p:sp>
        <p:nvSpPr>
          <p:cNvPr id="51" name="Text 49"/>
          <p:cNvSpPr/>
          <p:nvPr/>
        </p:nvSpPr>
        <p:spPr>
          <a:xfrm>
            <a:off x="914400" y="20116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i="1" dirty="0">
                <a:solidFill>
                  <a:srgbClr val="63D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5200" dirty="0"/>
          </a:p>
        </p:txBody>
      </p:sp>
      <p:sp>
        <p:nvSpPr>
          <p:cNvPr id="52" name="Text 50"/>
          <p:cNvSpPr/>
          <p:nvPr/>
        </p:nvSpPr>
        <p:spPr>
          <a:xfrm>
            <a:off x="1371600" y="2999232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Pipeline  —  Preprocessing · Pattern Extraction · Anomaly Detection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3200400" y="3493008"/>
            <a:ext cx="2743200" cy="22860"/>
          </a:xfrm>
          <a:prstGeom prst="rect">
            <a:avLst/>
          </a:prstGeom>
          <a:solidFill>
            <a:srgbClr val="63D7C4">
              <a:alpha val="50000"/>
            </a:srgbClr>
          </a:solidFill>
          <a:ln w="12700">
            <a:solidFill>
              <a:srgbClr val="63D7C4">
                <a:alpha val="50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371600" y="374904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97316"/>
                </a:solidFill>
              </a:rPr>
              <a:t>PRESENTED BY: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371600" y="400507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2EAF4"/>
                </a:solidFill>
              </a:rPr>
              <a:t>SATINDRA KUMAR B S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594360" y="4663440"/>
            <a:ext cx="1234440" cy="237744"/>
          </a:xfrm>
          <a:prstGeom prst="rect">
            <a:avLst/>
          </a:prstGeom>
          <a:solidFill>
            <a:srgbClr val="0D1526"/>
          </a:solidFill>
          <a:ln w="12700">
            <a:solidFill>
              <a:srgbClr val="63D7C4">
                <a:alpha val="4000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94360" y="466344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kern="0" spc="100" dirty="0">
                <a:solidFill>
                  <a:srgbClr val="63D7C4"/>
                </a:solidFill>
              </a:rPr>
              <a:t>STREAMLIT</a:t>
            </a:r>
            <a:endParaRPr lang="en-US" sz="650" dirty="0"/>
          </a:p>
        </p:txBody>
      </p:sp>
      <p:sp>
        <p:nvSpPr>
          <p:cNvPr id="58" name="Shape 56"/>
          <p:cNvSpPr/>
          <p:nvPr/>
        </p:nvSpPr>
        <p:spPr>
          <a:xfrm>
            <a:off x="1920240" y="4663440"/>
            <a:ext cx="1234440" cy="237744"/>
          </a:xfrm>
          <a:prstGeom prst="rect">
            <a:avLst/>
          </a:prstGeom>
          <a:solidFill>
            <a:srgbClr val="0D1526"/>
          </a:solidFill>
          <a:ln w="12700">
            <a:solidFill>
              <a:srgbClr val="63D7C4">
                <a:alpha val="4000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920240" y="466344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kern="0" spc="100" dirty="0">
                <a:solidFill>
                  <a:srgbClr val="63D7C4"/>
                </a:solidFill>
              </a:rPr>
              <a:t>PYTHON</a:t>
            </a:r>
            <a:endParaRPr lang="en-US" sz="650" dirty="0"/>
          </a:p>
        </p:txBody>
      </p:sp>
      <p:sp>
        <p:nvSpPr>
          <p:cNvPr id="60" name="Shape 58"/>
          <p:cNvSpPr/>
          <p:nvPr/>
        </p:nvSpPr>
        <p:spPr>
          <a:xfrm>
            <a:off x="3246120" y="4663440"/>
            <a:ext cx="1234440" cy="237744"/>
          </a:xfrm>
          <a:prstGeom prst="rect">
            <a:avLst/>
          </a:prstGeom>
          <a:solidFill>
            <a:srgbClr val="0D1526"/>
          </a:solidFill>
          <a:ln w="12700">
            <a:solidFill>
              <a:srgbClr val="63D7C4">
                <a:alpha val="4000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246120" y="466344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kern="0" spc="100" dirty="0">
                <a:solidFill>
                  <a:srgbClr val="63D7C4"/>
                </a:solidFill>
              </a:rPr>
              <a:t>PANDAS</a:t>
            </a:r>
            <a:endParaRPr lang="en-US" sz="650" dirty="0"/>
          </a:p>
        </p:txBody>
      </p:sp>
      <p:sp>
        <p:nvSpPr>
          <p:cNvPr id="62" name="Shape 60"/>
          <p:cNvSpPr/>
          <p:nvPr/>
        </p:nvSpPr>
        <p:spPr>
          <a:xfrm>
            <a:off x="4572000" y="4663440"/>
            <a:ext cx="1234440" cy="237744"/>
          </a:xfrm>
          <a:prstGeom prst="rect">
            <a:avLst/>
          </a:prstGeom>
          <a:solidFill>
            <a:srgbClr val="0D1526"/>
          </a:solidFill>
          <a:ln w="12700">
            <a:solidFill>
              <a:srgbClr val="63D7C4">
                <a:alpha val="4000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572000" y="466344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kern="0" spc="100" dirty="0">
                <a:solidFill>
                  <a:srgbClr val="63D7C4"/>
                </a:solidFill>
              </a:rPr>
              <a:t>SCIKIT-LEARN</a:t>
            </a:r>
            <a:endParaRPr lang="en-US" sz="650" dirty="0"/>
          </a:p>
        </p:txBody>
      </p:sp>
      <p:sp>
        <p:nvSpPr>
          <p:cNvPr id="64" name="Shape 62"/>
          <p:cNvSpPr/>
          <p:nvPr/>
        </p:nvSpPr>
        <p:spPr>
          <a:xfrm>
            <a:off x="5897880" y="4663440"/>
            <a:ext cx="1234440" cy="237744"/>
          </a:xfrm>
          <a:prstGeom prst="rect">
            <a:avLst/>
          </a:prstGeom>
          <a:solidFill>
            <a:srgbClr val="0D1526"/>
          </a:solidFill>
          <a:ln w="12700">
            <a:solidFill>
              <a:srgbClr val="63D7C4">
                <a:alpha val="40000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897880" y="466344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kern="0" spc="100" dirty="0">
                <a:solidFill>
                  <a:srgbClr val="63D7C4"/>
                </a:solidFill>
              </a:rPr>
              <a:t>TSFRESH</a:t>
            </a:r>
            <a:endParaRPr lang="en-US" sz="650" dirty="0"/>
          </a:p>
        </p:txBody>
      </p:sp>
      <p:sp>
        <p:nvSpPr>
          <p:cNvPr id="66" name="Shape 64"/>
          <p:cNvSpPr/>
          <p:nvPr/>
        </p:nvSpPr>
        <p:spPr>
          <a:xfrm>
            <a:off x="7223760" y="4663440"/>
            <a:ext cx="1234440" cy="237744"/>
          </a:xfrm>
          <a:prstGeom prst="rect">
            <a:avLst/>
          </a:prstGeom>
          <a:solidFill>
            <a:srgbClr val="0D1526"/>
          </a:solidFill>
          <a:ln w="12700">
            <a:solidFill>
              <a:srgbClr val="63D7C4">
                <a:alpha val="40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223760" y="466344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kern="0" spc="100" dirty="0">
                <a:solidFill>
                  <a:srgbClr val="63D7C4"/>
                </a:solidFill>
              </a:rPr>
              <a:t>PROPHET</a:t>
            </a:r>
            <a:endParaRPr lang="en-US" sz="650" dirty="0"/>
          </a:p>
        </p:txBody>
      </p:sp>
      <p:sp>
        <p:nvSpPr>
          <p:cNvPr id="68" name="Shape 66"/>
          <p:cNvSpPr/>
          <p:nvPr/>
        </p:nvSpPr>
        <p:spPr>
          <a:xfrm>
            <a:off x="0" y="0"/>
            <a:ext cx="36576" cy="5143500"/>
          </a:xfrm>
          <a:prstGeom prst="rect">
            <a:avLst/>
          </a:prstGeom>
          <a:solidFill>
            <a:srgbClr val="63D7C4">
              <a:alpha val="30000"/>
            </a:srgbClr>
          </a:solidFill>
          <a:ln w="12700">
            <a:solidFill>
              <a:srgbClr val="63D7C4">
                <a:alpha val="30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107424" y="0"/>
            <a:ext cx="36576" cy="5143500"/>
          </a:xfrm>
          <a:prstGeom prst="rect">
            <a:avLst/>
          </a:prstGeom>
          <a:solidFill>
            <a:srgbClr val="63D7C4">
              <a:alpha val="30000"/>
            </a:srgbClr>
          </a:solidFill>
          <a:ln w="12700">
            <a:solidFill>
              <a:srgbClr val="63D7C4">
                <a:alpha val="30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0" y="0"/>
            <a:ext cx="9144000" cy="22860"/>
          </a:xfrm>
          <a:prstGeom prst="rect">
            <a:avLst/>
          </a:prstGeom>
          <a:solidFill>
            <a:srgbClr val="63D7C4">
              <a:alpha val="40000"/>
            </a:srgbClr>
          </a:solidFill>
          <a:ln w="12700">
            <a:solidFill>
              <a:srgbClr val="63D7C4">
                <a:alpha val="4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" cy="5143500"/>
          </a:xfrm>
          <a:prstGeom prst="rect">
            <a:avLst/>
          </a:prstGeom>
          <a:solidFill>
            <a:srgbClr val="63D7C4">
              <a:alpha val="30000"/>
            </a:srgbClr>
          </a:solidFill>
          <a:ln w="12700">
            <a:solidFill>
              <a:srgbClr val="63D7C4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07424" y="0"/>
            <a:ext cx="36576" cy="5143500"/>
          </a:xfrm>
          <a:prstGeom prst="rect">
            <a:avLst/>
          </a:prstGeom>
          <a:solidFill>
            <a:srgbClr val="63D7C4">
              <a:alpha val="30000"/>
            </a:srgbClr>
          </a:solidFill>
          <a:ln w="12700">
            <a:solidFill>
              <a:srgbClr val="63D7C4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22860"/>
          </a:xfrm>
          <a:prstGeom prst="rect">
            <a:avLst/>
          </a:prstGeom>
          <a:solidFill>
            <a:srgbClr val="63D7C4">
              <a:alpha val="40000"/>
            </a:srgbClr>
          </a:solidFill>
          <a:ln w="12700">
            <a:solidFill>
              <a:srgbClr val="63D7C4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256032"/>
            <a:ext cx="1828800" cy="256032"/>
          </a:xfrm>
          <a:prstGeom prst="rect">
            <a:avLst/>
          </a:prstGeom>
          <a:solidFill>
            <a:srgbClr val="63D7C4">
              <a:alpha val="18000"/>
            </a:srgbClr>
          </a:solidFill>
          <a:ln w="12700">
            <a:solidFill>
              <a:srgbClr val="63D7C4">
                <a:alpha val="4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2560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63D7C4"/>
                </a:solidFill>
              </a:rPr>
              <a:t>OVERVIEW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02920" y="11704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A96"/>
                </a:solidFill>
              </a:rPr>
              <a:t>What we'll cover today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508760"/>
            <a:ext cx="384048" cy="384048"/>
          </a:xfrm>
          <a:prstGeom prst="rect">
            <a:avLst/>
          </a:prstGeom>
          <a:solidFill>
            <a:srgbClr val="63D7C4">
              <a:alpha val="20000"/>
            </a:srgbClr>
          </a:solidFill>
          <a:ln w="12700">
            <a:solidFill>
              <a:srgbClr val="63D7C4">
                <a:alpha val="4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3D7C4"/>
                </a:solidFill>
              </a:rPr>
              <a:t>01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1545336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AF4"/>
                </a:solidFill>
              </a:rPr>
              <a:t>Project Overview &amp; Problem Statement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2167128"/>
            <a:ext cx="384048" cy="384048"/>
          </a:xfrm>
          <a:prstGeom prst="rect">
            <a:avLst/>
          </a:prstGeom>
          <a:solidFill>
            <a:srgbClr val="F97316">
              <a:alpha val="20000"/>
            </a:srgbClr>
          </a:solidFill>
          <a:ln w="12700">
            <a:solidFill>
              <a:srgbClr val="F97316">
                <a:alpha val="4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167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97316"/>
                </a:solidFill>
              </a:rPr>
              <a:t>02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2203704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AF4"/>
                </a:solidFill>
              </a:rPr>
              <a:t>Preprocessing — Objectives &amp; Dataset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2825496"/>
            <a:ext cx="384048" cy="384048"/>
          </a:xfrm>
          <a:prstGeom prst="rect">
            <a:avLst/>
          </a:prstGeom>
          <a:solidFill>
            <a:srgbClr val="63D7C4">
              <a:alpha val="20000"/>
            </a:srgbClr>
          </a:solidFill>
          <a:ln w="12700">
            <a:solidFill>
              <a:srgbClr val="63D7C4">
                <a:alpha val="4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825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3D7C4"/>
                </a:solidFill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2862072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AF4"/>
                </a:solidFill>
              </a:rPr>
              <a:t>Platform Walkthrough — Upload &amp; Cleaning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3483864"/>
            <a:ext cx="384048" cy="384048"/>
          </a:xfrm>
          <a:prstGeom prst="rect">
            <a:avLst/>
          </a:prstGeom>
          <a:solidFill>
            <a:srgbClr val="F97316">
              <a:alpha val="20000"/>
            </a:srgbClr>
          </a:solidFill>
          <a:ln w="12700">
            <a:solidFill>
              <a:srgbClr val="F97316">
                <a:alpha val="4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483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97316"/>
                </a:solidFill>
              </a:rPr>
              <a:t>04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3520440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AF4"/>
                </a:solidFill>
              </a:rPr>
              <a:t>Pattern Extraction — 5-File Detection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4142232"/>
            <a:ext cx="384048" cy="384048"/>
          </a:xfrm>
          <a:prstGeom prst="rect">
            <a:avLst/>
          </a:prstGeom>
          <a:solidFill>
            <a:srgbClr val="818CF8">
              <a:alpha val="20000"/>
            </a:srgbClr>
          </a:solidFill>
          <a:ln w="12700">
            <a:solidFill>
              <a:srgbClr val="818CF8">
                <a:alpha val="4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142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18CF8"/>
                </a:solidFill>
              </a:rPr>
              <a:t>05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4178808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AF4"/>
                </a:solidFill>
              </a:rPr>
              <a:t>TSFresh Feature Extraction  (ML-1)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846320" y="1508760"/>
            <a:ext cx="384048" cy="384048"/>
          </a:xfrm>
          <a:prstGeom prst="rect">
            <a:avLst/>
          </a:prstGeom>
          <a:solidFill>
            <a:srgbClr val="818CF8">
              <a:alpha val="20000"/>
            </a:srgbClr>
          </a:solidFill>
          <a:ln w="12700">
            <a:solidFill>
              <a:srgbClr val="818CF8">
                <a:alpha val="4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18CF8"/>
                </a:solidFill>
              </a:rPr>
              <a:t>06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349240" y="1545336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AF4"/>
                </a:solidFill>
              </a:rPr>
              <a:t>Prophet Forecasting — HR, Steps &amp; Sleep (ML-2)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846320" y="2167128"/>
            <a:ext cx="384048" cy="384048"/>
          </a:xfrm>
          <a:prstGeom prst="rect">
            <a:avLst/>
          </a:prstGeom>
          <a:solidFill>
            <a:srgbClr val="FBBF24">
              <a:alpha val="20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2167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BBF24"/>
                </a:solidFill>
              </a:rPr>
              <a:t>07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349240" y="2203704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AF4"/>
                </a:solidFill>
              </a:rPr>
              <a:t>Clustering — KMeans, DBSCAN, PCA, t-SNE (ML-3)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846320" y="2825496"/>
            <a:ext cx="384048" cy="384048"/>
          </a:xfrm>
          <a:prstGeom prst="rect">
            <a:avLst/>
          </a:prstGeom>
          <a:solidFill>
            <a:srgbClr val="F87171">
              <a:alpha val="20000"/>
            </a:srgbClr>
          </a:solidFill>
          <a:ln w="12700">
            <a:solidFill>
              <a:srgbClr val="F87171">
                <a:alpha val="4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2825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7171"/>
                </a:solidFill>
              </a:rPr>
              <a:t>08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349240" y="2862072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AF4"/>
                </a:solidFill>
              </a:rPr>
              <a:t>Anomaly Detection — 3 Methods (ML-4)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846320" y="3483864"/>
            <a:ext cx="384048" cy="384048"/>
          </a:xfrm>
          <a:prstGeom prst="rect">
            <a:avLst/>
          </a:prstGeom>
          <a:solidFill>
            <a:srgbClr val="34D399">
              <a:alpha val="20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3483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4D399"/>
                </a:solidFill>
              </a:rPr>
              <a:t>09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349240" y="3520440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AF4"/>
                </a:solidFill>
              </a:rPr>
              <a:t>Accuracy Simulation &amp; Technology Stack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663440" y="1417320"/>
            <a:ext cx="18288" cy="3474720"/>
          </a:xfrm>
          <a:prstGeom prst="rect">
            <a:avLst/>
          </a:prstGeom>
          <a:solidFill>
            <a:srgbClr val="63D7C4">
              <a:alpha val="30000"/>
            </a:srgbClr>
          </a:solidFill>
          <a:ln w="12700">
            <a:solidFill>
              <a:srgbClr val="63D7C4">
                <a:alpha val="3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" cy="5143500"/>
          </a:xfrm>
          <a:prstGeom prst="rect">
            <a:avLst/>
          </a:prstGeom>
          <a:solidFill>
            <a:srgbClr val="63D7C4">
              <a:alpha val="30000"/>
            </a:srgbClr>
          </a:solidFill>
          <a:ln w="12700">
            <a:solidFill>
              <a:srgbClr val="63D7C4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07424" y="0"/>
            <a:ext cx="36576" cy="5143500"/>
          </a:xfrm>
          <a:prstGeom prst="rect">
            <a:avLst/>
          </a:prstGeom>
          <a:solidFill>
            <a:srgbClr val="63D7C4">
              <a:alpha val="30000"/>
            </a:srgbClr>
          </a:solidFill>
          <a:ln w="12700">
            <a:solidFill>
              <a:srgbClr val="63D7C4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22860"/>
          </a:xfrm>
          <a:prstGeom prst="rect">
            <a:avLst/>
          </a:prstGeom>
          <a:solidFill>
            <a:srgbClr val="63D7C4">
              <a:alpha val="40000"/>
            </a:srgbClr>
          </a:solidFill>
          <a:ln w="12700">
            <a:solidFill>
              <a:srgbClr val="63D7C4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256032"/>
            <a:ext cx="1828800" cy="256032"/>
          </a:xfrm>
          <a:prstGeom prst="rect">
            <a:avLst/>
          </a:prstGeom>
          <a:solidFill>
            <a:srgbClr val="63D7C4">
              <a:alpha val="18000"/>
            </a:srgbClr>
          </a:solidFill>
          <a:ln w="12700">
            <a:solidFill>
              <a:srgbClr val="63D7C4">
                <a:alpha val="4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2560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63D7C4"/>
                </a:solidFill>
              </a:rPr>
              <a:t>PROBLEM STATEMENT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02920" y="11887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A96"/>
                </a:solidFill>
              </a:rPr>
              <a:t>Fitness data is vast, multi-source, and riddled with quality issues that hinder meaningful analysis.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691640"/>
            <a:ext cx="4114800" cy="914400"/>
          </a:xfrm>
          <a:prstGeom prst="rect">
            <a:avLst/>
          </a:prstGeom>
          <a:solidFill>
            <a:srgbClr val="0D1526">
              <a:alpha val="90000"/>
            </a:srgbClr>
          </a:solidFill>
          <a:ln w="12700">
            <a:solidFill>
              <a:srgbClr val="63D7C4">
                <a:alpha val="2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691640"/>
            <a:ext cx="50292" cy="914400"/>
          </a:xfrm>
          <a:prstGeom prst="rect">
            <a:avLst/>
          </a:prstGeom>
          <a:solidFill>
            <a:srgbClr val="63D7C4"/>
          </a:solidFill>
          <a:ln w="12700">
            <a:solidFill>
              <a:srgbClr val="63D7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7647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3D7C4"/>
                </a:solidFill>
              </a:rPr>
              <a:t>Massive Volume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2039112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B7A96"/>
                </a:solidFill>
              </a:rPr>
              <a:t>36,500 rows × 16 columns — manual inspection is not feasible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2770632"/>
            <a:ext cx="4114800" cy="914400"/>
          </a:xfrm>
          <a:prstGeom prst="rect">
            <a:avLst/>
          </a:prstGeom>
          <a:solidFill>
            <a:srgbClr val="0D1526">
              <a:alpha val="90000"/>
            </a:srgbClr>
          </a:solidFill>
          <a:ln w="12700">
            <a:solidFill>
              <a:srgbClr val="F87171">
                <a:alpha val="2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770632"/>
            <a:ext cx="50292" cy="91440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84378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7171"/>
                </a:solidFill>
              </a:rPr>
              <a:t>Missing Data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3118104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B7A96"/>
                </a:solidFill>
              </a:rPr>
              <a:t>21,951 missing cells across 5 key columns: Hours Slept, Water Intake, Active Minutes, Heart Rate, Workout Type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3849624"/>
            <a:ext cx="4114800" cy="914400"/>
          </a:xfrm>
          <a:prstGeom prst="rect">
            <a:avLst/>
          </a:prstGeom>
          <a:solidFill>
            <a:srgbClr val="0D1526">
              <a:alpha val="90000"/>
            </a:srgbClr>
          </a:solidFill>
          <a:ln w="12700">
            <a:solidFill>
              <a:srgbClr val="F97316">
                <a:alpha val="2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849624"/>
            <a:ext cx="50292" cy="9144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92277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</a:rPr>
              <a:t>Mixed Data Types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4197096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B7A96"/>
                </a:solidFill>
              </a:rPr>
              <a:t>Numeric, categorical, and datetime fields require different treatment strategies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54880" y="1691640"/>
            <a:ext cx="4114800" cy="914400"/>
          </a:xfrm>
          <a:prstGeom prst="rect">
            <a:avLst/>
          </a:prstGeom>
          <a:solidFill>
            <a:srgbClr val="0D1526">
              <a:alpha val="90000"/>
            </a:srgbClr>
          </a:solidFill>
          <a:ln w="12700">
            <a:solidFill>
              <a:srgbClr val="FBBF24">
                <a:alpha val="2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1691640"/>
            <a:ext cx="50292" cy="91440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17647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BF24"/>
                </a:solidFill>
              </a:rPr>
              <a:t>No Standardisation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37760" y="2039112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B7A96"/>
                </a:solidFill>
              </a:rPr>
              <a:t>Raw exports from fitness devices need consistent formatting before analysis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54880" y="2770632"/>
            <a:ext cx="4114800" cy="914400"/>
          </a:xfrm>
          <a:prstGeom prst="rect">
            <a:avLst/>
          </a:prstGeom>
          <a:solidFill>
            <a:srgbClr val="0D1526">
              <a:alpha val="90000"/>
            </a:srgbClr>
          </a:solidFill>
          <a:ln w="12700">
            <a:solidFill>
              <a:srgbClr val="818CF8">
                <a:alpha val="2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770632"/>
            <a:ext cx="50292" cy="91440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284378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18CF8"/>
                </a:solidFill>
              </a:rPr>
              <a:t>Bias Risk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37760" y="3118104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B7A96"/>
                </a:solidFill>
              </a:rPr>
              <a:t>Unaddressed nulls lead to skewed distributions and unreliable downstream ML results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" cy="5143500"/>
          </a:xfrm>
          <a:prstGeom prst="rect">
            <a:avLst/>
          </a:prstGeom>
          <a:solidFill>
            <a:srgbClr val="63D7C4">
              <a:alpha val="30000"/>
            </a:srgbClr>
          </a:solidFill>
          <a:ln w="12700">
            <a:solidFill>
              <a:srgbClr val="63D7C4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07424" y="0"/>
            <a:ext cx="36576" cy="5143500"/>
          </a:xfrm>
          <a:prstGeom prst="rect">
            <a:avLst/>
          </a:prstGeom>
          <a:solidFill>
            <a:srgbClr val="63D7C4">
              <a:alpha val="30000"/>
            </a:srgbClr>
          </a:solidFill>
          <a:ln w="12700">
            <a:solidFill>
              <a:srgbClr val="63D7C4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22860"/>
          </a:xfrm>
          <a:prstGeom prst="rect">
            <a:avLst/>
          </a:prstGeom>
          <a:solidFill>
            <a:srgbClr val="63D7C4">
              <a:alpha val="40000"/>
            </a:srgbClr>
          </a:solidFill>
          <a:ln w="12700">
            <a:solidFill>
              <a:srgbClr val="63D7C4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256032"/>
            <a:ext cx="1828800" cy="256032"/>
          </a:xfrm>
          <a:prstGeom prst="rect">
            <a:avLst/>
          </a:prstGeom>
          <a:solidFill>
            <a:srgbClr val="63D7C4">
              <a:alpha val="18000"/>
            </a:srgbClr>
          </a:solidFill>
          <a:ln w="12700">
            <a:solidFill>
              <a:srgbClr val="63D7C4">
                <a:alpha val="4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2560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63D7C4"/>
                </a:solidFill>
              </a:rPr>
              <a:t>MILESTONE 1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560320" y="256032"/>
            <a:ext cx="1463040" cy="246888"/>
          </a:xfrm>
          <a:prstGeom prst="rect">
            <a:avLst/>
          </a:prstGeom>
          <a:solidFill>
            <a:srgbClr val="F97316">
              <a:alpha val="15000"/>
            </a:srgbClr>
          </a:solidFill>
          <a:ln w="12700">
            <a:solidFill>
              <a:srgbClr val="F97316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0" y="256032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97316"/>
                </a:solidFill>
              </a:rPr>
              <a:t>PREPROCESSING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02920" y="5669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— Objectives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457200" y="1417320"/>
            <a:ext cx="4160520" cy="1097280"/>
          </a:xfrm>
          <a:prstGeom prst="rect">
            <a:avLst/>
          </a:prstGeom>
          <a:solidFill>
            <a:srgbClr val="0D1526">
              <a:alpha val="90000"/>
            </a:srgbClr>
          </a:solidFill>
          <a:ln w="12700">
            <a:solidFill>
              <a:srgbClr val="63D7C4">
                <a:alpha val="2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417320"/>
            <a:ext cx="50292" cy="1097280"/>
          </a:xfrm>
          <a:prstGeom prst="rect">
            <a:avLst/>
          </a:prstGeom>
          <a:solidFill>
            <a:srgbClr val="63D7C4"/>
          </a:solidFill>
          <a:ln w="12700">
            <a:solidFill>
              <a:srgbClr val="63D7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14904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3D7C4"/>
                </a:solidFill>
              </a:rPr>
              <a:t>①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97280" y="150876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AF4"/>
                </a:solidFill>
              </a:rPr>
              <a:t>Build an end-to-end interactive preprocessing pipeline for raw fitness CSVs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00600" y="1417320"/>
            <a:ext cx="4160520" cy="1097280"/>
          </a:xfrm>
          <a:prstGeom prst="rect">
            <a:avLst/>
          </a:prstGeom>
          <a:solidFill>
            <a:srgbClr val="0D1526">
              <a:alpha val="90000"/>
            </a:srgbClr>
          </a:solidFill>
          <a:ln w="12700">
            <a:solidFill>
              <a:srgbClr val="63D7C4">
                <a:alpha val="2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00600" y="1417320"/>
            <a:ext cx="50292" cy="1097280"/>
          </a:xfrm>
          <a:prstGeom prst="rect">
            <a:avLst/>
          </a:prstGeom>
          <a:solidFill>
            <a:srgbClr val="63D7C4"/>
          </a:solidFill>
          <a:ln w="12700">
            <a:solidFill>
              <a:srgbClr val="63D7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10328" y="14904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3D7C4"/>
                </a:solidFill>
              </a:rPr>
              <a:t>②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440680" y="150876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AF4"/>
                </a:solidFill>
              </a:rPr>
              <a:t>Detect and visualise missing values across all dataset columns with interactive bar chart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651760"/>
            <a:ext cx="4160520" cy="1097280"/>
          </a:xfrm>
          <a:prstGeom prst="rect">
            <a:avLst/>
          </a:prstGeom>
          <a:solidFill>
            <a:srgbClr val="0D1526">
              <a:alpha val="90000"/>
            </a:srgbClr>
          </a:solidFill>
          <a:ln w="12700">
            <a:solidFill>
              <a:srgbClr val="F97316">
                <a:alpha val="2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651760"/>
            <a:ext cx="50292" cy="10972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27249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97316"/>
                </a:solidFill>
              </a:rPr>
              <a:t>③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097280" y="274320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AF4"/>
                </a:solidFill>
              </a:rPr>
              <a:t>Apply intelligent interpolation &amp; fill strategies to handle nulls without data loss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00600" y="2651760"/>
            <a:ext cx="4160520" cy="1097280"/>
          </a:xfrm>
          <a:prstGeom prst="rect">
            <a:avLst/>
          </a:prstGeom>
          <a:solidFill>
            <a:srgbClr val="0D1526">
              <a:alpha val="90000"/>
            </a:srgbClr>
          </a:solidFill>
          <a:ln w="12700">
            <a:solidFill>
              <a:srgbClr val="F97316">
                <a:alpha val="2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00600" y="2651760"/>
            <a:ext cx="50292" cy="10972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10328" y="27249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97316"/>
                </a:solidFill>
              </a:rPr>
              <a:t>④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440680" y="274320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AF4"/>
                </a:solidFill>
              </a:rPr>
              <a:t>Generate a clean, downloadable CSV ready for downstream ML via st.download_button()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3886200"/>
            <a:ext cx="4160520" cy="1097280"/>
          </a:xfrm>
          <a:prstGeom prst="rect">
            <a:avLst/>
          </a:prstGeom>
          <a:solidFill>
            <a:srgbClr val="0D1526">
              <a:alpha val="90000"/>
            </a:srgbClr>
          </a:solidFill>
          <a:ln w="12700">
            <a:solidFill>
              <a:srgbClr val="818CF8">
                <a:alpha val="2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3886200"/>
            <a:ext cx="50292" cy="109728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39593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18CF8"/>
                </a:solidFill>
              </a:rPr>
              <a:t>⑤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1097280" y="397764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AF4"/>
                </a:solidFill>
              </a:rPr>
              <a:t>Perform Exploratory Data Analysis (EDA) — KDE histograms for all numeric columns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00600" y="3886200"/>
            <a:ext cx="4160520" cy="1097280"/>
          </a:xfrm>
          <a:prstGeom prst="rect">
            <a:avLst/>
          </a:prstGeom>
          <a:solidFill>
            <a:srgbClr val="0D1526">
              <a:alpha val="90000"/>
            </a:srgbClr>
          </a:solidFill>
          <a:ln w="12700">
            <a:solidFill>
              <a:srgbClr val="818CF8">
                <a:alpha val="2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00600" y="3886200"/>
            <a:ext cx="50292" cy="109728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10328" y="39593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18CF8"/>
                </a:solidFill>
              </a:rPr>
              <a:t>⑥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5440680" y="397764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AF4"/>
                </a:solidFill>
              </a:rPr>
              <a:t>Deliver a polished Streamlit web application as the fully interactive deliverable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" cy="5143500"/>
          </a:xfrm>
          <a:prstGeom prst="rect">
            <a:avLst/>
          </a:prstGeom>
          <a:solidFill>
            <a:srgbClr val="63D7C4">
              <a:alpha val="30000"/>
            </a:srgbClr>
          </a:solidFill>
          <a:ln w="12700">
            <a:solidFill>
              <a:srgbClr val="63D7C4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07424" y="0"/>
            <a:ext cx="36576" cy="5143500"/>
          </a:xfrm>
          <a:prstGeom prst="rect">
            <a:avLst/>
          </a:prstGeom>
          <a:solidFill>
            <a:srgbClr val="63D7C4">
              <a:alpha val="30000"/>
            </a:srgbClr>
          </a:solidFill>
          <a:ln w="12700">
            <a:solidFill>
              <a:srgbClr val="63D7C4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22860"/>
          </a:xfrm>
          <a:prstGeom prst="rect">
            <a:avLst/>
          </a:prstGeom>
          <a:solidFill>
            <a:srgbClr val="63D7C4">
              <a:alpha val="40000"/>
            </a:srgbClr>
          </a:solidFill>
          <a:ln w="12700">
            <a:solidFill>
              <a:srgbClr val="63D7C4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256032"/>
            <a:ext cx="1828800" cy="256032"/>
          </a:xfrm>
          <a:prstGeom prst="rect">
            <a:avLst/>
          </a:prstGeom>
          <a:solidFill>
            <a:srgbClr val="63D7C4">
              <a:alpha val="18000"/>
            </a:srgbClr>
          </a:solidFill>
          <a:ln w="12700">
            <a:solidFill>
              <a:srgbClr val="63D7C4">
                <a:alpha val="4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2560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63D7C4"/>
                </a:solidFill>
              </a:rPr>
              <a:t>DATASET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Description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02920" y="1188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A96"/>
                </a:solidFill>
              </a:rPr>
              <a:t>Fitness &amp; Health Tracking Dataset — Synthetic Fitbit-style CSV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600200"/>
            <a:ext cx="1828800" cy="1005840"/>
          </a:xfrm>
          <a:prstGeom prst="rect">
            <a:avLst/>
          </a:prstGeom>
          <a:solidFill>
            <a:srgbClr val="0D1526">
              <a:alpha val="85000"/>
            </a:srgbClr>
          </a:solidFill>
          <a:ln w="12700">
            <a:solidFill>
              <a:srgbClr val="63D7C4">
                <a:alpha val="3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1709928"/>
            <a:ext cx="18288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63D7C4"/>
                </a:solidFill>
              </a:rPr>
              <a:t>36,500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57200" y="2223821"/>
            <a:ext cx="1828800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kern="0" spc="100" dirty="0">
                <a:solidFill>
                  <a:srgbClr val="6B7A96"/>
                </a:solidFill>
              </a:rPr>
              <a:t>TOTAL ROWS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468880" y="1600200"/>
            <a:ext cx="1828800" cy="1005840"/>
          </a:xfrm>
          <a:prstGeom prst="rect">
            <a:avLst/>
          </a:prstGeom>
          <a:solidFill>
            <a:srgbClr val="0D1526">
              <a:alpha val="85000"/>
            </a:srgbClr>
          </a:solidFill>
          <a:ln w="12700">
            <a:solidFill>
              <a:srgbClr val="F97316">
                <a:alpha val="3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468880" y="1709928"/>
            <a:ext cx="18288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97316"/>
                </a:solidFill>
              </a:rPr>
              <a:t>16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468880" y="2223821"/>
            <a:ext cx="1828800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kern="0" spc="100" dirty="0">
                <a:solidFill>
                  <a:srgbClr val="6B7A96"/>
                </a:solidFill>
              </a:rPr>
              <a:t>COLUMNS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480560" y="1600200"/>
            <a:ext cx="1828800" cy="1005840"/>
          </a:xfrm>
          <a:prstGeom prst="rect">
            <a:avLst/>
          </a:prstGeom>
          <a:solidFill>
            <a:srgbClr val="0D1526">
              <a:alpha val="85000"/>
            </a:srgbClr>
          </a:solidFill>
          <a:ln w="12700">
            <a:solidFill>
              <a:srgbClr val="818CF8">
                <a:alpha val="3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480560" y="1709928"/>
            <a:ext cx="18288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818CF8"/>
                </a:solidFill>
              </a:rPr>
              <a:t>100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480560" y="2223821"/>
            <a:ext cx="1828800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kern="0" spc="100" dirty="0">
                <a:solidFill>
                  <a:srgbClr val="6B7A96"/>
                </a:solidFill>
              </a:rPr>
              <a:t>UNIQUE USERS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492240" y="1600200"/>
            <a:ext cx="1828800" cy="1005840"/>
          </a:xfrm>
          <a:prstGeom prst="rect">
            <a:avLst/>
          </a:prstGeom>
          <a:solidFill>
            <a:srgbClr val="0D1526">
              <a:alpha val="85000"/>
            </a:srgbClr>
          </a:solidFill>
          <a:ln w="12700">
            <a:solidFill>
              <a:srgbClr val="FBBF24">
                <a:alpha val="3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92240" y="1709928"/>
            <a:ext cx="18288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BBF24"/>
                </a:solidFill>
              </a:rPr>
              <a:t>365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492240" y="2223821"/>
            <a:ext cx="1828800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kern="0" spc="100" dirty="0">
                <a:solidFill>
                  <a:srgbClr val="6B7A96"/>
                </a:solidFill>
              </a:rPr>
              <a:t>DAYS TRACKED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57200" y="2788920"/>
            <a:ext cx="5303520" cy="2057400"/>
          </a:xfrm>
          <a:prstGeom prst="rect">
            <a:avLst/>
          </a:prstGeom>
          <a:solidFill>
            <a:srgbClr val="0D1526">
              <a:alpha val="90000"/>
            </a:srgbClr>
          </a:solidFill>
          <a:ln w="12700">
            <a:solidFill>
              <a:srgbClr val="63D7C4">
                <a:alpha val="2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2788920"/>
            <a:ext cx="50292" cy="2057400"/>
          </a:xfrm>
          <a:prstGeom prst="rect">
            <a:avLst/>
          </a:prstGeom>
          <a:solidFill>
            <a:srgbClr val="63D7C4"/>
          </a:solidFill>
          <a:ln w="12700">
            <a:solidFill>
              <a:srgbClr val="63D7C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285292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3D7C4"/>
                </a:solidFill>
              </a:rPr>
              <a:t>Key Feature Columns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5800" y="3218688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AF4"/>
                </a:solidFill>
              </a:rPr>
              <a:t>User ID · Date · Age · Gender · Height · Weight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AF4"/>
                </a:solidFill>
              </a:rPr>
              <a:t>Steps Taken · Calories Burned · Hours Slept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AF4"/>
                </a:solidFill>
              </a:rPr>
              <a:t>Water Intake · Active Minutes · Heart Rate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AF4"/>
                </a:solidFill>
              </a:rPr>
              <a:t>Workout Type · Mood · Stress Level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943600" y="2788920"/>
            <a:ext cx="2743200" cy="2057400"/>
          </a:xfrm>
          <a:prstGeom prst="rect">
            <a:avLst/>
          </a:prstGeom>
          <a:solidFill>
            <a:srgbClr val="0D1526">
              <a:alpha val="90000"/>
            </a:srgbClr>
          </a:solidFill>
          <a:ln w="12700">
            <a:solidFill>
              <a:srgbClr val="F87171">
                <a:alpha val="2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943600" y="2788920"/>
            <a:ext cx="50292" cy="205740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44768" y="285292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7171"/>
                </a:solidFill>
              </a:rPr>
              <a:t>Missing Cells — 21,951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44768" y="32461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6"/>
                </a:solidFill>
              </a:rPr>
              <a:t>Workout Type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589520" y="32461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87171"/>
                </a:solidFill>
              </a:rPr>
              <a:t>9,192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144768" y="3557016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6"/>
                </a:solidFill>
              </a:rPr>
              <a:t>Water Intake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589520" y="355701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87171"/>
                </a:solidFill>
              </a:rPr>
              <a:t>5,401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144768" y="386791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6"/>
                </a:solidFill>
              </a:rPr>
              <a:t>Hours Slept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589520" y="38679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87171"/>
                </a:solidFill>
              </a:rPr>
              <a:t>3,659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144768" y="417880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6"/>
                </a:solidFill>
              </a:rPr>
              <a:t>Active Minutes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589520" y="417880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87171"/>
                </a:solidFill>
              </a:rPr>
              <a:t>1,867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144768" y="4489704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6"/>
                </a:solidFill>
              </a:rPr>
              <a:t>Heart Rate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7589520" y="44897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87171"/>
                </a:solidFill>
              </a:rPr>
              <a:t>1,832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" cy="5143500"/>
          </a:xfrm>
          <a:prstGeom prst="rect">
            <a:avLst/>
          </a:prstGeom>
          <a:solidFill>
            <a:srgbClr val="63D7C4">
              <a:alpha val="30000"/>
            </a:srgbClr>
          </a:solidFill>
          <a:ln w="12700">
            <a:solidFill>
              <a:srgbClr val="63D7C4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07424" y="0"/>
            <a:ext cx="36576" cy="5143500"/>
          </a:xfrm>
          <a:prstGeom prst="rect">
            <a:avLst/>
          </a:prstGeom>
          <a:solidFill>
            <a:srgbClr val="63D7C4">
              <a:alpha val="30000"/>
            </a:srgbClr>
          </a:solidFill>
          <a:ln w="12700">
            <a:solidFill>
              <a:srgbClr val="63D7C4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22860"/>
          </a:xfrm>
          <a:prstGeom prst="rect">
            <a:avLst/>
          </a:prstGeom>
          <a:solidFill>
            <a:srgbClr val="63D7C4">
              <a:alpha val="40000"/>
            </a:srgbClr>
          </a:solidFill>
          <a:ln w="12700">
            <a:solidFill>
              <a:srgbClr val="63D7C4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256032"/>
            <a:ext cx="1828800" cy="256032"/>
          </a:xfrm>
          <a:prstGeom prst="rect">
            <a:avLst/>
          </a:prstGeom>
          <a:solidFill>
            <a:srgbClr val="63D7C4">
              <a:alpha val="18000"/>
            </a:srgbClr>
          </a:solidFill>
          <a:ln w="12700">
            <a:solidFill>
              <a:srgbClr val="63D7C4">
                <a:alpha val="4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2560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63D7C4"/>
                </a:solidFill>
              </a:rPr>
              <a:t>ARCHITECTURE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Flowchart — End-to-End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3931920" cy="292608"/>
          </a:xfrm>
          <a:prstGeom prst="rect">
            <a:avLst/>
          </a:prstGeom>
          <a:solidFill>
            <a:srgbClr val="63D7C4">
              <a:alpha val="22000"/>
            </a:srgbClr>
          </a:solidFill>
          <a:ln w="12700">
            <a:solidFill>
              <a:srgbClr val="63D7C4">
                <a:alpha val="4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2801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3D7C4"/>
                </a:solidFill>
              </a:rPr>
              <a:t>🔧  MILESTONE 1 — PREPROCESSING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54880" y="1280160"/>
            <a:ext cx="3931920" cy="292608"/>
          </a:xfrm>
          <a:prstGeom prst="rect">
            <a:avLst/>
          </a:prstGeom>
          <a:solidFill>
            <a:srgbClr val="F97316">
              <a:alpha val="22000"/>
            </a:srgbClr>
          </a:solidFill>
          <a:ln w="12700">
            <a:solidFill>
              <a:srgbClr val="F97316">
                <a:alpha val="4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2801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97316"/>
                </a:solidFill>
              </a:rPr>
              <a:t>🤖  MILESTONE 2 — PATTERN EXTRACTION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1737360"/>
            <a:ext cx="3931920" cy="548640"/>
          </a:xfrm>
          <a:prstGeom prst="rect">
            <a:avLst/>
          </a:prstGeom>
          <a:solidFill>
            <a:srgbClr val="0D1526"/>
          </a:solidFill>
          <a:ln w="12700">
            <a:solidFill>
              <a:srgbClr val="63D7C4">
                <a:alpha val="3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737360"/>
            <a:ext cx="45720" cy="548640"/>
          </a:xfrm>
          <a:prstGeom prst="rect">
            <a:avLst/>
          </a:prstGeom>
          <a:solidFill>
            <a:srgbClr val="63D7C4"/>
          </a:solidFill>
          <a:ln w="12700">
            <a:solidFill>
              <a:srgbClr val="63D7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177393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3D7C4"/>
                </a:solidFill>
              </a:rPr>
              <a:t>①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87552" y="1783080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EAF4"/>
                </a:solidFill>
              </a:rPr>
              <a:t>Upload CSV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87552" y="2011680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6"/>
                </a:solidFill>
              </a:rPr>
              <a:t>36,500 rows × 16 cols loaded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2295144"/>
            <a:ext cx="393192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3D7C4"/>
                </a:solidFill>
              </a:rPr>
              <a:t>↓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395728"/>
            <a:ext cx="3931920" cy="548640"/>
          </a:xfrm>
          <a:prstGeom prst="rect">
            <a:avLst/>
          </a:prstGeom>
          <a:solidFill>
            <a:srgbClr val="0D1526"/>
          </a:solidFill>
          <a:ln w="12700">
            <a:solidFill>
              <a:srgbClr val="63D7C4">
                <a:alpha val="3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395728"/>
            <a:ext cx="45720" cy="548640"/>
          </a:xfrm>
          <a:prstGeom prst="rect">
            <a:avLst/>
          </a:prstGeom>
          <a:solidFill>
            <a:srgbClr val="63D7C4"/>
          </a:solidFill>
          <a:ln w="12700">
            <a:solidFill>
              <a:srgbClr val="63D7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243230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3D7C4"/>
                </a:solidFill>
              </a:rPr>
              <a:t>②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87552" y="2441448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EAF4"/>
                </a:solidFill>
              </a:rPr>
              <a:t>Null Detection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87552" y="2670048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6"/>
                </a:solidFill>
              </a:rPr>
              <a:t>21,951 missing cells visualised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2953512"/>
            <a:ext cx="393192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3D7C4"/>
                </a:solidFill>
              </a:rPr>
              <a:t>↓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054096"/>
            <a:ext cx="3931920" cy="548640"/>
          </a:xfrm>
          <a:prstGeom prst="rect">
            <a:avLst/>
          </a:prstGeom>
          <a:solidFill>
            <a:srgbClr val="0D1526"/>
          </a:solidFill>
          <a:ln w="12700">
            <a:solidFill>
              <a:srgbClr val="63D7C4">
                <a:alpha val="3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054096"/>
            <a:ext cx="45720" cy="548640"/>
          </a:xfrm>
          <a:prstGeom prst="rect">
            <a:avLst/>
          </a:prstGeom>
          <a:solidFill>
            <a:srgbClr val="63D7C4"/>
          </a:solidFill>
          <a:ln w="12700">
            <a:solidFill>
              <a:srgbClr val="63D7C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30906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3D7C4"/>
                </a:solidFill>
              </a:rPr>
              <a:t>③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87552" y="3099816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EAF4"/>
                </a:solidFill>
              </a:rPr>
              <a:t>Interpolate &amp; Fill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87552" y="3328416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6"/>
                </a:solidFill>
              </a:rPr>
              <a:t>Numeric → interpolate, Cat → Unknown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3611880"/>
            <a:ext cx="393192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3D7C4"/>
                </a:solidFill>
              </a:rPr>
              <a:t>↓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3712464"/>
            <a:ext cx="3931920" cy="548640"/>
          </a:xfrm>
          <a:prstGeom prst="rect">
            <a:avLst/>
          </a:prstGeom>
          <a:solidFill>
            <a:srgbClr val="0D1526"/>
          </a:solidFill>
          <a:ln w="12700">
            <a:solidFill>
              <a:srgbClr val="63D7C4">
                <a:alpha val="3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3712464"/>
            <a:ext cx="45720" cy="548640"/>
          </a:xfrm>
          <a:prstGeom prst="rect">
            <a:avLst/>
          </a:prstGeom>
          <a:solidFill>
            <a:srgbClr val="63D7C4"/>
          </a:solidFill>
          <a:ln w="12700">
            <a:solidFill>
              <a:srgbClr val="63D7C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" y="37490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3D7C4"/>
                </a:solidFill>
              </a:rPr>
              <a:t>④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87552" y="3758184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EAF4"/>
                </a:solidFill>
              </a:rPr>
              <a:t>EDA Histograms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87552" y="3986784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6"/>
                </a:solidFill>
              </a:rPr>
              <a:t>KDE plots all numeric columns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4270248"/>
            <a:ext cx="393192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3D7C4"/>
                </a:solidFill>
              </a:rPr>
              <a:t>↓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4370832"/>
            <a:ext cx="3931920" cy="548640"/>
          </a:xfrm>
          <a:prstGeom prst="rect">
            <a:avLst/>
          </a:prstGeom>
          <a:solidFill>
            <a:srgbClr val="0D1526"/>
          </a:solidFill>
          <a:ln w="12700">
            <a:solidFill>
              <a:srgbClr val="63D7C4">
                <a:alpha val="3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" y="4370832"/>
            <a:ext cx="45720" cy="548640"/>
          </a:xfrm>
          <a:prstGeom prst="rect">
            <a:avLst/>
          </a:prstGeom>
          <a:solidFill>
            <a:srgbClr val="63D7C4"/>
          </a:solidFill>
          <a:ln w="12700">
            <a:solidFill>
              <a:srgbClr val="63D7C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6928" y="440740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3D7C4"/>
                </a:solidFill>
              </a:rPr>
              <a:t>⑤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987552" y="4416552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EAF4"/>
                </a:solidFill>
              </a:rPr>
              <a:t>Download Clean CSV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987552" y="4645152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6"/>
                </a:solidFill>
              </a:rPr>
              <a:t>Zero nulls, ready for ML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754880" y="1737360"/>
            <a:ext cx="3931920" cy="548640"/>
          </a:xfrm>
          <a:prstGeom prst="rect">
            <a:avLst/>
          </a:prstGeom>
          <a:solidFill>
            <a:srgbClr val="0D1526"/>
          </a:solidFill>
          <a:ln w="12700">
            <a:solidFill>
              <a:srgbClr val="F97316">
                <a:alpha val="3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0" y="1737360"/>
            <a:ext cx="45720" cy="5486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64608" y="177393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97316"/>
                </a:solidFill>
              </a:rPr>
              <a:t>⑥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5285232" y="1783080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EAF4"/>
                </a:solidFill>
              </a:rPr>
              <a:t>Load 5 Fitbit CSVs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285232" y="2011680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6"/>
                </a:solidFill>
              </a:rPr>
              <a:t>Auto-detect by column signature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754880" y="2295144"/>
            <a:ext cx="393192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97316"/>
                </a:solidFill>
              </a:rPr>
              <a:t>↓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754880" y="2395728"/>
            <a:ext cx="3931920" cy="548640"/>
          </a:xfrm>
          <a:prstGeom prst="rect">
            <a:avLst/>
          </a:prstGeom>
          <a:solidFill>
            <a:srgbClr val="0D1526"/>
          </a:solidFill>
          <a:ln w="12700">
            <a:solidFill>
              <a:srgbClr val="F97316">
                <a:alpha val="35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754880" y="2395728"/>
            <a:ext cx="45720" cy="5486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64608" y="243230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97316"/>
                </a:solidFill>
              </a:rPr>
              <a:t>⑦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5285232" y="2441448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EAF4"/>
                </a:solidFill>
              </a:rPr>
              <a:t>TSFresh (ML-1)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285232" y="2670048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6"/>
                </a:solidFill>
              </a:rPr>
              <a:t>11 HR features per user → heatmap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754880" y="2953512"/>
            <a:ext cx="393192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97316"/>
                </a:solidFill>
              </a:rPr>
              <a:t>↓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754880" y="3054096"/>
            <a:ext cx="3931920" cy="548640"/>
          </a:xfrm>
          <a:prstGeom prst="rect">
            <a:avLst/>
          </a:prstGeom>
          <a:solidFill>
            <a:srgbClr val="0D1526"/>
          </a:solidFill>
          <a:ln w="12700">
            <a:solidFill>
              <a:srgbClr val="F97316">
                <a:alpha val="35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754880" y="3054096"/>
            <a:ext cx="45720" cy="5486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64608" y="30906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97316"/>
                </a:solidFill>
              </a:rPr>
              <a:t>⑧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5285232" y="3099816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EAF4"/>
                </a:solidFill>
              </a:rPr>
              <a:t>Prophet HR (ML-2)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5285232" y="3328416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6"/>
                </a:solidFill>
              </a:rPr>
              <a:t>30-day BPM forecast, 90% CI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754880" y="3611880"/>
            <a:ext cx="393192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97316"/>
                </a:solidFill>
              </a:rPr>
              <a:t>↓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4754880" y="3712464"/>
            <a:ext cx="3931920" cy="548640"/>
          </a:xfrm>
          <a:prstGeom prst="rect">
            <a:avLst/>
          </a:prstGeom>
          <a:solidFill>
            <a:srgbClr val="0D1526"/>
          </a:solidFill>
          <a:ln w="12700">
            <a:solidFill>
              <a:srgbClr val="F97316">
                <a:alpha val="35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0" y="3712464"/>
            <a:ext cx="45720" cy="5486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864608" y="37490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97316"/>
                </a:solidFill>
              </a:rPr>
              <a:t>⑨</a:t>
            </a:r>
            <a:endParaRPr lang="en-US" sz="1400" dirty="0"/>
          </a:p>
        </p:txBody>
      </p:sp>
      <p:sp>
        <p:nvSpPr>
          <p:cNvPr id="62" name="Text 60"/>
          <p:cNvSpPr/>
          <p:nvPr/>
        </p:nvSpPr>
        <p:spPr>
          <a:xfrm>
            <a:off x="5285232" y="3758184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EAF4"/>
                </a:solidFill>
              </a:rPr>
              <a:t>KMeans + DBSCAN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5285232" y="3986784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6"/>
                </a:solidFill>
              </a:rPr>
              <a:t>PCA + t-SNE scatter, k configurable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4754880" y="4270248"/>
            <a:ext cx="393192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97316"/>
                </a:solidFill>
              </a:rPr>
              <a:t>↓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4754880" y="4370832"/>
            <a:ext cx="3931920" cy="548640"/>
          </a:xfrm>
          <a:prstGeom prst="rect">
            <a:avLst/>
          </a:prstGeom>
          <a:solidFill>
            <a:srgbClr val="0D1526"/>
          </a:solidFill>
          <a:ln w="12700">
            <a:solidFill>
              <a:srgbClr val="F97316">
                <a:alpha val="35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754880" y="4370832"/>
            <a:ext cx="45720" cy="5486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864608" y="440740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97316"/>
                </a:solidFill>
              </a:rPr>
              <a:t>⑩</a:t>
            </a:r>
            <a:endParaRPr lang="en-US" sz="1400" dirty="0"/>
          </a:p>
        </p:txBody>
      </p:sp>
      <p:sp>
        <p:nvSpPr>
          <p:cNvPr id="68" name="Text 66"/>
          <p:cNvSpPr/>
          <p:nvPr/>
        </p:nvSpPr>
        <p:spPr>
          <a:xfrm>
            <a:off x="5285232" y="4416552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EAF4"/>
                </a:solidFill>
              </a:rPr>
              <a:t>Steps &amp; Sleep Forecast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5285232" y="4645152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6"/>
                </a:solidFill>
              </a:rPr>
              <a:t>Prophet 80% CI, multi-series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" cy="5143500"/>
          </a:xfrm>
          <a:prstGeom prst="rect">
            <a:avLst/>
          </a:prstGeom>
          <a:solidFill>
            <a:srgbClr val="63D7C4">
              <a:alpha val="30000"/>
            </a:srgbClr>
          </a:solidFill>
          <a:ln w="12700">
            <a:solidFill>
              <a:srgbClr val="63D7C4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07424" y="0"/>
            <a:ext cx="36576" cy="5143500"/>
          </a:xfrm>
          <a:prstGeom prst="rect">
            <a:avLst/>
          </a:prstGeom>
          <a:solidFill>
            <a:srgbClr val="63D7C4">
              <a:alpha val="30000"/>
            </a:srgbClr>
          </a:solidFill>
          <a:ln w="12700">
            <a:solidFill>
              <a:srgbClr val="63D7C4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22860"/>
          </a:xfrm>
          <a:prstGeom prst="rect">
            <a:avLst/>
          </a:prstGeom>
          <a:solidFill>
            <a:srgbClr val="63D7C4">
              <a:alpha val="40000"/>
            </a:srgbClr>
          </a:solidFill>
          <a:ln w="12700">
            <a:solidFill>
              <a:srgbClr val="63D7C4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256032"/>
            <a:ext cx="1828800" cy="256032"/>
          </a:xfrm>
          <a:prstGeom prst="rect">
            <a:avLst/>
          </a:prstGeom>
          <a:solidFill>
            <a:srgbClr val="63D7C4">
              <a:alpha val="18000"/>
            </a:srgbClr>
          </a:solidFill>
          <a:ln w="12700">
            <a:solidFill>
              <a:srgbClr val="63D7C4">
                <a:alpha val="4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2560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63D7C4"/>
                </a:solidFill>
              </a:rPr>
              <a:t>PLATFORM WALKTHROUGH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560320" y="256032"/>
            <a:ext cx="1463040" cy="246888"/>
          </a:xfrm>
          <a:prstGeom prst="rect">
            <a:avLst/>
          </a:prstGeom>
          <a:solidFill>
            <a:srgbClr val="F97316">
              <a:alpha val="15000"/>
            </a:srgbClr>
          </a:solidFill>
          <a:ln w="12700">
            <a:solidFill>
              <a:srgbClr val="F97316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0" y="256032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97316"/>
                </a:solidFill>
              </a:rPr>
              <a:t>PREPROCESSING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02920" y="5669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Walkthrough — Preprocessing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320040" y="1371600"/>
            <a:ext cx="2788920" cy="3520440"/>
          </a:xfrm>
          <a:prstGeom prst="rect">
            <a:avLst/>
          </a:prstGeom>
          <a:solidFill>
            <a:srgbClr val="0D1526">
              <a:alpha val="90000"/>
            </a:srgbClr>
          </a:solidFill>
          <a:ln w="12700">
            <a:solidFill>
              <a:srgbClr val="63D7C4">
                <a:alpha val="2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371600"/>
            <a:ext cx="50292" cy="3520440"/>
          </a:xfrm>
          <a:prstGeom prst="rect">
            <a:avLst/>
          </a:prstGeom>
          <a:solidFill>
            <a:srgbClr val="63D7C4"/>
          </a:solidFill>
          <a:ln w="12700">
            <a:solidFill>
              <a:srgbClr val="63D7C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1444752"/>
            <a:ext cx="822960" cy="292608"/>
          </a:xfrm>
          <a:prstGeom prst="rect">
            <a:avLst/>
          </a:prstGeom>
          <a:solidFill>
            <a:srgbClr val="63D7C4">
              <a:alpha val="20000"/>
            </a:srgbClr>
          </a:solidFill>
          <a:ln w="12700">
            <a:solidFill>
              <a:srgbClr val="63D7C4">
                <a:alpha val="4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44475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63D7C4"/>
                </a:solidFill>
              </a:rPr>
              <a:t>Step 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1792224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2EAF4"/>
                </a:solidFill>
              </a:rPr>
              <a:t>Upload Dataset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" y="2212848"/>
            <a:ext cx="2487168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B7A96"/>
                </a:solidFill>
              </a:rPr>
              <a:t>User uploads a fitness CSV — platform auto-detects file, validates format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B7A96"/>
                </a:solidFill>
              </a:rPr>
              <a:t>Loads 36,500 rows × 16 columns instantly via Streamlit file_uploader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B7A96"/>
                </a:solidFill>
              </a:rPr>
              <a:t>Supports drag-and-drop or file browse — up to 200 MB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B7A96"/>
                </a:solidFill>
              </a:rPr>
              <a:t>Raw data preview shown immediately after load (first 10 rows)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B7A96"/>
                </a:solidFill>
              </a:rPr>
              <a:t>Row and column count confirmed with success alert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64408" y="1371600"/>
            <a:ext cx="2788920" cy="3520440"/>
          </a:xfrm>
          <a:prstGeom prst="rect">
            <a:avLst/>
          </a:prstGeom>
          <a:solidFill>
            <a:srgbClr val="0D1526">
              <a:alpha val="90000"/>
            </a:srgbClr>
          </a:solidFill>
          <a:ln w="12700">
            <a:solidFill>
              <a:srgbClr val="F97316">
                <a:alpha val="2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64408" y="1371600"/>
            <a:ext cx="50292" cy="35204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55848" y="1444752"/>
            <a:ext cx="822960" cy="292608"/>
          </a:xfrm>
          <a:prstGeom prst="rect">
            <a:avLst/>
          </a:prstGeom>
          <a:solidFill>
            <a:srgbClr val="F97316">
              <a:alpha val="20000"/>
            </a:srgbClr>
          </a:solidFill>
          <a:ln w="12700">
            <a:solidFill>
              <a:srgbClr val="F97316">
                <a:alpha val="4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55848" y="144475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97316"/>
                </a:solidFill>
              </a:rPr>
              <a:t>Step 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401568" y="1792224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2EAF4"/>
                </a:solidFill>
              </a:rPr>
              <a:t>Null Detection &amp; Visualisation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429000" y="2212848"/>
            <a:ext cx="2487168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B7A96"/>
                </a:solidFill>
              </a:rPr>
              <a:t>Total Rows: 36,500  |  Columns: 16  |  Missing Cells: 21,951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B7A96"/>
                </a:solidFill>
              </a:rPr>
              <a:t>Interactive bar chart rendered for all columns with missing data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B7A96"/>
                </a:solidFill>
              </a:rPr>
              <a:t>Breakdown: Workout Type 9,192 · Water Intake 5,401 · Hours Slept 3,659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B7A96"/>
                </a:solidFill>
              </a:rPr>
              <a:t>Active Minutes 1,867 · Heart Rate 1,832 null entries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B7A96"/>
                </a:solidFill>
              </a:rPr>
              <a:t>Zero missing confirmed on all other non-null columns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208776" y="1371600"/>
            <a:ext cx="2788920" cy="3520440"/>
          </a:xfrm>
          <a:prstGeom prst="rect">
            <a:avLst/>
          </a:prstGeom>
          <a:solidFill>
            <a:srgbClr val="0D1526">
              <a:alpha val="90000"/>
            </a:srgbClr>
          </a:solidFill>
          <a:ln w="12700">
            <a:solidFill>
              <a:srgbClr val="818CF8">
                <a:alpha val="2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08776" y="1371600"/>
            <a:ext cx="50292" cy="352044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00216" y="1444752"/>
            <a:ext cx="822960" cy="292608"/>
          </a:xfrm>
          <a:prstGeom prst="rect">
            <a:avLst/>
          </a:prstGeom>
          <a:solidFill>
            <a:srgbClr val="818CF8">
              <a:alpha val="20000"/>
            </a:srgbClr>
          </a:solidFill>
          <a:ln w="12700">
            <a:solidFill>
              <a:srgbClr val="818CF8">
                <a:alpha val="4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0216" y="144475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818CF8"/>
                </a:solidFill>
              </a:rPr>
              <a:t>Step 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345936" y="1792224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2EAF4"/>
                </a:solidFill>
              </a:rPr>
              <a:t>Interpolation &amp; Fill Strategy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73368" y="2212848"/>
            <a:ext cx="2487168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B7A96"/>
                </a:solidFill>
              </a:rPr>
              <a:t>Numeric Columns: Linear interpolation via df.interpolate() — preserves distribution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B7A96"/>
                </a:solidFill>
              </a:rPr>
              <a:t>Categorical Columns: Filled with 'Unknown' — prevents row loss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B7A96"/>
                </a:solidFill>
              </a:rPr>
              <a:t>Result: Zero missing values in cleaned dataset — confirmed post-clean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B7A96"/>
                </a:solidFill>
              </a:rPr>
              <a:t>Clean CSV downloadable via st.download_button()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B7A96"/>
                </a:solidFill>
              </a:rPr>
              <a:t>EDA histograms with KDE overlay rendered in 2-column pairwise layout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3BF109-3D7F-6CA7-9AE0-18BBA2ADB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0">
            <a:extLst>
              <a:ext uri="{FF2B5EF4-FFF2-40B4-BE49-F238E27FC236}">
                <a16:creationId xmlns:a16="http://schemas.microsoft.com/office/drawing/2014/main" id="{32ED256B-D201-57ED-5E3E-A84CDDCDF30C}"/>
              </a:ext>
            </a:extLst>
          </p:cNvPr>
          <p:cNvSpPr/>
          <p:nvPr/>
        </p:nvSpPr>
        <p:spPr>
          <a:xfrm>
            <a:off x="0" y="0"/>
            <a:ext cx="36576" cy="5143500"/>
          </a:xfrm>
          <a:prstGeom prst="rect">
            <a:avLst/>
          </a:prstGeom>
          <a:solidFill>
            <a:srgbClr val="63D7C4">
              <a:alpha val="30000"/>
            </a:srgbClr>
          </a:solidFill>
          <a:ln w="12700">
            <a:solidFill>
              <a:srgbClr val="63D7C4">
                <a:alpha val="30000"/>
              </a:srgbClr>
            </a:solidFill>
            <a:prstDash val="solid"/>
          </a:ln>
        </p:spPr>
      </p:sp>
      <p:sp>
        <p:nvSpPr>
          <p:cNvPr id="29" name="Shape 2">
            <a:extLst>
              <a:ext uri="{FF2B5EF4-FFF2-40B4-BE49-F238E27FC236}">
                <a16:creationId xmlns:a16="http://schemas.microsoft.com/office/drawing/2014/main" id="{2207AC1F-27E4-3133-8B0E-10E011B3EFE0}"/>
              </a:ext>
            </a:extLst>
          </p:cNvPr>
          <p:cNvSpPr/>
          <p:nvPr/>
        </p:nvSpPr>
        <p:spPr>
          <a:xfrm>
            <a:off x="0" y="0"/>
            <a:ext cx="9144000" cy="22860"/>
          </a:xfrm>
          <a:prstGeom prst="rect">
            <a:avLst/>
          </a:prstGeom>
          <a:solidFill>
            <a:srgbClr val="63D7C4">
              <a:alpha val="40000"/>
            </a:srgbClr>
          </a:solidFill>
          <a:ln w="12700">
            <a:solidFill>
              <a:srgbClr val="63D7C4">
                <a:alpha val="40000"/>
              </a:srgbClr>
            </a:solidFill>
            <a:prstDash val="solid"/>
          </a:ln>
        </p:spPr>
      </p:sp>
      <p:sp>
        <p:nvSpPr>
          <p:cNvPr id="30" name="Shape 1">
            <a:extLst>
              <a:ext uri="{FF2B5EF4-FFF2-40B4-BE49-F238E27FC236}">
                <a16:creationId xmlns:a16="http://schemas.microsoft.com/office/drawing/2014/main" id="{E137EA40-85F0-9A2D-B632-112753543361}"/>
              </a:ext>
            </a:extLst>
          </p:cNvPr>
          <p:cNvSpPr/>
          <p:nvPr/>
        </p:nvSpPr>
        <p:spPr>
          <a:xfrm>
            <a:off x="9107424" y="0"/>
            <a:ext cx="36576" cy="5143500"/>
          </a:xfrm>
          <a:prstGeom prst="rect">
            <a:avLst/>
          </a:prstGeom>
          <a:solidFill>
            <a:srgbClr val="63D7C4">
              <a:alpha val="30000"/>
            </a:srgbClr>
          </a:solidFill>
          <a:ln w="12700">
            <a:solidFill>
              <a:srgbClr val="63D7C4">
                <a:alpha val="30000"/>
              </a:srgbClr>
            </a:solidFill>
            <a:prstDash val="solid"/>
          </a:ln>
        </p:spPr>
      </p:sp>
      <p:sp>
        <p:nvSpPr>
          <p:cNvPr id="31" name="Shape 2">
            <a:extLst>
              <a:ext uri="{FF2B5EF4-FFF2-40B4-BE49-F238E27FC236}">
                <a16:creationId xmlns:a16="http://schemas.microsoft.com/office/drawing/2014/main" id="{A4DABFA6-9CD4-3CA7-9C77-79DD710E52E0}"/>
              </a:ext>
            </a:extLst>
          </p:cNvPr>
          <p:cNvSpPr/>
          <p:nvPr/>
        </p:nvSpPr>
        <p:spPr>
          <a:xfrm>
            <a:off x="0" y="5132070"/>
            <a:ext cx="9144000" cy="22860"/>
          </a:xfrm>
          <a:prstGeom prst="rect">
            <a:avLst/>
          </a:prstGeom>
          <a:solidFill>
            <a:srgbClr val="63D7C4">
              <a:alpha val="40000"/>
            </a:srgbClr>
          </a:solidFill>
          <a:ln w="12700">
            <a:solidFill>
              <a:srgbClr val="63D7C4">
                <a:alpha val="40000"/>
              </a:srgbClr>
            </a:solidFill>
            <a:prstDash val="solid"/>
          </a:ln>
        </p:spPr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4C6C709-5411-F05E-C289-C692BEF56D5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548" t="18218" r="1200"/>
          <a:stretch>
            <a:fillRect/>
          </a:stretch>
        </p:blipFill>
        <p:spPr>
          <a:xfrm>
            <a:off x="857162" y="1046542"/>
            <a:ext cx="7429676" cy="391671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D172034-E058-B4C2-CFEA-2ED85649266F}"/>
              </a:ext>
            </a:extLst>
          </p:cNvPr>
          <p:cNvSpPr txBox="1"/>
          <p:nvPr/>
        </p:nvSpPr>
        <p:spPr>
          <a:xfrm>
            <a:off x="258274" y="268138"/>
            <a:ext cx="45785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– Result :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358069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ED2F6C-7171-92DB-405E-21607717D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0">
            <a:extLst>
              <a:ext uri="{FF2B5EF4-FFF2-40B4-BE49-F238E27FC236}">
                <a16:creationId xmlns:a16="http://schemas.microsoft.com/office/drawing/2014/main" id="{738A7243-782E-904B-2975-AB93177ABFE8}"/>
              </a:ext>
            </a:extLst>
          </p:cNvPr>
          <p:cNvSpPr/>
          <p:nvPr/>
        </p:nvSpPr>
        <p:spPr>
          <a:xfrm>
            <a:off x="0" y="0"/>
            <a:ext cx="36576" cy="5143500"/>
          </a:xfrm>
          <a:prstGeom prst="rect">
            <a:avLst/>
          </a:prstGeom>
          <a:solidFill>
            <a:srgbClr val="63D7C4">
              <a:alpha val="30000"/>
            </a:srgbClr>
          </a:solidFill>
          <a:ln w="12700">
            <a:solidFill>
              <a:srgbClr val="63D7C4">
                <a:alpha val="30000"/>
              </a:srgbClr>
            </a:solidFill>
            <a:prstDash val="solid"/>
          </a:ln>
        </p:spPr>
      </p:sp>
      <p:sp>
        <p:nvSpPr>
          <p:cNvPr id="29" name="Shape 2">
            <a:extLst>
              <a:ext uri="{FF2B5EF4-FFF2-40B4-BE49-F238E27FC236}">
                <a16:creationId xmlns:a16="http://schemas.microsoft.com/office/drawing/2014/main" id="{3E0B68CD-52D7-F961-C888-D444FE63EDDF}"/>
              </a:ext>
            </a:extLst>
          </p:cNvPr>
          <p:cNvSpPr/>
          <p:nvPr/>
        </p:nvSpPr>
        <p:spPr>
          <a:xfrm>
            <a:off x="0" y="0"/>
            <a:ext cx="9144000" cy="22860"/>
          </a:xfrm>
          <a:prstGeom prst="rect">
            <a:avLst/>
          </a:prstGeom>
          <a:solidFill>
            <a:srgbClr val="63D7C4">
              <a:alpha val="40000"/>
            </a:srgbClr>
          </a:solidFill>
          <a:ln w="12700">
            <a:solidFill>
              <a:srgbClr val="63D7C4">
                <a:alpha val="40000"/>
              </a:srgbClr>
            </a:solidFill>
            <a:prstDash val="solid"/>
          </a:ln>
        </p:spPr>
      </p:sp>
      <p:sp>
        <p:nvSpPr>
          <p:cNvPr id="30" name="Shape 1">
            <a:extLst>
              <a:ext uri="{FF2B5EF4-FFF2-40B4-BE49-F238E27FC236}">
                <a16:creationId xmlns:a16="http://schemas.microsoft.com/office/drawing/2014/main" id="{DB73820D-26BB-4474-2A2D-D23916B40530}"/>
              </a:ext>
            </a:extLst>
          </p:cNvPr>
          <p:cNvSpPr/>
          <p:nvPr/>
        </p:nvSpPr>
        <p:spPr>
          <a:xfrm>
            <a:off x="9107424" y="0"/>
            <a:ext cx="36576" cy="5143500"/>
          </a:xfrm>
          <a:prstGeom prst="rect">
            <a:avLst/>
          </a:prstGeom>
          <a:solidFill>
            <a:srgbClr val="63D7C4">
              <a:alpha val="30000"/>
            </a:srgbClr>
          </a:solidFill>
          <a:ln w="12700">
            <a:solidFill>
              <a:srgbClr val="63D7C4">
                <a:alpha val="30000"/>
              </a:srgbClr>
            </a:solidFill>
            <a:prstDash val="solid"/>
          </a:ln>
        </p:spPr>
      </p:sp>
      <p:sp>
        <p:nvSpPr>
          <p:cNvPr id="31" name="Shape 2">
            <a:extLst>
              <a:ext uri="{FF2B5EF4-FFF2-40B4-BE49-F238E27FC236}">
                <a16:creationId xmlns:a16="http://schemas.microsoft.com/office/drawing/2014/main" id="{6D8FEFD1-7E81-7B17-A4EB-8005E7A82C35}"/>
              </a:ext>
            </a:extLst>
          </p:cNvPr>
          <p:cNvSpPr/>
          <p:nvPr/>
        </p:nvSpPr>
        <p:spPr>
          <a:xfrm>
            <a:off x="0" y="5132070"/>
            <a:ext cx="9144000" cy="22860"/>
          </a:xfrm>
          <a:prstGeom prst="rect">
            <a:avLst/>
          </a:prstGeom>
          <a:solidFill>
            <a:srgbClr val="63D7C4">
              <a:alpha val="40000"/>
            </a:srgbClr>
          </a:solidFill>
          <a:ln w="12700">
            <a:solidFill>
              <a:srgbClr val="63D7C4">
                <a:alpha val="40000"/>
              </a:srgbClr>
            </a:solidFill>
            <a:prstDash val="solid"/>
          </a:ln>
        </p:spPr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DE4BF5-D139-A23C-970B-E1FCB2FB37D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188"/>
          <a:stretch>
            <a:fillRect/>
          </a:stretch>
        </p:blipFill>
        <p:spPr>
          <a:xfrm>
            <a:off x="788317" y="245745"/>
            <a:ext cx="7480848" cy="4663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8945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5D9DDA-43B8-55B7-F287-51EB10E09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0">
            <a:extLst>
              <a:ext uri="{FF2B5EF4-FFF2-40B4-BE49-F238E27FC236}">
                <a16:creationId xmlns:a16="http://schemas.microsoft.com/office/drawing/2014/main" id="{1E060153-DA5F-5566-3361-C576F5167A3B}"/>
              </a:ext>
            </a:extLst>
          </p:cNvPr>
          <p:cNvSpPr/>
          <p:nvPr/>
        </p:nvSpPr>
        <p:spPr>
          <a:xfrm>
            <a:off x="0" y="0"/>
            <a:ext cx="36576" cy="5143500"/>
          </a:xfrm>
          <a:prstGeom prst="rect">
            <a:avLst/>
          </a:prstGeom>
          <a:solidFill>
            <a:srgbClr val="63D7C4">
              <a:alpha val="30000"/>
            </a:srgbClr>
          </a:solidFill>
          <a:ln w="12700">
            <a:solidFill>
              <a:srgbClr val="63D7C4">
                <a:alpha val="30000"/>
              </a:srgbClr>
            </a:solidFill>
            <a:prstDash val="solid"/>
          </a:ln>
        </p:spPr>
      </p:sp>
      <p:sp>
        <p:nvSpPr>
          <p:cNvPr id="29" name="Shape 2">
            <a:extLst>
              <a:ext uri="{FF2B5EF4-FFF2-40B4-BE49-F238E27FC236}">
                <a16:creationId xmlns:a16="http://schemas.microsoft.com/office/drawing/2014/main" id="{6173CD0D-194F-AB6D-0522-4AC824581F6E}"/>
              </a:ext>
            </a:extLst>
          </p:cNvPr>
          <p:cNvSpPr/>
          <p:nvPr/>
        </p:nvSpPr>
        <p:spPr>
          <a:xfrm>
            <a:off x="0" y="0"/>
            <a:ext cx="9144000" cy="22860"/>
          </a:xfrm>
          <a:prstGeom prst="rect">
            <a:avLst/>
          </a:prstGeom>
          <a:solidFill>
            <a:srgbClr val="63D7C4">
              <a:alpha val="40000"/>
            </a:srgbClr>
          </a:solidFill>
          <a:ln w="12700">
            <a:solidFill>
              <a:srgbClr val="63D7C4">
                <a:alpha val="40000"/>
              </a:srgbClr>
            </a:solidFill>
            <a:prstDash val="solid"/>
          </a:ln>
        </p:spPr>
      </p:sp>
      <p:sp>
        <p:nvSpPr>
          <p:cNvPr id="30" name="Shape 1">
            <a:extLst>
              <a:ext uri="{FF2B5EF4-FFF2-40B4-BE49-F238E27FC236}">
                <a16:creationId xmlns:a16="http://schemas.microsoft.com/office/drawing/2014/main" id="{DD41C949-E0D8-3E03-607C-F5398600C9C3}"/>
              </a:ext>
            </a:extLst>
          </p:cNvPr>
          <p:cNvSpPr/>
          <p:nvPr/>
        </p:nvSpPr>
        <p:spPr>
          <a:xfrm>
            <a:off x="9107424" y="0"/>
            <a:ext cx="36576" cy="5143500"/>
          </a:xfrm>
          <a:prstGeom prst="rect">
            <a:avLst/>
          </a:prstGeom>
          <a:solidFill>
            <a:srgbClr val="63D7C4">
              <a:alpha val="30000"/>
            </a:srgbClr>
          </a:solidFill>
          <a:ln w="12700">
            <a:solidFill>
              <a:srgbClr val="63D7C4">
                <a:alpha val="30000"/>
              </a:srgbClr>
            </a:solidFill>
            <a:prstDash val="solid"/>
          </a:ln>
        </p:spPr>
      </p:sp>
      <p:sp>
        <p:nvSpPr>
          <p:cNvPr id="31" name="Shape 2">
            <a:extLst>
              <a:ext uri="{FF2B5EF4-FFF2-40B4-BE49-F238E27FC236}">
                <a16:creationId xmlns:a16="http://schemas.microsoft.com/office/drawing/2014/main" id="{19B26711-5E1E-C59E-DD2C-7A52EE21912D}"/>
              </a:ext>
            </a:extLst>
          </p:cNvPr>
          <p:cNvSpPr/>
          <p:nvPr/>
        </p:nvSpPr>
        <p:spPr>
          <a:xfrm>
            <a:off x="0" y="5132070"/>
            <a:ext cx="9144000" cy="22860"/>
          </a:xfrm>
          <a:prstGeom prst="rect">
            <a:avLst/>
          </a:prstGeom>
          <a:solidFill>
            <a:srgbClr val="63D7C4">
              <a:alpha val="40000"/>
            </a:srgbClr>
          </a:solidFill>
          <a:ln w="12700">
            <a:solidFill>
              <a:srgbClr val="63D7C4">
                <a:alpha val="40000"/>
              </a:srgbClr>
            </a:solidFill>
            <a:prstDash val="solid"/>
          </a:ln>
        </p:spPr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349C731-4CF6-E3B7-12A3-D11DDEA715E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450" t="16402"/>
          <a:stretch>
            <a:fillRect/>
          </a:stretch>
        </p:blipFill>
        <p:spPr>
          <a:xfrm>
            <a:off x="797814" y="430823"/>
            <a:ext cx="7548372" cy="4156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4786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33A844-8A01-BC08-280D-CD20940B1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0">
            <a:extLst>
              <a:ext uri="{FF2B5EF4-FFF2-40B4-BE49-F238E27FC236}">
                <a16:creationId xmlns:a16="http://schemas.microsoft.com/office/drawing/2014/main" id="{C774B285-BD96-79DA-8AAF-B6003D897F8D}"/>
              </a:ext>
            </a:extLst>
          </p:cNvPr>
          <p:cNvSpPr/>
          <p:nvPr/>
        </p:nvSpPr>
        <p:spPr>
          <a:xfrm>
            <a:off x="0" y="0"/>
            <a:ext cx="36576" cy="5143500"/>
          </a:xfrm>
          <a:prstGeom prst="rect">
            <a:avLst/>
          </a:prstGeom>
          <a:solidFill>
            <a:srgbClr val="63D7C4">
              <a:alpha val="30000"/>
            </a:srgbClr>
          </a:solidFill>
          <a:ln w="12700">
            <a:solidFill>
              <a:srgbClr val="63D7C4">
                <a:alpha val="30000"/>
              </a:srgbClr>
            </a:solidFill>
            <a:prstDash val="solid"/>
          </a:ln>
        </p:spPr>
      </p:sp>
      <p:sp>
        <p:nvSpPr>
          <p:cNvPr id="29" name="Shape 2">
            <a:extLst>
              <a:ext uri="{FF2B5EF4-FFF2-40B4-BE49-F238E27FC236}">
                <a16:creationId xmlns:a16="http://schemas.microsoft.com/office/drawing/2014/main" id="{0104F769-AA21-60CA-8909-F1F9C52D27D2}"/>
              </a:ext>
            </a:extLst>
          </p:cNvPr>
          <p:cNvSpPr/>
          <p:nvPr/>
        </p:nvSpPr>
        <p:spPr>
          <a:xfrm>
            <a:off x="0" y="0"/>
            <a:ext cx="9144000" cy="22860"/>
          </a:xfrm>
          <a:prstGeom prst="rect">
            <a:avLst/>
          </a:prstGeom>
          <a:solidFill>
            <a:srgbClr val="63D7C4">
              <a:alpha val="40000"/>
            </a:srgbClr>
          </a:solidFill>
          <a:ln w="12700">
            <a:solidFill>
              <a:srgbClr val="63D7C4">
                <a:alpha val="40000"/>
              </a:srgbClr>
            </a:solidFill>
            <a:prstDash val="solid"/>
          </a:ln>
        </p:spPr>
      </p:sp>
      <p:sp>
        <p:nvSpPr>
          <p:cNvPr id="30" name="Shape 1">
            <a:extLst>
              <a:ext uri="{FF2B5EF4-FFF2-40B4-BE49-F238E27FC236}">
                <a16:creationId xmlns:a16="http://schemas.microsoft.com/office/drawing/2014/main" id="{AB912C48-9FCA-1455-FD60-91A3F37F9478}"/>
              </a:ext>
            </a:extLst>
          </p:cNvPr>
          <p:cNvSpPr/>
          <p:nvPr/>
        </p:nvSpPr>
        <p:spPr>
          <a:xfrm>
            <a:off x="9107424" y="0"/>
            <a:ext cx="36576" cy="5143500"/>
          </a:xfrm>
          <a:prstGeom prst="rect">
            <a:avLst/>
          </a:prstGeom>
          <a:solidFill>
            <a:srgbClr val="63D7C4">
              <a:alpha val="30000"/>
            </a:srgbClr>
          </a:solidFill>
          <a:ln w="12700">
            <a:solidFill>
              <a:srgbClr val="63D7C4">
                <a:alpha val="30000"/>
              </a:srgbClr>
            </a:solidFill>
            <a:prstDash val="solid"/>
          </a:ln>
        </p:spPr>
      </p:sp>
      <p:sp>
        <p:nvSpPr>
          <p:cNvPr id="31" name="Shape 2">
            <a:extLst>
              <a:ext uri="{FF2B5EF4-FFF2-40B4-BE49-F238E27FC236}">
                <a16:creationId xmlns:a16="http://schemas.microsoft.com/office/drawing/2014/main" id="{016F88B9-E5A8-E0A8-0FB8-1C928FC378B1}"/>
              </a:ext>
            </a:extLst>
          </p:cNvPr>
          <p:cNvSpPr/>
          <p:nvPr/>
        </p:nvSpPr>
        <p:spPr>
          <a:xfrm>
            <a:off x="0" y="5132070"/>
            <a:ext cx="9144000" cy="22860"/>
          </a:xfrm>
          <a:prstGeom prst="rect">
            <a:avLst/>
          </a:prstGeom>
          <a:solidFill>
            <a:srgbClr val="63D7C4">
              <a:alpha val="40000"/>
            </a:srgbClr>
          </a:solidFill>
          <a:ln w="12700">
            <a:solidFill>
              <a:srgbClr val="63D7C4">
                <a:alpha val="40000"/>
              </a:srgbClr>
            </a:solidFill>
            <a:prstDash val="solid"/>
          </a:ln>
        </p:spPr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6A1A32-01E9-E184-0B6A-95530549B1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912" t="4684"/>
          <a:stretch>
            <a:fillRect/>
          </a:stretch>
        </p:blipFill>
        <p:spPr>
          <a:xfrm>
            <a:off x="1006719" y="120454"/>
            <a:ext cx="7287543" cy="4902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7172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" cy="5143500"/>
          </a:xfrm>
          <a:prstGeom prst="rect">
            <a:avLst/>
          </a:prstGeom>
          <a:solidFill>
            <a:srgbClr val="63D7C4">
              <a:alpha val="30000"/>
            </a:srgbClr>
          </a:solidFill>
          <a:ln w="12700">
            <a:solidFill>
              <a:srgbClr val="63D7C4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07424" y="0"/>
            <a:ext cx="36576" cy="5143500"/>
          </a:xfrm>
          <a:prstGeom prst="rect">
            <a:avLst/>
          </a:prstGeom>
          <a:solidFill>
            <a:srgbClr val="63D7C4">
              <a:alpha val="30000"/>
            </a:srgbClr>
          </a:solidFill>
          <a:ln w="12700">
            <a:solidFill>
              <a:srgbClr val="63D7C4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22860"/>
          </a:xfrm>
          <a:prstGeom prst="rect">
            <a:avLst/>
          </a:prstGeom>
          <a:solidFill>
            <a:srgbClr val="63D7C4">
              <a:alpha val="40000"/>
            </a:srgbClr>
          </a:solidFill>
          <a:ln w="12700">
            <a:solidFill>
              <a:srgbClr val="63D7C4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256032"/>
            <a:ext cx="1828800" cy="256032"/>
          </a:xfrm>
          <a:prstGeom prst="rect">
            <a:avLst/>
          </a:prstGeom>
          <a:solidFill>
            <a:srgbClr val="63D7C4">
              <a:alpha val="18000"/>
            </a:srgbClr>
          </a:solidFill>
          <a:ln w="12700">
            <a:solidFill>
              <a:srgbClr val="63D7C4">
                <a:alpha val="4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2560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63D7C4"/>
                </a:solidFill>
              </a:rPr>
              <a:t>PATTERN EXTRACTION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560320" y="256032"/>
            <a:ext cx="1463040" cy="246888"/>
          </a:xfrm>
          <a:prstGeom prst="rect">
            <a:avLst/>
          </a:prstGeom>
          <a:solidFill>
            <a:srgbClr val="F97316">
              <a:alpha val="15000"/>
            </a:srgbClr>
          </a:solidFill>
          <a:ln w="12700">
            <a:solidFill>
              <a:srgbClr val="F97316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0" y="256032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97316"/>
                </a:solidFill>
              </a:rPr>
              <a:t>MILESTONE 2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02920" y="5669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Extraction — File Detection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02920" y="11704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A96"/>
                </a:solidFill>
              </a:rPr>
              <a:t>Step 1 &amp; 2 — Upload &amp; Auto-Detect 5 Fitbit CSVs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1536192"/>
            <a:ext cx="1572768" cy="1828800"/>
          </a:xfrm>
          <a:prstGeom prst="rect">
            <a:avLst/>
          </a:prstGeom>
          <a:solidFill>
            <a:srgbClr val="0D1526"/>
          </a:solidFill>
          <a:ln w="12700">
            <a:solidFill>
              <a:srgbClr val="63D7C4">
                <a:alpha val="4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1536192"/>
            <a:ext cx="1572768" cy="45720"/>
          </a:xfrm>
          <a:prstGeom prst="rect">
            <a:avLst/>
          </a:prstGeom>
          <a:solidFill>
            <a:srgbClr val="63D7C4"/>
          </a:solidFill>
          <a:ln w="12700">
            <a:solidFill>
              <a:srgbClr val="63D7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664208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🏃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48640" y="221284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2EAF4"/>
                </a:solidFill>
              </a:rPr>
              <a:t>Daily Activity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0352" y="2578608"/>
            <a:ext cx="14447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A96"/>
                </a:solidFill>
              </a:rPr>
              <a:t>Detected by TotalSteps,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B7A96"/>
                </a:solidFill>
              </a:rPr>
              <a:t>Calories, VeryActiveMinutes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31520" y="3291840"/>
            <a:ext cx="1005840" cy="219456"/>
          </a:xfrm>
          <a:prstGeom prst="rect">
            <a:avLst/>
          </a:prstGeom>
          <a:solidFill>
            <a:srgbClr val="63D7C4">
              <a:alpha val="20000"/>
            </a:srgbClr>
          </a:solidFill>
          <a:ln w="12700">
            <a:solidFill>
              <a:srgbClr val="63D7C4">
                <a:alpha val="4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29184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3D7C4"/>
                </a:solidFill>
              </a:rPr>
              <a:t>Found ✓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212848" y="1536192"/>
            <a:ext cx="1572768" cy="1828800"/>
          </a:xfrm>
          <a:prstGeom prst="rect">
            <a:avLst/>
          </a:prstGeom>
          <a:solidFill>
            <a:srgbClr val="0D1526"/>
          </a:solidFill>
          <a:ln w="12700">
            <a:solidFill>
              <a:srgbClr val="F97316">
                <a:alpha val="4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212848" y="1536192"/>
            <a:ext cx="1572768" cy="457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12848" y="1664208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👣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2304288" y="221284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2EAF4"/>
                </a:solidFill>
              </a:rPr>
              <a:t>Hourly Steps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286000" y="2578608"/>
            <a:ext cx="14447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A96"/>
                </a:solidFill>
              </a:rPr>
              <a:t>Detected by StepTotal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B7A96"/>
                </a:solidFill>
              </a:rPr>
              <a:t>column signature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487168" y="3291840"/>
            <a:ext cx="1005840" cy="219456"/>
          </a:xfrm>
          <a:prstGeom prst="rect">
            <a:avLst/>
          </a:prstGeom>
          <a:solidFill>
            <a:srgbClr val="F97316">
              <a:alpha val="20000"/>
            </a:srgbClr>
          </a:solidFill>
          <a:ln w="12700">
            <a:solidFill>
              <a:srgbClr val="F97316">
                <a:alpha val="4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487168" y="329184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97316"/>
                </a:solidFill>
              </a:rPr>
              <a:t>Found ✓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968496" y="1536192"/>
            <a:ext cx="1572768" cy="1828800"/>
          </a:xfrm>
          <a:prstGeom prst="rect">
            <a:avLst/>
          </a:prstGeom>
          <a:solidFill>
            <a:srgbClr val="0D1526"/>
          </a:solidFill>
          <a:ln w="12700">
            <a:solidFill>
              <a:srgbClr val="818CF8">
                <a:alpha val="4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968496" y="1536192"/>
            <a:ext cx="1572768" cy="4572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968496" y="1664208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4059936" y="221284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2EAF4"/>
                </a:solidFill>
              </a:rPr>
              <a:t>Hourly Intensities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041648" y="2578608"/>
            <a:ext cx="14447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A96"/>
                </a:solidFill>
              </a:rPr>
              <a:t>TotalIntensity,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B7A96"/>
                </a:solidFill>
              </a:rPr>
              <a:t>AverageIntensity columns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242816" y="3291840"/>
            <a:ext cx="1005840" cy="219456"/>
          </a:xfrm>
          <a:prstGeom prst="rect">
            <a:avLst/>
          </a:prstGeom>
          <a:solidFill>
            <a:srgbClr val="818CF8">
              <a:alpha val="20000"/>
            </a:srgbClr>
          </a:solidFill>
          <a:ln w="12700">
            <a:solidFill>
              <a:srgbClr val="818CF8">
                <a:alpha val="4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42816" y="329184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18CF8"/>
                </a:solidFill>
              </a:rPr>
              <a:t>Found ✓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724144" y="1536192"/>
            <a:ext cx="1572768" cy="1828800"/>
          </a:xfrm>
          <a:prstGeom prst="rect">
            <a:avLst/>
          </a:prstGeom>
          <a:solidFill>
            <a:srgbClr val="0D1526"/>
          </a:solidFill>
          <a:ln w="12700">
            <a:solidFill>
              <a:srgbClr val="FBBF24">
                <a:alpha val="4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724144" y="1536192"/>
            <a:ext cx="1572768" cy="457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24144" y="1664208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💤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5815584" y="221284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2EAF4"/>
                </a:solidFill>
              </a:rPr>
              <a:t>Minute Sleep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797296" y="2578608"/>
            <a:ext cx="14447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A96"/>
                </a:solidFill>
              </a:rPr>
              <a:t>Detected by logId,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B7A96"/>
                </a:solidFill>
              </a:rPr>
              <a:t>value, date columns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998464" y="3291840"/>
            <a:ext cx="1005840" cy="219456"/>
          </a:xfrm>
          <a:prstGeom prst="rect">
            <a:avLst/>
          </a:prstGeom>
          <a:solidFill>
            <a:srgbClr val="FBBF24">
              <a:alpha val="20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98464" y="329184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BBF24"/>
                </a:solidFill>
              </a:rPr>
              <a:t>Found ✓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7479792" y="1536192"/>
            <a:ext cx="1572768" cy="1828800"/>
          </a:xfrm>
          <a:prstGeom prst="rect">
            <a:avLst/>
          </a:prstGeom>
          <a:solidFill>
            <a:srgbClr val="0D1526"/>
          </a:solidFill>
          <a:ln w="12700">
            <a:solidFill>
              <a:srgbClr val="F87171">
                <a:alpha val="4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7479792" y="1536192"/>
            <a:ext cx="1572768" cy="4572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479792" y="1664208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❤️</a:t>
            </a:r>
            <a:endParaRPr lang="en-US" sz="2600" dirty="0"/>
          </a:p>
        </p:txBody>
      </p:sp>
      <p:sp>
        <p:nvSpPr>
          <p:cNvPr id="42" name="Text 40"/>
          <p:cNvSpPr/>
          <p:nvPr/>
        </p:nvSpPr>
        <p:spPr>
          <a:xfrm>
            <a:off x="7571232" y="221284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2EAF4"/>
                </a:solidFill>
              </a:rPr>
              <a:t>Heart Rate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552944" y="2578608"/>
            <a:ext cx="14447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A96"/>
                </a:solidFill>
              </a:rPr>
              <a:t>Detected by Value,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B7A96"/>
                </a:solidFill>
              </a:rPr>
              <a:t>Time column pair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7754112" y="3291840"/>
            <a:ext cx="1005840" cy="219456"/>
          </a:xfrm>
          <a:prstGeom prst="rect">
            <a:avLst/>
          </a:prstGeom>
          <a:solidFill>
            <a:srgbClr val="F87171">
              <a:alpha val="20000"/>
            </a:srgbClr>
          </a:solidFill>
          <a:ln w="12700">
            <a:solidFill>
              <a:srgbClr val="F87171">
                <a:alpha val="45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754112" y="329184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87171"/>
                </a:solidFill>
              </a:rPr>
              <a:t>Found ✓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57200" y="3639312"/>
            <a:ext cx="8229600" cy="530352"/>
          </a:xfrm>
          <a:prstGeom prst="rect">
            <a:avLst/>
          </a:prstGeom>
          <a:solidFill>
            <a:srgbClr val="0D1526"/>
          </a:solidFill>
          <a:ln w="12700">
            <a:solidFill>
              <a:srgbClr val="63D7C4">
                <a:alpha val="35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2920" y="363931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A96"/>
                </a:solidFill>
              </a:rPr>
              <a:t>All 5 required files must be detected before the pipeline activates  ·  Each file auto-detected by column signature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57200" y="4297680"/>
            <a:ext cx="8229600" cy="685800"/>
          </a:xfrm>
          <a:prstGeom prst="rect">
            <a:avLst/>
          </a:prstGeom>
          <a:solidFill>
            <a:srgbClr val="0D1526">
              <a:alpha val="90000"/>
            </a:srgbClr>
          </a:solidFill>
          <a:ln w="12700">
            <a:solidFill>
              <a:srgbClr val="63D7C4">
                <a:alpha val="2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57200" y="4297680"/>
            <a:ext cx="50292" cy="685800"/>
          </a:xfrm>
          <a:prstGeom prst="rect">
            <a:avLst/>
          </a:prstGeom>
          <a:solidFill>
            <a:srgbClr val="63D7C4"/>
          </a:solidFill>
          <a:ln w="12700">
            <a:solidFill>
              <a:srgbClr val="63D7C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85800" y="43434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3D7C4"/>
                </a:solidFill>
              </a:rPr>
              <a:t>Step 3 — Parse, Merge &amp; Normalise: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2926080" y="4343400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6"/>
                </a:solidFill>
              </a:rPr>
              <a:t>All 5 CSVs merged into master DataFrame  ·  HR aggregated to daily avg BPM via groupby  ·  Sleep counted to TotalSleepMinutes  ·  Downloadable as fitpulse_master.csv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" cy="5143500"/>
          </a:xfrm>
          <a:prstGeom prst="rect">
            <a:avLst/>
          </a:prstGeom>
          <a:solidFill>
            <a:srgbClr val="63D7C4">
              <a:alpha val="30000"/>
            </a:srgbClr>
          </a:solidFill>
          <a:ln w="12700">
            <a:solidFill>
              <a:srgbClr val="63D7C4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07424" y="0"/>
            <a:ext cx="36576" cy="5143500"/>
          </a:xfrm>
          <a:prstGeom prst="rect">
            <a:avLst/>
          </a:prstGeom>
          <a:solidFill>
            <a:srgbClr val="63D7C4">
              <a:alpha val="30000"/>
            </a:srgbClr>
          </a:solidFill>
          <a:ln w="12700">
            <a:solidFill>
              <a:srgbClr val="63D7C4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22860"/>
          </a:xfrm>
          <a:prstGeom prst="rect">
            <a:avLst/>
          </a:prstGeom>
          <a:solidFill>
            <a:srgbClr val="63D7C4">
              <a:alpha val="40000"/>
            </a:srgbClr>
          </a:solidFill>
          <a:ln w="12700">
            <a:solidFill>
              <a:srgbClr val="63D7C4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256032"/>
            <a:ext cx="1828800" cy="256032"/>
          </a:xfrm>
          <a:prstGeom prst="rect">
            <a:avLst/>
          </a:prstGeom>
          <a:solidFill>
            <a:srgbClr val="63D7C4">
              <a:alpha val="18000"/>
            </a:srgbClr>
          </a:solidFill>
          <a:ln w="12700">
            <a:solidFill>
              <a:srgbClr val="63D7C4">
                <a:alpha val="4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2560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63D7C4"/>
                </a:solidFill>
              </a:rPr>
              <a:t>MACHINE LEARNING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560320" y="256032"/>
            <a:ext cx="1463040" cy="246888"/>
          </a:xfrm>
          <a:prstGeom prst="rect">
            <a:avLst/>
          </a:prstGeom>
          <a:solidFill>
            <a:srgbClr val="F97316">
              <a:alpha val="15000"/>
            </a:srgbClr>
          </a:solidFill>
          <a:ln w="12700">
            <a:solidFill>
              <a:srgbClr val="F97316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0" y="256032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97316"/>
                </a:solidFill>
              </a:rPr>
              <a:t>ML-1 · TSFRESH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02920" y="56692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TSFresh Feature Extraction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502920" y="115214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A96"/>
                </a:solidFill>
              </a:rPr>
              <a:t>Extracts statistical features from Heart Rate time-series per user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536192"/>
            <a:ext cx="1645920" cy="914400"/>
          </a:xfrm>
          <a:prstGeom prst="rect">
            <a:avLst/>
          </a:prstGeom>
          <a:solidFill>
            <a:srgbClr val="0D1526">
              <a:alpha val="85000"/>
            </a:srgbClr>
          </a:solidFill>
          <a:ln w="12700">
            <a:solidFill>
              <a:srgbClr val="63D7C4">
                <a:alpha val="3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16459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63D7C4"/>
                </a:solidFill>
              </a:rPr>
              <a:t>11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57200" y="210312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kern="0" spc="100" dirty="0">
                <a:solidFill>
                  <a:srgbClr val="6B7A96"/>
                </a:solidFill>
              </a:rPr>
              <a:t>FEATURES</a:t>
            </a:r>
            <a:endParaRPr lang="en-US" sz="850" dirty="0"/>
          </a:p>
          <a:p>
            <a:pPr marL="0" indent="0" algn="ctr">
              <a:buNone/>
            </a:pPr>
            <a:r>
              <a:rPr lang="en-US" sz="850" kern="0" spc="100" dirty="0">
                <a:solidFill>
                  <a:srgbClr val="6B7A96"/>
                </a:solidFill>
              </a:rPr>
              <a:t>EXTRACTED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286000" y="1536192"/>
            <a:ext cx="1645920" cy="914400"/>
          </a:xfrm>
          <a:prstGeom prst="rect">
            <a:avLst/>
          </a:prstGeom>
          <a:solidFill>
            <a:srgbClr val="0D1526">
              <a:alpha val="85000"/>
            </a:srgbClr>
          </a:solidFill>
          <a:ln w="12700">
            <a:solidFill>
              <a:srgbClr val="F97316">
                <a:alpha val="3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286000" y="16459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97316"/>
                </a:solidFill>
              </a:rPr>
              <a:t>14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2286000" y="210312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kern="0" spc="100" dirty="0">
                <a:solidFill>
                  <a:srgbClr val="6B7A96"/>
                </a:solidFill>
              </a:rPr>
              <a:t>USERS</a:t>
            </a:r>
            <a:endParaRPr lang="en-US" sz="850" dirty="0"/>
          </a:p>
          <a:p>
            <a:pPr marL="0" indent="0" algn="ctr">
              <a:buNone/>
            </a:pPr>
            <a:r>
              <a:rPr lang="en-US" sz="850" kern="0" spc="100" dirty="0">
                <a:solidFill>
                  <a:srgbClr val="6B7A96"/>
                </a:solidFill>
              </a:rPr>
              <a:t>PROCESSED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114800" y="1536192"/>
            <a:ext cx="1645920" cy="914400"/>
          </a:xfrm>
          <a:prstGeom prst="rect">
            <a:avLst/>
          </a:prstGeom>
          <a:solidFill>
            <a:srgbClr val="0D1526">
              <a:alpha val="85000"/>
            </a:srgbClr>
          </a:solidFill>
          <a:ln w="12700">
            <a:solidFill>
              <a:srgbClr val="818CF8">
                <a:alpha val="3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114800" y="16459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818CF8"/>
                </a:solidFill>
              </a:rPr>
              <a:t>0–1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114800" y="210312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kern="0" spc="100" dirty="0">
                <a:solidFill>
                  <a:srgbClr val="6B7A96"/>
                </a:solidFill>
              </a:rPr>
              <a:t>NORMALISED</a:t>
            </a:r>
            <a:endParaRPr lang="en-US" sz="850" dirty="0"/>
          </a:p>
          <a:p>
            <a:pPr marL="0" indent="0" algn="ctr">
              <a:buNone/>
            </a:pPr>
            <a:r>
              <a:rPr lang="en-US" sz="850" kern="0" spc="100" dirty="0">
                <a:solidFill>
                  <a:srgbClr val="6B7A96"/>
                </a:solidFill>
              </a:rPr>
              <a:t>RANGE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943600" y="1536192"/>
            <a:ext cx="1645920" cy="914400"/>
          </a:xfrm>
          <a:prstGeom prst="rect">
            <a:avLst/>
          </a:prstGeom>
          <a:solidFill>
            <a:srgbClr val="0D1526">
              <a:alpha val="85000"/>
            </a:srgbClr>
          </a:solidFill>
          <a:ln w="12700">
            <a:solidFill>
              <a:srgbClr val="FBBF24">
                <a:alpha val="3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943600" y="16459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BBF24"/>
                </a:solidFill>
              </a:rPr>
              <a:t>YlOrRd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5943600" y="210312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kern="0" spc="100" dirty="0">
                <a:solidFill>
                  <a:srgbClr val="6B7A96"/>
                </a:solidFill>
              </a:rPr>
              <a:t>HEATMAP</a:t>
            </a:r>
            <a:endParaRPr lang="en-US" sz="850" dirty="0"/>
          </a:p>
          <a:p>
            <a:pPr marL="0" indent="0" algn="ctr">
              <a:buNone/>
            </a:pPr>
            <a:r>
              <a:rPr lang="en-US" sz="850" kern="0" spc="100" dirty="0">
                <a:solidFill>
                  <a:srgbClr val="6B7A96"/>
                </a:solidFill>
              </a:rPr>
              <a:t>PALETTE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2606040"/>
            <a:ext cx="2011680" cy="2331720"/>
          </a:xfrm>
          <a:prstGeom prst="rect">
            <a:avLst/>
          </a:prstGeom>
          <a:solidFill>
            <a:srgbClr val="0D1526">
              <a:alpha val="90000"/>
            </a:srgbClr>
          </a:solidFill>
          <a:ln w="12700">
            <a:solidFill>
              <a:srgbClr val="63D7C4">
                <a:alpha val="2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2606040"/>
            <a:ext cx="50292" cy="2331720"/>
          </a:xfrm>
          <a:prstGeom prst="rect">
            <a:avLst/>
          </a:prstGeom>
          <a:solidFill>
            <a:srgbClr val="63D7C4"/>
          </a:solidFill>
          <a:ln w="12700">
            <a:solidFill>
              <a:srgbClr val="63D7C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2670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3D7C4"/>
                </a:solidFill>
              </a:rPr>
              <a:t>①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66928" y="3182112"/>
            <a:ext cx="18105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2EAF4"/>
                </a:solidFill>
              </a:rPr>
              <a:t>Parse HR Data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66928" y="3566160"/>
            <a:ext cx="181051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6"/>
                </a:solidFill>
              </a:rPr>
              <a:t>Heart Rate CSV parsed to (id, time, value) triplets. Datetime and numeric types enforced before processing.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487168" y="3566160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3D7C4"/>
                </a:solidFill>
              </a:rPr>
              <a:t>→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2651760" y="2606040"/>
            <a:ext cx="2011680" cy="2331720"/>
          </a:xfrm>
          <a:prstGeom prst="rect">
            <a:avLst/>
          </a:prstGeom>
          <a:solidFill>
            <a:srgbClr val="0D1526">
              <a:alpha val="90000"/>
            </a:srgbClr>
          </a:solidFill>
          <a:ln w="12700">
            <a:solidFill>
              <a:srgbClr val="F97316">
                <a:alpha val="2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651760" y="2606040"/>
            <a:ext cx="50292" cy="23317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0" y="2670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97316"/>
                </a:solidFill>
              </a:rPr>
              <a:t>②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2761488" y="3182112"/>
            <a:ext cx="18105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2EAF4"/>
                </a:solidFill>
              </a:rPr>
              <a:t>extract_features()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761488" y="3566160"/>
            <a:ext cx="181051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6"/>
                </a:solidFill>
              </a:rPr>
              <a:t>MinimalFCParameters applied — extracts mean, std, min, max, and ~7 other statistical features per user.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681728" y="3566160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3D7C4"/>
                </a:solidFill>
              </a:rPr>
              <a:t>→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846320" y="2606040"/>
            <a:ext cx="2011680" cy="2331720"/>
          </a:xfrm>
          <a:prstGeom prst="rect">
            <a:avLst/>
          </a:prstGeom>
          <a:solidFill>
            <a:srgbClr val="0D1526">
              <a:alpha val="90000"/>
            </a:srgbClr>
          </a:solidFill>
          <a:ln w="12700">
            <a:solidFill>
              <a:srgbClr val="818CF8">
                <a:alpha val="2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46320" y="2606040"/>
            <a:ext cx="50292" cy="233172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37760" y="2670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18CF8"/>
                </a:solidFill>
              </a:rPr>
              <a:t>③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4956048" y="3182112"/>
            <a:ext cx="18105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2EAF4"/>
                </a:solidFill>
              </a:rPr>
              <a:t>MinMaxScaler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956048" y="3566160"/>
            <a:ext cx="181051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6"/>
                </a:solidFill>
              </a:rPr>
              <a:t>Features normalised to 0–1 range for fair comparison and heatmap visualisation across all users.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876288" y="3566160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3D7C4"/>
                </a:solidFill>
              </a:rPr>
              <a:t>→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7040880" y="2606040"/>
            <a:ext cx="2011680" cy="2331720"/>
          </a:xfrm>
          <a:prstGeom prst="rect">
            <a:avLst/>
          </a:prstGeom>
          <a:solidFill>
            <a:srgbClr val="0D1526">
              <a:alpha val="90000"/>
            </a:srgbClr>
          </a:solidFill>
          <a:ln w="12700">
            <a:solidFill>
              <a:srgbClr val="FBBF24">
                <a:alpha val="2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040880" y="2606040"/>
            <a:ext cx="50292" cy="23317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32320" y="2670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BBF24"/>
                </a:solidFill>
              </a:rPr>
              <a:t>④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7150608" y="3182112"/>
            <a:ext cx="18105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2EAF4"/>
                </a:solidFill>
              </a:rPr>
              <a:t>Heatmap Output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7150608" y="3566160"/>
            <a:ext cx="181051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6"/>
                </a:solidFill>
              </a:rPr>
              <a:t>YlOrRd sns.heatmap rendered — rows = user IDs, columns = feature index. Session flag tsfresh_done set.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" cy="5143500"/>
          </a:xfrm>
          <a:prstGeom prst="rect">
            <a:avLst/>
          </a:prstGeom>
          <a:solidFill>
            <a:srgbClr val="63D7C4">
              <a:alpha val="30000"/>
            </a:srgbClr>
          </a:solidFill>
          <a:ln w="12700">
            <a:solidFill>
              <a:srgbClr val="63D7C4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07424" y="0"/>
            <a:ext cx="36576" cy="5143500"/>
          </a:xfrm>
          <a:prstGeom prst="rect">
            <a:avLst/>
          </a:prstGeom>
          <a:solidFill>
            <a:srgbClr val="63D7C4">
              <a:alpha val="30000"/>
            </a:srgbClr>
          </a:solidFill>
          <a:ln w="12700">
            <a:solidFill>
              <a:srgbClr val="63D7C4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22860"/>
          </a:xfrm>
          <a:prstGeom prst="rect">
            <a:avLst/>
          </a:prstGeom>
          <a:solidFill>
            <a:srgbClr val="63D7C4">
              <a:alpha val="40000"/>
            </a:srgbClr>
          </a:solidFill>
          <a:ln w="12700">
            <a:solidFill>
              <a:srgbClr val="63D7C4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256032"/>
            <a:ext cx="1828800" cy="256032"/>
          </a:xfrm>
          <a:prstGeom prst="rect">
            <a:avLst/>
          </a:prstGeom>
          <a:solidFill>
            <a:srgbClr val="63D7C4">
              <a:alpha val="18000"/>
            </a:srgbClr>
          </a:solidFill>
          <a:ln w="12700">
            <a:solidFill>
              <a:srgbClr val="63D7C4">
                <a:alpha val="4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2560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63D7C4"/>
                </a:solidFill>
              </a:rPr>
              <a:t>MACHINE LEARNING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560320" y="256032"/>
            <a:ext cx="1463040" cy="246888"/>
          </a:xfrm>
          <a:prstGeom prst="rect">
            <a:avLst/>
          </a:prstGeom>
          <a:solidFill>
            <a:srgbClr val="F97316">
              <a:alpha val="15000"/>
            </a:srgbClr>
          </a:solidFill>
          <a:ln w="12700">
            <a:solidFill>
              <a:srgbClr val="F97316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0" y="256032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97316"/>
                </a:solidFill>
              </a:rPr>
              <a:t>ML-2 · PROPHET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02920" y="56692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 Forecasting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502920" y="115214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A96"/>
                </a:solidFill>
              </a:rPr>
              <a:t>30-day forecasting for Heart Rate, Steps &amp; Sleep using Meta's Prophet model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536192"/>
            <a:ext cx="2788920" cy="3383280"/>
          </a:xfrm>
          <a:prstGeom prst="rect">
            <a:avLst/>
          </a:prstGeom>
          <a:solidFill>
            <a:srgbClr val="0D1526">
              <a:alpha val="90000"/>
            </a:srgbClr>
          </a:solidFill>
          <a:ln w="12700">
            <a:solidFill>
              <a:srgbClr val="F87171">
                <a:alpha val="2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1536192"/>
            <a:ext cx="50292" cy="338328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600200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❤️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960120" y="2212848"/>
            <a:ext cx="1783080" cy="256032"/>
          </a:xfrm>
          <a:prstGeom prst="rect">
            <a:avLst/>
          </a:prstGeom>
          <a:solidFill>
            <a:srgbClr val="F87171">
              <a:alpha val="20000"/>
            </a:srgbClr>
          </a:solidFill>
          <a:ln w="12700">
            <a:solidFill>
              <a:srgbClr val="F87171">
                <a:alpha val="4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221284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87171"/>
                </a:solidFill>
              </a:rPr>
              <a:t>90% CI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66928" y="2542032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2EAF4"/>
                </a:solidFill>
              </a:rPr>
              <a:t>Heart Rate Forecast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4360" y="2944368"/>
            <a:ext cx="2514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7A96"/>
                </a:solidFill>
              </a:rPr>
              <a:t>Daily avg BPM from HR CSV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7A96"/>
                </a:solidFill>
              </a:rPr>
              <a:t>30-day ahead forecast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7A96"/>
                </a:solidFill>
              </a:rPr>
              <a:t>Weekly seasonality enabled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7A96"/>
                </a:solidFill>
              </a:rPr>
              <a:t>Actual scatter + trend + CI band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01568" y="1536192"/>
            <a:ext cx="2788920" cy="3383280"/>
          </a:xfrm>
          <a:prstGeom prst="rect">
            <a:avLst/>
          </a:prstGeom>
          <a:solidFill>
            <a:srgbClr val="0D1526">
              <a:alpha val="90000"/>
            </a:srgbClr>
          </a:solidFill>
          <a:ln w="12700">
            <a:solidFill>
              <a:srgbClr val="63D7C4">
                <a:alpha val="2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401568" y="1536192"/>
            <a:ext cx="50292" cy="3383280"/>
          </a:xfrm>
          <a:prstGeom prst="rect">
            <a:avLst/>
          </a:prstGeom>
          <a:solidFill>
            <a:srgbClr val="63D7C4"/>
          </a:solidFill>
          <a:ln w="12700">
            <a:solidFill>
              <a:srgbClr val="63D7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01568" y="1600200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🚶</a:t>
            </a:r>
            <a:endParaRPr lang="en-US" sz="2800" dirty="0"/>
          </a:p>
        </p:txBody>
      </p:sp>
      <p:sp>
        <p:nvSpPr>
          <p:cNvPr id="21" name="Shape 19"/>
          <p:cNvSpPr/>
          <p:nvPr/>
        </p:nvSpPr>
        <p:spPr>
          <a:xfrm>
            <a:off x="3904488" y="2212848"/>
            <a:ext cx="1783080" cy="256032"/>
          </a:xfrm>
          <a:prstGeom prst="rect">
            <a:avLst/>
          </a:prstGeom>
          <a:solidFill>
            <a:srgbClr val="63D7C4">
              <a:alpha val="20000"/>
            </a:srgbClr>
          </a:solidFill>
          <a:ln w="12700">
            <a:solidFill>
              <a:srgbClr val="63D7C4">
                <a:alpha val="4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04488" y="221284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3D7C4"/>
                </a:solidFill>
              </a:rPr>
              <a:t>80% CI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511296" y="2542032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2EAF4"/>
                </a:solidFill>
              </a:rPr>
              <a:t>Steps Forecast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538728" y="2944368"/>
            <a:ext cx="2514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7A96"/>
                </a:solidFill>
              </a:rPr>
              <a:t>Daily TotalSteps from Activity CSV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7A96"/>
                </a:solidFill>
              </a:rPr>
              <a:t>30-day ahead, 80% CI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7A96"/>
                </a:solidFill>
              </a:rPr>
              <a:t>changepoint_prior = 0.1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7A96"/>
                </a:solidFill>
              </a:rPr>
              <a:t>Forecast start dashed line plotted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345936" y="1536192"/>
            <a:ext cx="2788920" cy="3383280"/>
          </a:xfrm>
          <a:prstGeom prst="rect">
            <a:avLst/>
          </a:prstGeom>
          <a:solidFill>
            <a:srgbClr val="0D1526">
              <a:alpha val="90000"/>
            </a:srgbClr>
          </a:solidFill>
          <a:ln w="12700">
            <a:solidFill>
              <a:srgbClr val="818CF8">
                <a:alpha val="2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345936" y="1536192"/>
            <a:ext cx="50292" cy="338328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45936" y="1600200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💤</a:t>
            </a:r>
            <a:endParaRPr lang="en-US" sz="2800" dirty="0"/>
          </a:p>
        </p:txBody>
      </p:sp>
      <p:sp>
        <p:nvSpPr>
          <p:cNvPr id="28" name="Shape 26"/>
          <p:cNvSpPr/>
          <p:nvPr/>
        </p:nvSpPr>
        <p:spPr>
          <a:xfrm>
            <a:off x="6848856" y="2212848"/>
            <a:ext cx="1783080" cy="256032"/>
          </a:xfrm>
          <a:prstGeom prst="rect">
            <a:avLst/>
          </a:prstGeom>
          <a:solidFill>
            <a:srgbClr val="818CF8">
              <a:alpha val="20000"/>
            </a:srgbClr>
          </a:solidFill>
          <a:ln w="12700">
            <a:solidFill>
              <a:srgbClr val="818CF8">
                <a:alpha val="4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48856" y="221284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18CF8"/>
                </a:solidFill>
              </a:rPr>
              <a:t>80% CI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455664" y="2542032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2EAF4"/>
                </a:solidFill>
              </a:rPr>
              <a:t>Sleep Forecast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483096" y="2944368"/>
            <a:ext cx="2514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7A96"/>
                </a:solidFill>
              </a:rPr>
              <a:t>Daily sleep minute count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7A96"/>
                </a:solidFill>
              </a:rPr>
              <a:t>From minuteSleep CSV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7A96"/>
                </a:solidFill>
              </a:rPr>
              <a:t>30-day ahead, 80% CI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7A96"/>
                </a:solidFill>
              </a:rPr>
              <a:t>Actual scatter + confidence band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" cy="5143500"/>
          </a:xfrm>
          <a:prstGeom prst="rect">
            <a:avLst/>
          </a:prstGeom>
          <a:solidFill>
            <a:srgbClr val="63D7C4">
              <a:alpha val="30000"/>
            </a:srgbClr>
          </a:solidFill>
          <a:ln w="12700">
            <a:solidFill>
              <a:srgbClr val="63D7C4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07424" y="0"/>
            <a:ext cx="36576" cy="5143500"/>
          </a:xfrm>
          <a:prstGeom prst="rect">
            <a:avLst/>
          </a:prstGeom>
          <a:solidFill>
            <a:srgbClr val="63D7C4">
              <a:alpha val="30000"/>
            </a:srgbClr>
          </a:solidFill>
          <a:ln w="12700">
            <a:solidFill>
              <a:srgbClr val="63D7C4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22860"/>
          </a:xfrm>
          <a:prstGeom prst="rect">
            <a:avLst/>
          </a:prstGeom>
          <a:solidFill>
            <a:srgbClr val="63D7C4">
              <a:alpha val="40000"/>
            </a:srgbClr>
          </a:solidFill>
          <a:ln w="12700">
            <a:solidFill>
              <a:srgbClr val="63D7C4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256032"/>
            <a:ext cx="1828800" cy="256032"/>
          </a:xfrm>
          <a:prstGeom prst="rect">
            <a:avLst/>
          </a:prstGeom>
          <a:solidFill>
            <a:srgbClr val="63D7C4">
              <a:alpha val="18000"/>
            </a:srgbClr>
          </a:solidFill>
          <a:ln w="12700">
            <a:solidFill>
              <a:srgbClr val="63D7C4">
                <a:alpha val="4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2560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63D7C4"/>
                </a:solidFill>
              </a:rPr>
              <a:t>MACHINE LEARNING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560320" y="256032"/>
            <a:ext cx="1463040" cy="246888"/>
          </a:xfrm>
          <a:prstGeom prst="rect">
            <a:avLst/>
          </a:prstGeom>
          <a:solidFill>
            <a:srgbClr val="F97316">
              <a:alpha val="15000"/>
            </a:srgbClr>
          </a:solidFill>
          <a:ln w="12700">
            <a:solidFill>
              <a:srgbClr val="F97316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0" y="256032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97316"/>
                </a:solidFill>
              </a:rPr>
              <a:t>ML-3 · CLUSTERING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02920" y="56692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&amp; Dimensionality Reduction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02920" y="115214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A96"/>
                </a:solidFill>
              </a:rPr>
              <a:t>KMeans · DBSCAN · PCA · t-SNE on Daily Activity features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508760"/>
            <a:ext cx="8229600" cy="566928"/>
          </a:xfrm>
          <a:prstGeom prst="rect">
            <a:avLst/>
          </a:prstGeom>
          <a:solidFill>
            <a:srgbClr val="0D1526">
              <a:alpha val="90000"/>
            </a:srgbClr>
          </a:solidFill>
          <a:ln w="12700">
            <a:solidFill>
              <a:srgbClr val="63D7C4">
                <a:alpha val="2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1508760"/>
            <a:ext cx="50292" cy="566928"/>
          </a:xfrm>
          <a:prstGeom prst="rect">
            <a:avLst/>
          </a:prstGeom>
          <a:solidFill>
            <a:srgbClr val="63D7C4"/>
          </a:solidFill>
          <a:ln w="12700">
            <a:solidFill>
              <a:srgbClr val="63D7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157276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3D7C4"/>
                </a:solidFill>
              </a:rPr>
              <a:t>Feature Columns: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103120" y="1572768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A96"/>
                </a:solidFill>
              </a:rPr>
              <a:t>TotalSteps · Calories · VeryActiveMinutes · FairlyActiveMinutes · LightlyActiveMinutes · SedentaryMinutes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240280"/>
            <a:ext cx="4160520" cy="1207008"/>
          </a:xfrm>
          <a:prstGeom prst="rect">
            <a:avLst/>
          </a:prstGeom>
          <a:solidFill>
            <a:srgbClr val="0D1526">
              <a:alpha val="90000"/>
            </a:srgbClr>
          </a:solidFill>
          <a:ln w="12700">
            <a:solidFill>
              <a:srgbClr val="63D7C4">
                <a:alpha val="2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240280"/>
            <a:ext cx="50292" cy="1207008"/>
          </a:xfrm>
          <a:prstGeom prst="rect">
            <a:avLst/>
          </a:prstGeom>
          <a:solidFill>
            <a:srgbClr val="63D7C4"/>
          </a:solidFill>
          <a:ln w="12700">
            <a:solidFill>
              <a:srgbClr val="63D7C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2331720"/>
            <a:ext cx="502920" cy="502920"/>
          </a:xfrm>
          <a:prstGeom prst="rect">
            <a:avLst/>
          </a:prstGeom>
          <a:solidFill>
            <a:srgbClr val="63D7C4">
              <a:alpha val="22000"/>
            </a:srgbClr>
          </a:solidFill>
          <a:ln w="12700">
            <a:solidFill>
              <a:srgbClr val="63D7C4">
                <a:alpha val="4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331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📉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70432" y="2350008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2EAF4"/>
                </a:solidFill>
              </a:rPr>
              <a:t>PCA — Principal Component Analysis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170432" y="2660904"/>
            <a:ext cx="3337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6"/>
                </a:solidFill>
              </a:rPr>
              <a:t>2 principal components extracted for 2D scatter visualisation. Explained variance ratio shown on chart axes.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00600" y="2240280"/>
            <a:ext cx="4160520" cy="1207008"/>
          </a:xfrm>
          <a:prstGeom prst="rect">
            <a:avLst/>
          </a:prstGeom>
          <a:solidFill>
            <a:srgbClr val="0D1526">
              <a:alpha val="90000"/>
            </a:srgbClr>
          </a:solidFill>
          <a:ln w="12700">
            <a:solidFill>
              <a:srgbClr val="F97316">
                <a:alpha val="2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00600" y="2240280"/>
            <a:ext cx="50292" cy="1207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92040" y="2331720"/>
            <a:ext cx="502920" cy="502920"/>
          </a:xfrm>
          <a:prstGeom prst="rect">
            <a:avLst/>
          </a:prstGeom>
          <a:solidFill>
            <a:srgbClr val="F97316">
              <a:alpha val="22000"/>
            </a:srgbClr>
          </a:solidFill>
          <a:ln w="12700">
            <a:solidFill>
              <a:srgbClr val="F97316">
                <a:alpha val="4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2331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🔵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513832" y="2350008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2EAF4"/>
                </a:solidFill>
              </a:rPr>
              <a:t>KMeans — K-Means Clustering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513832" y="2660904"/>
            <a:ext cx="3337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6"/>
                </a:solidFill>
              </a:rPr>
              <a:t>k configurable 2–9 via sidebar slider. n_init=10, random_state=42. User-level mean aggregation → StandardScaler normalisation.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3611880"/>
            <a:ext cx="4160520" cy="1207008"/>
          </a:xfrm>
          <a:prstGeom prst="rect">
            <a:avLst/>
          </a:prstGeom>
          <a:solidFill>
            <a:srgbClr val="0D1526">
              <a:alpha val="90000"/>
            </a:srgbClr>
          </a:solidFill>
          <a:ln w="12700">
            <a:solidFill>
              <a:srgbClr val="818CF8">
                <a:alpha val="2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" y="3611880"/>
            <a:ext cx="50292" cy="1207008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3703320"/>
            <a:ext cx="502920" cy="502920"/>
          </a:xfrm>
          <a:prstGeom prst="rect">
            <a:avLst/>
          </a:prstGeom>
          <a:solidFill>
            <a:srgbClr val="818CF8">
              <a:alpha val="22000"/>
            </a:srgbClr>
          </a:solidFill>
          <a:ln w="12700">
            <a:solidFill>
              <a:srgbClr val="818CF8">
                <a:alpha val="4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3703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🟣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170432" y="3721608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2EAF4"/>
                </a:solidFill>
              </a:rPr>
              <a:t>DBSCAN — Density-Based Clustering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1170432" y="4032504"/>
            <a:ext cx="3337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6"/>
                </a:solidFill>
              </a:rPr>
              <a:t>eps configurable 0.5–5.0 via sidebar. min_samples=2. Noise/outlier points shown in grey. Structural anomaly detection.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800600" y="3611880"/>
            <a:ext cx="4160520" cy="1207008"/>
          </a:xfrm>
          <a:prstGeom prst="rect">
            <a:avLst/>
          </a:prstGeom>
          <a:solidFill>
            <a:srgbClr val="0D1526">
              <a:alpha val="90000"/>
            </a:srgbClr>
          </a:solidFill>
          <a:ln w="12700">
            <a:solidFill>
              <a:srgbClr val="FBBF24">
                <a:alpha val="2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00600" y="3611880"/>
            <a:ext cx="50292" cy="120700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92040" y="3703320"/>
            <a:ext cx="502920" cy="502920"/>
          </a:xfrm>
          <a:prstGeom prst="rect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92040" y="3703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🌀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5513832" y="3721608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2EAF4"/>
                </a:solidFill>
              </a:rPr>
              <a:t>t-SNE — Non-linear Embedding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5513832" y="4032504"/>
            <a:ext cx="3337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6"/>
                </a:solidFill>
              </a:rPr>
              <a:t>2D embedding with KMeans labels coloured. Perplexity auto-scaled to user count (min 5, max 30).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" cy="5143500"/>
          </a:xfrm>
          <a:prstGeom prst="rect">
            <a:avLst/>
          </a:prstGeom>
          <a:solidFill>
            <a:srgbClr val="63D7C4">
              <a:alpha val="30000"/>
            </a:srgbClr>
          </a:solidFill>
          <a:ln w="12700">
            <a:solidFill>
              <a:srgbClr val="63D7C4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07424" y="0"/>
            <a:ext cx="36576" cy="5143500"/>
          </a:xfrm>
          <a:prstGeom prst="rect">
            <a:avLst/>
          </a:prstGeom>
          <a:solidFill>
            <a:srgbClr val="63D7C4">
              <a:alpha val="30000"/>
            </a:srgbClr>
          </a:solidFill>
          <a:ln w="12700">
            <a:solidFill>
              <a:srgbClr val="63D7C4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22860"/>
          </a:xfrm>
          <a:prstGeom prst="rect">
            <a:avLst/>
          </a:prstGeom>
          <a:solidFill>
            <a:srgbClr val="63D7C4">
              <a:alpha val="40000"/>
            </a:srgbClr>
          </a:solidFill>
          <a:ln w="12700">
            <a:solidFill>
              <a:srgbClr val="63D7C4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256032"/>
            <a:ext cx="1828800" cy="256032"/>
          </a:xfrm>
          <a:prstGeom prst="rect">
            <a:avLst/>
          </a:prstGeom>
          <a:solidFill>
            <a:srgbClr val="63D7C4">
              <a:alpha val="18000"/>
            </a:srgbClr>
          </a:solidFill>
          <a:ln w="12700">
            <a:solidFill>
              <a:srgbClr val="63D7C4">
                <a:alpha val="4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2560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63D7C4"/>
                </a:solidFill>
              </a:rPr>
              <a:t>ML RESULTS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560320" y="256032"/>
            <a:ext cx="1463040" cy="246888"/>
          </a:xfrm>
          <a:prstGeom prst="rect">
            <a:avLst/>
          </a:prstGeom>
          <a:solidFill>
            <a:srgbClr val="F97316">
              <a:alpha val="15000"/>
            </a:srgbClr>
          </a:solidFill>
          <a:ln w="12700">
            <a:solidFill>
              <a:srgbClr val="F97316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0" y="256032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97316"/>
                </a:solidFill>
              </a:rPr>
              <a:t>ML-6 &amp; ML-7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02920" y="56692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Elbow Curve &amp; Cluster Profiles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02920" y="115214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A96"/>
                </a:solidFill>
              </a:rPr>
              <a:t>Optimal K selection + User behaviour profiling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508760"/>
            <a:ext cx="4114800" cy="2148840"/>
          </a:xfrm>
          <a:prstGeom prst="rect">
            <a:avLst/>
          </a:prstGeom>
          <a:solidFill>
            <a:srgbClr val="0D1526">
              <a:alpha val="90000"/>
            </a:srgbClr>
          </a:solidFill>
          <a:ln w="12700">
            <a:solidFill>
              <a:srgbClr val="63D7C4">
                <a:alpha val="2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1508760"/>
            <a:ext cx="50292" cy="2148840"/>
          </a:xfrm>
          <a:prstGeom prst="rect">
            <a:avLst/>
          </a:prstGeom>
          <a:solidFill>
            <a:srgbClr val="63D7C4"/>
          </a:solidFill>
          <a:ln w="12700">
            <a:solidFill>
              <a:srgbClr val="63D7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160020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3D7C4"/>
                </a:solidFill>
              </a:rPr>
              <a:t>📉  Elbow Curve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8368" y="1993392"/>
            <a:ext cx="3749040" cy="1536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AF4"/>
                </a:solidFill>
              </a:rPr>
              <a:t>Inertia computed for K = 2 to 9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AF4"/>
                </a:solidFill>
              </a:rPr>
              <a:t>Plotted to identify optimal cluster count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AF4"/>
                </a:solidFill>
              </a:rPr>
              <a:t>Look for 'elbow' — sharpest decline in inertia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AF4"/>
                </a:solidFill>
              </a:rPr>
              <a:t>KMeans n_init=10, random_state=42 for reproducibility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1508760"/>
            <a:ext cx="3931920" cy="2148840"/>
          </a:xfrm>
          <a:prstGeom prst="rect">
            <a:avLst/>
          </a:prstGeom>
          <a:solidFill>
            <a:srgbClr val="0D1526">
              <a:alpha val="90000"/>
            </a:srgbClr>
          </a:solidFill>
          <a:ln w="12700">
            <a:solidFill>
              <a:srgbClr val="F97316">
                <a:alpha val="2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1508760"/>
            <a:ext cx="50292" cy="21488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56048" y="160020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7316"/>
                </a:solidFill>
              </a:rPr>
              <a:t>📊  Cluster Profiles Table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56048" y="1993392"/>
            <a:ext cx="3566160" cy="1536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AF4"/>
                </a:solidFill>
              </a:rPr>
              <a:t>Mean feature values per KMeans cluster as DataFrame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AF4"/>
                </a:solidFill>
              </a:rPr>
              <a:t>Bar chart: TotalSteps, Calories, VeryActiveMinutes, SedentaryMinutes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AF4"/>
                </a:solidFill>
              </a:rPr>
              <a:t>Compared across all cluster groups side by side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794760"/>
            <a:ext cx="2697480" cy="1170432"/>
          </a:xfrm>
          <a:prstGeom prst="rect">
            <a:avLst/>
          </a:prstGeom>
          <a:solidFill>
            <a:srgbClr val="0D1526"/>
          </a:solidFill>
          <a:ln w="12700">
            <a:solidFill>
              <a:srgbClr val="34D399">
                <a:alpha val="4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794760"/>
            <a:ext cx="2697480" cy="457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88620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🏃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48640" y="437083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2EAF4"/>
                </a:solidFill>
              </a:rPr>
              <a:t>Highly Active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4645152"/>
            <a:ext cx="2514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A96"/>
                </a:solidFill>
              </a:rPr>
              <a:t>&gt; 10,000 steps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64992" y="3794760"/>
            <a:ext cx="2697480" cy="1170432"/>
          </a:xfrm>
          <a:prstGeom prst="rect">
            <a:avLst/>
          </a:prstGeom>
          <a:solidFill>
            <a:srgbClr val="0D1526"/>
          </a:solidFill>
          <a:ln w="12700">
            <a:solidFill>
              <a:srgbClr val="FBBF24">
                <a:alpha val="4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364992" y="3794760"/>
            <a:ext cx="2697480" cy="457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64992" y="388620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🚶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3456432" y="437083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2EAF4"/>
                </a:solidFill>
              </a:rPr>
              <a:t>Moderately Active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456432" y="4645152"/>
            <a:ext cx="2514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A96"/>
                </a:solidFill>
              </a:rPr>
              <a:t>5,000 – 10,000 steps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72784" y="3794760"/>
            <a:ext cx="2697480" cy="1170432"/>
          </a:xfrm>
          <a:prstGeom prst="rect">
            <a:avLst/>
          </a:prstGeom>
          <a:solidFill>
            <a:srgbClr val="0D1526"/>
          </a:solidFill>
          <a:ln w="12700">
            <a:solidFill>
              <a:srgbClr val="F87171">
                <a:alpha val="4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72784" y="3794760"/>
            <a:ext cx="2697480" cy="4572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72784" y="388620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🛋️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6364224" y="437083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2EAF4"/>
                </a:solidFill>
              </a:rPr>
              <a:t>Sedentary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364224" y="4645152"/>
            <a:ext cx="2514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A96"/>
                </a:solidFill>
              </a:rPr>
              <a:t>&lt; 5,000 steps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680F08-11E6-FEAB-31AC-C8A63CB16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0">
            <a:extLst>
              <a:ext uri="{FF2B5EF4-FFF2-40B4-BE49-F238E27FC236}">
                <a16:creationId xmlns:a16="http://schemas.microsoft.com/office/drawing/2014/main" id="{C7F86DCE-152B-6782-0589-C8B331B8BDF7}"/>
              </a:ext>
            </a:extLst>
          </p:cNvPr>
          <p:cNvSpPr/>
          <p:nvPr/>
        </p:nvSpPr>
        <p:spPr>
          <a:xfrm>
            <a:off x="0" y="0"/>
            <a:ext cx="36576" cy="5143500"/>
          </a:xfrm>
          <a:prstGeom prst="rect">
            <a:avLst/>
          </a:prstGeom>
          <a:solidFill>
            <a:srgbClr val="63D7C4">
              <a:alpha val="30000"/>
            </a:srgbClr>
          </a:solidFill>
          <a:ln w="12700">
            <a:solidFill>
              <a:srgbClr val="63D7C4">
                <a:alpha val="30000"/>
              </a:srgbClr>
            </a:solidFill>
            <a:prstDash val="solid"/>
          </a:ln>
        </p:spPr>
      </p:sp>
      <p:sp>
        <p:nvSpPr>
          <p:cNvPr id="29" name="Shape 2">
            <a:extLst>
              <a:ext uri="{FF2B5EF4-FFF2-40B4-BE49-F238E27FC236}">
                <a16:creationId xmlns:a16="http://schemas.microsoft.com/office/drawing/2014/main" id="{1A4A73D2-C37B-F35F-0EB2-60A8C7400CBA}"/>
              </a:ext>
            </a:extLst>
          </p:cNvPr>
          <p:cNvSpPr/>
          <p:nvPr/>
        </p:nvSpPr>
        <p:spPr>
          <a:xfrm>
            <a:off x="0" y="0"/>
            <a:ext cx="9144000" cy="22860"/>
          </a:xfrm>
          <a:prstGeom prst="rect">
            <a:avLst/>
          </a:prstGeom>
          <a:solidFill>
            <a:srgbClr val="63D7C4">
              <a:alpha val="40000"/>
            </a:srgbClr>
          </a:solidFill>
          <a:ln w="12700">
            <a:solidFill>
              <a:srgbClr val="63D7C4">
                <a:alpha val="40000"/>
              </a:srgbClr>
            </a:solidFill>
            <a:prstDash val="solid"/>
          </a:ln>
        </p:spPr>
      </p:sp>
      <p:sp>
        <p:nvSpPr>
          <p:cNvPr id="30" name="Shape 1">
            <a:extLst>
              <a:ext uri="{FF2B5EF4-FFF2-40B4-BE49-F238E27FC236}">
                <a16:creationId xmlns:a16="http://schemas.microsoft.com/office/drawing/2014/main" id="{251217C7-F6F8-570A-AAB0-C96776F5F59A}"/>
              </a:ext>
            </a:extLst>
          </p:cNvPr>
          <p:cNvSpPr/>
          <p:nvPr/>
        </p:nvSpPr>
        <p:spPr>
          <a:xfrm>
            <a:off x="9107424" y="0"/>
            <a:ext cx="36576" cy="5143500"/>
          </a:xfrm>
          <a:prstGeom prst="rect">
            <a:avLst/>
          </a:prstGeom>
          <a:solidFill>
            <a:srgbClr val="63D7C4">
              <a:alpha val="30000"/>
            </a:srgbClr>
          </a:solidFill>
          <a:ln w="12700">
            <a:solidFill>
              <a:srgbClr val="63D7C4">
                <a:alpha val="30000"/>
              </a:srgbClr>
            </a:solidFill>
            <a:prstDash val="solid"/>
          </a:ln>
        </p:spPr>
      </p:sp>
      <p:sp>
        <p:nvSpPr>
          <p:cNvPr id="31" name="Shape 2">
            <a:extLst>
              <a:ext uri="{FF2B5EF4-FFF2-40B4-BE49-F238E27FC236}">
                <a16:creationId xmlns:a16="http://schemas.microsoft.com/office/drawing/2014/main" id="{B51AB191-B7F3-E468-E85A-AE143B386041}"/>
              </a:ext>
            </a:extLst>
          </p:cNvPr>
          <p:cNvSpPr/>
          <p:nvPr/>
        </p:nvSpPr>
        <p:spPr>
          <a:xfrm>
            <a:off x="0" y="5132070"/>
            <a:ext cx="9144000" cy="22860"/>
          </a:xfrm>
          <a:prstGeom prst="rect">
            <a:avLst/>
          </a:prstGeom>
          <a:solidFill>
            <a:srgbClr val="63D7C4">
              <a:alpha val="40000"/>
            </a:srgbClr>
          </a:solidFill>
          <a:ln w="12700">
            <a:solidFill>
              <a:srgbClr val="63D7C4">
                <a:alpha val="40000"/>
              </a:srgbClr>
            </a:solidFill>
            <a:prstDash val="solid"/>
          </a:ln>
        </p:spPr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76DAFD-0709-C0AF-B487-B9F3A979F21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140" t="4481" r="994" b="1053"/>
          <a:stretch>
            <a:fillRect/>
          </a:stretch>
        </p:blipFill>
        <p:spPr>
          <a:xfrm>
            <a:off x="874834" y="802738"/>
            <a:ext cx="7394332" cy="432933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1749933-D701-E146-4FCC-5309BF6C5726}"/>
              </a:ext>
            </a:extLst>
          </p:cNvPr>
          <p:cNvSpPr txBox="1"/>
          <p:nvPr/>
        </p:nvSpPr>
        <p:spPr>
          <a:xfrm>
            <a:off x="324216" y="307703"/>
            <a:ext cx="45785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Extraction – Results :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177407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D000EF-A5F6-DF34-8C6D-03345D00E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0">
            <a:extLst>
              <a:ext uri="{FF2B5EF4-FFF2-40B4-BE49-F238E27FC236}">
                <a16:creationId xmlns:a16="http://schemas.microsoft.com/office/drawing/2014/main" id="{27A16229-A82D-DCF6-D9A1-F50080822FED}"/>
              </a:ext>
            </a:extLst>
          </p:cNvPr>
          <p:cNvSpPr/>
          <p:nvPr/>
        </p:nvSpPr>
        <p:spPr>
          <a:xfrm>
            <a:off x="0" y="0"/>
            <a:ext cx="36576" cy="5143500"/>
          </a:xfrm>
          <a:prstGeom prst="rect">
            <a:avLst/>
          </a:prstGeom>
          <a:solidFill>
            <a:srgbClr val="63D7C4">
              <a:alpha val="30000"/>
            </a:srgbClr>
          </a:solidFill>
          <a:ln w="12700">
            <a:solidFill>
              <a:srgbClr val="63D7C4">
                <a:alpha val="30000"/>
              </a:srgbClr>
            </a:solidFill>
            <a:prstDash val="solid"/>
          </a:ln>
        </p:spPr>
      </p:sp>
      <p:sp>
        <p:nvSpPr>
          <p:cNvPr id="29" name="Shape 2">
            <a:extLst>
              <a:ext uri="{FF2B5EF4-FFF2-40B4-BE49-F238E27FC236}">
                <a16:creationId xmlns:a16="http://schemas.microsoft.com/office/drawing/2014/main" id="{22272035-C7FB-7919-4412-A5C4005BA629}"/>
              </a:ext>
            </a:extLst>
          </p:cNvPr>
          <p:cNvSpPr/>
          <p:nvPr/>
        </p:nvSpPr>
        <p:spPr>
          <a:xfrm>
            <a:off x="0" y="0"/>
            <a:ext cx="9144000" cy="22860"/>
          </a:xfrm>
          <a:prstGeom prst="rect">
            <a:avLst/>
          </a:prstGeom>
          <a:solidFill>
            <a:srgbClr val="63D7C4">
              <a:alpha val="40000"/>
            </a:srgbClr>
          </a:solidFill>
          <a:ln w="12700">
            <a:solidFill>
              <a:srgbClr val="63D7C4">
                <a:alpha val="40000"/>
              </a:srgbClr>
            </a:solidFill>
            <a:prstDash val="solid"/>
          </a:ln>
        </p:spPr>
      </p:sp>
      <p:sp>
        <p:nvSpPr>
          <p:cNvPr id="30" name="Shape 1">
            <a:extLst>
              <a:ext uri="{FF2B5EF4-FFF2-40B4-BE49-F238E27FC236}">
                <a16:creationId xmlns:a16="http://schemas.microsoft.com/office/drawing/2014/main" id="{6C92779A-696E-349E-C134-FF92FF382303}"/>
              </a:ext>
            </a:extLst>
          </p:cNvPr>
          <p:cNvSpPr/>
          <p:nvPr/>
        </p:nvSpPr>
        <p:spPr>
          <a:xfrm>
            <a:off x="9107424" y="0"/>
            <a:ext cx="36576" cy="5143500"/>
          </a:xfrm>
          <a:prstGeom prst="rect">
            <a:avLst/>
          </a:prstGeom>
          <a:solidFill>
            <a:srgbClr val="63D7C4">
              <a:alpha val="30000"/>
            </a:srgbClr>
          </a:solidFill>
          <a:ln w="12700">
            <a:solidFill>
              <a:srgbClr val="63D7C4">
                <a:alpha val="30000"/>
              </a:srgbClr>
            </a:solidFill>
            <a:prstDash val="solid"/>
          </a:ln>
        </p:spPr>
      </p:sp>
      <p:sp>
        <p:nvSpPr>
          <p:cNvPr id="31" name="Shape 2">
            <a:extLst>
              <a:ext uri="{FF2B5EF4-FFF2-40B4-BE49-F238E27FC236}">
                <a16:creationId xmlns:a16="http://schemas.microsoft.com/office/drawing/2014/main" id="{B98919DD-037D-1897-B697-A047BC131372}"/>
              </a:ext>
            </a:extLst>
          </p:cNvPr>
          <p:cNvSpPr/>
          <p:nvPr/>
        </p:nvSpPr>
        <p:spPr>
          <a:xfrm>
            <a:off x="0" y="5132070"/>
            <a:ext cx="9144000" cy="22860"/>
          </a:xfrm>
          <a:prstGeom prst="rect">
            <a:avLst/>
          </a:prstGeom>
          <a:solidFill>
            <a:srgbClr val="63D7C4">
              <a:alpha val="40000"/>
            </a:srgbClr>
          </a:solidFill>
          <a:ln w="12700">
            <a:solidFill>
              <a:srgbClr val="63D7C4">
                <a:alpha val="40000"/>
              </a:srgbClr>
            </a:solidFill>
            <a:prstDash val="solid"/>
          </a:ln>
        </p:spPr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B564EC-1766-5EEE-CADF-513D1BADFBC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321" t="2237" r="1346" b="14912"/>
          <a:stretch>
            <a:fillRect/>
          </a:stretch>
        </p:blipFill>
        <p:spPr>
          <a:xfrm>
            <a:off x="963989" y="386422"/>
            <a:ext cx="7437062" cy="4233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44822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C0CAA5-10D3-5F6C-345B-A8B634231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0">
            <a:extLst>
              <a:ext uri="{FF2B5EF4-FFF2-40B4-BE49-F238E27FC236}">
                <a16:creationId xmlns:a16="http://schemas.microsoft.com/office/drawing/2014/main" id="{04F9A6CF-EBE8-A6E4-07A6-F646AD3A562C}"/>
              </a:ext>
            </a:extLst>
          </p:cNvPr>
          <p:cNvSpPr/>
          <p:nvPr/>
        </p:nvSpPr>
        <p:spPr>
          <a:xfrm>
            <a:off x="0" y="0"/>
            <a:ext cx="36576" cy="5143500"/>
          </a:xfrm>
          <a:prstGeom prst="rect">
            <a:avLst/>
          </a:prstGeom>
          <a:solidFill>
            <a:srgbClr val="63D7C4">
              <a:alpha val="30000"/>
            </a:srgbClr>
          </a:solidFill>
          <a:ln w="12700">
            <a:solidFill>
              <a:srgbClr val="63D7C4">
                <a:alpha val="30000"/>
              </a:srgbClr>
            </a:solidFill>
            <a:prstDash val="solid"/>
          </a:ln>
        </p:spPr>
      </p:sp>
      <p:sp>
        <p:nvSpPr>
          <p:cNvPr id="29" name="Shape 2">
            <a:extLst>
              <a:ext uri="{FF2B5EF4-FFF2-40B4-BE49-F238E27FC236}">
                <a16:creationId xmlns:a16="http://schemas.microsoft.com/office/drawing/2014/main" id="{5F918723-88F4-B816-7328-39EB6C12D3F0}"/>
              </a:ext>
            </a:extLst>
          </p:cNvPr>
          <p:cNvSpPr/>
          <p:nvPr/>
        </p:nvSpPr>
        <p:spPr>
          <a:xfrm>
            <a:off x="0" y="0"/>
            <a:ext cx="9144000" cy="22860"/>
          </a:xfrm>
          <a:prstGeom prst="rect">
            <a:avLst/>
          </a:prstGeom>
          <a:solidFill>
            <a:srgbClr val="63D7C4">
              <a:alpha val="40000"/>
            </a:srgbClr>
          </a:solidFill>
          <a:ln w="12700">
            <a:solidFill>
              <a:srgbClr val="63D7C4">
                <a:alpha val="40000"/>
              </a:srgbClr>
            </a:solidFill>
            <a:prstDash val="solid"/>
          </a:ln>
        </p:spPr>
      </p:sp>
      <p:sp>
        <p:nvSpPr>
          <p:cNvPr id="30" name="Shape 1">
            <a:extLst>
              <a:ext uri="{FF2B5EF4-FFF2-40B4-BE49-F238E27FC236}">
                <a16:creationId xmlns:a16="http://schemas.microsoft.com/office/drawing/2014/main" id="{11B80A95-026C-37DF-E225-E323FD10CD61}"/>
              </a:ext>
            </a:extLst>
          </p:cNvPr>
          <p:cNvSpPr/>
          <p:nvPr/>
        </p:nvSpPr>
        <p:spPr>
          <a:xfrm>
            <a:off x="9107424" y="0"/>
            <a:ext cx="36576" cy="5143500"/>
          </a:xfrm>
          <a:prstGeom prst="rect">
            <a:avLst/>
          </a:prstGeom>
          <a:solidFill>
            <a:srgbClr val="63D7C4">
              <a:alpha val="30000"/>
            </a:srgbClr>
          </a:solidFill>
          <a:ln w="12700">
            <a:solidFill>
              <a:srgbClr val="63D7C4">
                <a:alpha val="30000"/>
              </a:srgbClr>
            </a:solidFill>
            <a:prstDash val="solid"/>
          </a:ln>
        </p:spPr>
      </p:sp>
      <p:sp>
        <p:nvSpPr>
          <p:cNvPr id="31" name="Shape 2">
            <a:extLst>
              <a:ext uri="{FF2B5EF4-FFF2-40B4-BE49-F238E27FC236}">
                <a16:creationId xmlns:a16="http://schemas.microsoft.com/office/drawing/2014/main" id="{3DC1E2EA-CCFB-780B-5472-6EC5B3FAB0B3}"/>
              </a:ext>
            </a:extLst>
          </p:cNvPr>
          <p:cNvSpPr/>
          <p:nvPr/>
        </p:nvSpPr>
        <p:spPr>
          <a:xfrm>
            <a:off x="0" y="5132070"/>
            <a:ext cx="9144000" cy="22860"/>
          </a:xfrm>
          <a:prstGeom prst="rect">
            <a:avLst/>
          </a:prstGeom>
          <a:solidFill>
            <a:srgbClr val="63D7C4">
              <a:alpha val="40000"/>
            </a:srgbClr>
          </a:solidFill>
          <a:ln w="12700">
            <a:solidFill>
              <a:srgbClr val="63D7C4">
                <a:alpha val="40000"/>
              </a:srgbClr>
            </a:solidFill>
            <a:prstDash val="solid"/>
          </a:ln>
        </p:spPr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9F4EA45-E550-C823-FF1B-85319E11191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980" t="4479" r="1087"/>
          <a:stretch>
            <a:fillRect/>
          </a:stretch>
        </p:blipFill>
        <p:spPr>
          <a:xfrm>
            <a:off x="1007949" y="67701"/>
            <a:ext cx="7212858" cy="4913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5163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" cy="5143500"/>
          </a:xfrm>
          <a:prstGeom prst="rect">
            <a:avLst/>
          </a:prstGeom>
          <a:solidFill>
            <a:srgbClr val="63D7C4">
              <a:alpha val="30000"/>
            </a:srgbClr>
          </a:solidFill>
          <a:ln w="12700">
            <a:solidFill>
              <a:srgbClr val="63D7C4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07424" y="0"/>
            <a:ext cx="36576" cy="5143500"/>
          </a:xfrm>
          <a:prstGeom prst="rect">
            <a:avLst/>
          </a:prstGeom>
          <a:solidFill>
            <a:srgbClr val="63D7C4">
              <a:alpha val="30000"/>
            </a:srgbClr>
          </a:solidFill>
          <a:ln w="12700">
            <a:solidFill>
              <a:srgbClr val="63D7C4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22860"/>
          </a:xfrm>
          <a:prstGeom prst="rect">
            <a:avLst/>
          </a:prstGeom>
          <a:solidFill>
            <a:srgbClr val="63D7C4">
              <a:alpha val="40000"/>
            </a:srgbClr>
          </a:solidFill>
          <a:ln w="12700">
            <a:solidFill>
              <a:srgbClr val="63D7C4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256032"/>
            <a:ext cx="1828800" cy="256032"/>
          </a:xfrm>
          <a:prstGeom prst="rect">
            <a:avLst/>
          </a:prstGeom>
          <a:solidFill>
            <a:srgbClr val="63D7C4">
              <a:alpha val="18000"/>
            </a:srgbClr>
          </a:solidFill>
          <a:ln w="12700">
            <a:solidFill>
              <a:srgbClr val="63D7C4">
                <a:alpha val="4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2560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63D7C4"/>
                </a:solidFill>
              </a:rPr>
              <a:t>MILESTONE 3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560320" y="256032"/>
            <a:ext cx="1463040" cy="246888"/>
          </a:xfrm>
          <a:prstGeom prst="rect">
            <a:avLst/>
          </a:prstGeom>
          <a:solidFill>
            <a:srgbClr val="F97316">
              <a:alpha val="15000"/>
            </a:srgbClr>
          </a:solidFill>
          <a:ln w="12700">
            <a:solidFill>
              <a:srgbClr val="F97316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0" y="256032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97316"/>
                </a:solidFill>
              </a:rPr>
              <a:t>🚨 ANOMALY DETECTOR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02920" y="5669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Anomaly Detector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502920" y="1188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A96"/>
                </a:solidFill>
              </a:rPr>
              <a:t>Threshold Violations · Prophet Residuals · Outlier Clusters · Interactive Plotly Charts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040" y="1572768"/>
            <a:ext cx="2816352" cy="3310128"/>
          </a:xfrm>
          <a:prstGeom prst="rect">
            <a:avLst/>
          </a:prstGeom>
          <a:solidFill>
            <a:srgbClr val="0D1526">
              <a:alpha val="90000"/>
            </a:srgbClr>
          </a:solidFill>
          <a:ln w="12700">
            <a:solidFill>
              <a:srgbClr val="F87171">
                <a:alpha val="2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572768"/>
            <a:ext cx="50292" cy="331012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" y="1664208"/>
            <a:ext cx="475488" cy="475488"/>
          </a:xfrm>
          <a:prstGeom prst="rect">
            <a:avLst/>
          </a:prstGeom>
          <a:solidFill>
            <a:srgbClr val="F87171">
              <a:alpha val="22000"/>
            </a:srgbClr>
          </a:solidFill>
          <a:ln w="12700">
            <a:solidFill>
              <a:srgbClr val="F87171">
                <a:alpha val="4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" y="16642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87171"/>
                </a:solidFill>
              </a:rPr>
              <a:t>①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14984" y="1737360"/>
            <a:ext cx="20299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2EAF4"/>
                </a:solidFill>
              </a:rPr>
              <a:t>Threshold Violations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84632" y="2240280"/>
            <a:ext cx="2487168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7A96"/>
                </a:solidFill>
              </a:rPr>
              <a:t>HR &gt; 100 bpm OR HR &lt; 50 bpm → flagged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7A96"/>
                </a:solidFill>
              </a:rPr>
              <a:t>Steps &lt; 500 OR &gt; 25,000 → flagged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7A96"/>
                </a:solidFill>
              </a:rPr>
              <a:t>Sleep &lt; 60 min OR &gt; 600 min → flagged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7A96"/>
                </a:solidFill>
              </a:rPr>
              <a:t>Hard limits — simple, interpretable, fast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64408" y="1572768"/>
            <a:ext cx="2816352" cy="3310128"/>
          </a:xfrm>
          <a:prstGeom prst="rect">
            <a:avLst/>
          </a:prstGeom>
          <a:solidFill>
            <a:srgbClr val="0D1526">
              <a:alpha val="90000"/>
            </a:srgbClr>
          </a:solidFill>
          <a:ln w="12700">
            <a:solidFill>
              <a:srgbClr val="F97316">
                <a:alpha val="2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64408" y="1572768"/>
            <a:ext cx="50292" cy="33101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74136" y="1664208"/>
            <a:ext cx="475488" cy="475488"/>
          </a:xfrm>
          <a:prstGeom prst="rect">
            <a:avLst/>
          </a:prstGeom>
          <a:solidFill>
            <a:srgbClr val="F97316">
              <a:alpha val="22000"/>
            </a:srgbClr>
          </a:solidFill>
          <a:ln w="12700">
            <a:solidFill>
              <a:srgbClr val="F97316">
                <a:alpha val="4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74136" y="16642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97316"/>
                </a:solidFill>
              </a:rPr>
              <a:t>②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3959352" y="1737360"/>
            <a:ext cx="20299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2EAF4"/>
                </a:solidFill>
              </a:rPr>
              <a:t>Residual-Based Detection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429000" y="2240280"/>
            <a:ext cx="2487168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7A96"/>
                </a:solidFill>
              </a:rPr>
              <a:t>Rolling 3-day median as baseline per signal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7A96"/>
                </a:solidFill>
              </a:rPr>
              <a:t>Flag days where actual deviates ≥ ±2σ residual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7A96"/>
                </a:solidFill>
              </a:rPr>
              <a:t>Applied to Heart Rate, Steps, and Sleep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7A96"/>
                </a:solidFill>
              </a:rPr>
              <a:t>Configurable σ threshold via sidebar slider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08776" y="1572768"/>
            <a:ext cx="2816352" cy="3310128"/>
          </a:xfrm>
          <a:prstGeom prst="rect">
            <a:avLst/>
          </a:prstGeom>
          <a:solidFill>
            <a:srgbClr val="0D1526">
              <a:alpha val="90000"/>
            </a:srgbClr>
          </a:solidFill>
          <a:ln w="12700">
            <a:solidFill>
              <a:srgbClr val="818CF8">
                <a:alpha val="2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08776" y="1572768"/>
            <a:ext cx="50292" cy="3310128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18504" y="1664208"/>
            <a:ext cx="475488" cy="475488"/>
          </a:xfrm>
          <a:prstGeom prst="rect">
            <a:avLst/>
          </a:prstGeom>
          <a:solidFill>
            <a:srgbClr val="818CF8">
              <a:alpha val="22000"/>
            </a:srgbClr>
          </a:solidFill>
          <a:ln w="12700">
            <a:solidFill>
              <a:srgbClr val="818CF8">
                <a:alpha val="4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18504" y="16642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18CF8"/>
                </a:solidFill>
              </a:rPr>
              <a:t>③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903720" y="1737360"/>
            <a:ext cx="20299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2EAF4"/>
                </a:solidFill>
              </a:rPr>
              <a:t>DBSCAN Outlier Users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373368" y="2240280"/>
            <a:ext cx="2487168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7A96"/>
                </a:solidFill>
              </a:rPr>
              <a:t>Users labelled −1 by DBSCAN = structural outliers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7A96"/>
                </a:solidFill>
              </a:rPr>
              <a:t>Not fitting any recognised activity cluster group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7A96"/>
                </a:solidFill>
              </a:rPr>
              <a:t>PCA 2D scatter with X markers for outliers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7A96"/>
                </a:solidFill>
              </a:rPr>
              <a:t>Outlier profiles shown in detail table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98AB57-B8BB-D4DD-BFF6-699F98387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B113395-87D5-7290-34CA-83238D659C0B}"/>
              </a:ext>
            </a:extLst>
          </p:cNvPr>
          <p:cNvSpPr/>
          <p:nvPr/>
        </p:nvSpPr>
        <p:spPr>
          <a:xfrm>
            <a:off x="0" y="0"/>
            <a:ext cx="36576" cy="5143500"/>
          </a:xfrm>
          <a:prstGeom prst="rect">
            <a:avLst/>
          </a:prstGeom>
          <a:solidFill>
            <a:srgbClr val="63D7C4">
              <a:alpha val="30000"/>
            </a:srgbClr>
          </a:solidFill>
          <a:ln w="12700">
            <a:solidFill>
              <a:srgbClr val="63D7C4">
                <a:alpha val="30000"/>
              </a:srgbClr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41143C5-2A6C-D0F4-85AB-0CDF53DE7AF8}"/>
              </a:ext>
            </a:extLst>
          </p:cNvPr>
          <p:cNvSpPr/>
          <p:nvPr/>
        </p:nvSpPr>
        <p:spPr>
          <a:xfrm>
            <a:off x="9107424" y="0"/>
            <a:ext cx="36576" cy="5143500"/>
          </a:xfrm>
          <a:prstGeom prst="rect">
            <a:avLst/>
          </a:prstGeom>
          <a:solidFill>
            <a:srgbClr val="63D7C4">
              <a:alpha val="30000"/>
            </a:srgbClr>
          </a:solidFill>
          <a:ln w="12700">
            <a:solidFill>
              <a:srgbClr val="63D7C4">
                <a:alpha val="30000"/>
              </a:srgbClr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4DBFC00-6551-5323-650D-6E7FE18191A9}"/>
              </a:ext>
            </a:extLst>
          </p:cNvPr>
          <p:cNvSpPr/>
          <p:nvPr/>
        </p:nvSpPr>
        <p:spPr>
          <a:xfrm>
            <a:off x="0" y="0"/>
            <a:ext cx="9144000" cy="22860"/>
          </a:xfrm>
          <a:prstGeom prst="rect">
            <a:avLst/>
          </a:prstGeom>
          <a:solidFill>
            <a:srgbClr val="63D7C4">
              <a:alpha val="40000"/>
            </a:srgbClr>
          </a:solidFill>
          <a:ln w="12700">
            <a:solidFill>
              <a:srgbClr val="63D7C4">
                <a:alpha val="40000"/>
              </a:srgbClr>
            </a:solidFill>
            <a:prstDash val="solid"/>
          </a:ln>
        </p:spPr>
      </p:sp>
      <p:sp>
        <p:nvSpPr>
          <p:cNvPr id="29" name="Text 7">
            <a:extLst>
              <a:ext uri="{FF2B5EF4-FFF2-40B4-BE49-F238E27FC236}">
                <a16:creationId xmlns:a16="http://schemas.microsoft.com/office/drawing/2014/main" id="{68901BE8-03BB-E127-CF1B-28AEFBCA4243}"/>
              </a:ext>
            </a:extLst>
          </p:cNvPr>
          <p:cNvSpPr/>
          <p:nvPr/>
        </p:nvSpPr>
        <p:spPr>
          <a:xfrm>
            <a:off x="2606040" y="107653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3D7C4"/>
                </a:solidFill>
              </a:rPr>
              <a:t>🔧  MILESTONE 3 — Anomaly detector </a:t>
            </a:r>
            <a:endParaRPr lang="en-US" sz="950" dirty="0"/>
          </a:p>
        </p:txBody>
      </p:sp>
      <p:sp>
        <p:nvSpPr>
          <p:cNvPr id="30" name="Shape 10">
            <a:extLst>
              <a:ext uri="{FF2B5EF4-FFF2-40B4-BE49-F238E27FC236}">
                <a16:creationId xmlns:a16="http://schemas.microsoft.com/office/drawing/2014/main" id="{DD95B8B0-79EF-FA5A-69F6-B7073762B826}"/>
              </a:ext>
            </a:extLst>
          </p:cNvPr>
          <p:cNvSpPr/>
          <p:nvPr/>
        </p:nvSpPr>
        <p:spPr>
          <a:xfrm>
            <a:off x="2608458" y="1533730"/>
            <a:ext cx="3931920" cy="548640"/>
          </a:xfrm>
          <a:prstGeom prst="rect">
            <a:avLst/>
          </a:prstGeom>
          <a:solidFill>
            <a:srgbClr val="0D1526"/>
          </a:solidFill>
          <a:ln w="12700">
            <a:solidFill>
              <a:srgbClr val="63D7C4">
                <a:alpha val="35000"/>
              </a:srgbClr>
            </a:solidFill>
            <a:prstDash val="solid"/>
          </a:ln>
        </p:spPr>
      </p:sp>
      <p:sp>
        <p:nvSpPr>
          <p:cNvPr id="31" name="Shape 11">
            <a:extLst>
              <a:ext uri="{FF2B5EF4-FFF2-40B4-BE49-F238E27FC236}">
                <a16:creationId xmlns:a16="http://schemas.microsoft.com/office/drawing/2014/main" id="{A165DDD3-C1FC-1AF9-4970-B57E9448A779}"/>
              </a:ext>
            </a:extLst>
          </p:cNvPr>
          <p:cNvSpPr/>
          <p:nvPr/>
        </p:nvSpPr>
        <p:spPr>
          <a:xfrm>
            <a:off x="2608458" y="1533730"/>
            <a:ext cx="45720" cy="548640"/>
          </a:xfrm>
          <a:prstGeom prst="rect">
            <a:avLst/>
          </a:prstGeom>
          <a:solidFill>
            <a:srgbClr val="63D7C4"/>
          </a:solidFill>
          <a:ln w="12700">
            <a:solidFill>
              <a:srgbClr val="63D7C4"/>
            </a:solidFill>
            <a:prstDash val="solid"/>
          </a:ln>
        </p:spPr>
      </p:sp>
      <p:sp>
        <p:nvSpPr>
          <p:cNvPr id="32" name="Text 12">
            <a:extLst>
              <a:ext uri="{FF2B5EF4-FFF2-40B4-BE49-F238E27FC236}">
                <a16:creationId xmlns:a16="http://schemas.microsoft.com/office/drawing/2014/main" id="{BC5531B3-254B-BA2F-299B-ED0BD92F38ED}"/>
              </a:ext>
            </a:extLst>
          </p:cNvPr>
          <p:cNvSpPr/>
          <p:nvPr/>
        </p:nvSpPr>
        <p:spPr>
          <a:xfrm>
            <a:off x="2718186" y="157030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3D7C4"/>
                </a:solidFill>
              </a:rPr>
              <a:t>①</a:t>
            </a:r>
            <a:endParaRPr lang="en-US" sz="1400" dirty="0"/>
          </a:p>
        </p:txBody>
      </p:sp>
      <p:sp>
        <p:nvSpPr>
          <p:cNvPr id="33" name="Text 13">
            <a:extLst>
              <a:ext uri="{FF2B5EF4-FFF2-40B4-BE49-F238E27FC236}">
                <a16:creationId xmlns:a16="http://schemas.microsoft.com/office/drawing/2014/main" id="{B088DBC9-8EE8-5DBC-5CF1-67AFDEFCB957}"/>
              </a:ext>
            </a:extLst>
          </p:cNvPr>
          <p:cNvSpPr/>
          <p:nvPr/>
        </p:nvSpPr>
        <p:spPr>
          <a:xfrm>
            <a:off x="3138810" y="1579450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EAF4"/>
                </a:solidFill>
              </a:rPr>
              <a:t>Upload CSV</a:t>
            </a:r>
            <a:endParaRPr lang="en-US" sz="1100" dirty="0"/>
          </a:p>
        </p:txBody>
      </p:sp>
      <p:sp>
        <p:nvSpPr>
          <p:cNvPr id="34" name="Text 14">
            <a:extLst>
              <a:ext uri="{FF2B5EF4-FFF2-40B4-BE49-F238E27FC236}">
                <a16:creationId xmlns:a16="http://schemas.microsoft.com/office/drawing/2014/main" id="{F9148387-C4ED-8DBA-6765-47E714C17157}"/>
              </a:ext>
            </a:extLst>
          </p:cNvPr>
          <p:cNvSpPr/>
          <p:nvPr/>
        </p:nvSpPr>
        <p:spPr>
          <a:xfrm>
            <a:off x="3138810" y="1808050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6"/>
                </a:solidFill>
              </a:rPr>
              <a:t>36,500 rows × 16 cols loaded</a:t>
            </a:r>
            <a:endParaRPr lang="en-US" sz="900" dirty="0"/>
          </a:p>
        </p:txBody>
      </p:sp>
      <p:sp>
        <p:nvSpPr>
          <p:cNvPr id="35" name="Text 15">
            <a:extLst>
              <a:ext uri="{FF2B5EF4-FFF2-40B4-BE49-F238E27FC236}">
                <a16:creationId xmlns:a16="http://schemas.microsoft.com/office/drawing/2014/main" id="{75F3E668-1BFC-7ABC-3847-DBB41BD59AFD}"/>
              </a:ext>
            </a:extLst>
          </p:cNvPr>
          <p:cNvSpPr/>
          <p:nvPr/>
        </p:nvSpPr>
        <p:spPr>
          <a:xfrm>
            <a:off x="2608458" y="2091514"/>
            <a:ext cx="393192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3D7C4"/>
                </a:solidFill>
              </a:rPr>
              <a:t>↓</a:t>
            </a:r>
            <a:endParaRPr lang="en-US" sz="1000" dirty="0"/>
          </a:p>
        </p:txBody>
      </p:sp>
      <p:sp>
        <p:nvSpPr>
          <p:cNvPr id="36" name="Shape 16">
            <a:extLst>
              <a:ext uri="{FF2B5EF4-FFF2-40B4-BE49-F238E27FC236}">
                <a16:creationId xmlns:a16="http://schemas.microsoft.com/office/drawing/2014/main" id="{B0165C48-9550-ABBC-4426-856EBF2383B8}"/>
              </a:ext>
            </a:extLst>
          </p:cNvPr>
          <p:cNvSpPr/>
          <p:nvPr/>
        </p:nvSpPr>
        <p:spPr>
          <a:xfrm>
            <a:off x="2608458" y="2196670"/>
            <a:ext cx="3931920" cy="548640"/>
          </a:xfrm>
          <a:prstGeom prst="rect">
            <a:avLst/>
          </a:prstGeom>
          <a:solidFill>
            <a:srgbClr val="0D1526"/>
          </a:solidFill>
          <a:ln w="12700">
            <a:solidFill>
              <a:srgbClr val="63D7C4">
                <a:alpha val="35000"/>
              </a:srgbClr>
            </a:solidFill>
            <a:prstDash val="solid"/>
          </a:ln>
        </p:spPr>
      </p:sp>
      <p:sp>
        <p:nvSpPr>
          <p:cNvPr id="37" name="Shape 17">
            <a:extLst>
              <a:ext uri="{FF2B5EF4-FFF2-40B4-BE49-F238E27FC236}">
                <a16:creationId xmlns:a16="http://schemas.microsoft.com/office/drawing/2014/main" id="{4968962B-B462-4C17-9A22-FB170D7CB4F5}"/>
              </a:ext>
            </a:extLst>
          </p:cNvPr>
          <p:cNvSpPr/>
          <p:nvPr/>
        </p:nvSpPr>
        <p:spPr>
          <a:xfrm>
            <a:off x="2608458" y="2192098"/>
            <a:ext cx="45720" cy="548640"/>
          </a:xfrm>
          <a:prstGeom prst="rect">
            <a:avLst/>
          </a:prstGeom>
          <a:solidFill>
            <a:srgbClr val="63D7C4"/>
          </a:solidFill>
          <a:ln w="12700">
            <a:solidFill>
              <a:srgbClr val="63D7C4"/>
            </a:solidFill>
            <a:prstDash val="solid"/>
          </a:ln>
        </p:spPr>
      </p:sp>
      <p:sp>
        <p:nvSpPr>
          <p:cNvPr id="38" name="Text 18">
            <a:extLst>
              <a:ext uri="{FF2B5EF4-FFF2-40B4-BE49-F238E27FC236}">
                <a16:creationId xmlns:a16="http://schemas.microsoft.com/office/drawing/2014/main" id="{1DDCC51F-7041-F061-A13A-A7AC228B079D}"/>
              </a:ext>
            </a:extLst>
          </p:cNvPr>
          <p:cNvSpPr/>
          <p:nvPr/>
        </p:nvSpPr>
        <p:spPr>
          <a:xfrm>
            <a:off x="2718186" y="222867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3D7C4"/>
                </a:solidFill>
              </a:rPr>
              <a:t>②</a:t>
            </a:r>
            <a:endParaRPr lang="en-US" sz="1400" dirty="0"/>
          </a:p>
        </p:txBody>
      </p:sp>
      <p:sp>
        <p:nvSpPr>
          <p:cNvPr id="39" name="Text 19">
            <a:extLst>
              <a:ext uri="{FF2B5EF4-FFF2-40B4-BE49-F238E27FC236}">
                <a16:creationId xmlns:a16="http://schemas.microsoft.com/office/drawing/2014/main" id="{F3DD5CDF-1E6A-B9E4-F918-2B17A400A184}"/>
              </a:ext>
            </a:extLst>
          </p:cNvPr>
          <p:cNvSpPr/>
          <p:nvPr/>
        </p:nvSpPr>
        <p:spPr>
          <a:xfrm>
            <a:off x="3138810" y="2237818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100" b="1" dirty="0">
                <a:solidFill>
                  <a:schemeClr val="bg1"/>
                </a:solidFill>
              </a:rPr>
              <a:t>Threshold Detection</a:t>
            </a:r>
            <a:endParaRPr lang="en-US" sz="1100" b="1" dirty="0">
              <a:solidFill>
                <a:schemeClr val="bg1"/>
              </a:solidFill>
            </a:endParaRPr>
          </a:p>
        </p:txBody>
      </p:sp>
      <p:sp>
        <p:nvSpPr>
          <p:cNvPr id="40" name="Text 20">
            <a:extLst>
              <a:ext uri="{FF2B5EF4-FFF2-40B4-BE49-F238E27FC236}">
                <a16:creationId xmlns:a16="http://schemas.microsoft.com/office/drawing/2014/main" id="{EF289B28-4AE5-AD00-FF33-F74130ED9E58}"/>
              </a:ext>
            </a:extLst>
          </p:cNvPr>
          <p:cNvSpPr/>
          <p:nvPr/>
        </p:nvSpPr>
        <p:spPr>
          <a:xfrm>
            <a:off x="3189102" y="2475562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6"/>
                </a:solidFill>
              </a:rPr>
              <a:t>Flag Values outside predefined limits</a:t>
            </a:r>
            <a:endParaRPr lang="en-US" sz="900" dirty="0"/>
          </a:p>
        </p:txBody>
      </p:sp>
      <p:sp>
        <p:nvSpPr>
          <p:cNvPr id="41" name="Text 21">
            <a:extLst>
              <a:ext uri="{FF2B5EF4-FFF2-40B4-BE49-F238E27FC236}">
                <a16:creationId xmlns:a16="http://schemas.microsoft.com/office/drawing/2014/main" id="{6C5E295B-E121-7FE0-A11F-9DBE818453B4}"/>
              </a:ext>
            </a:extLst>
          </p:cNvPr>
          <p:cNvSpPr/>
          <p:nvPr/>
        </p:nvSpPr>
        <p:spPr>
          <a:xfrm>
            <a:off x="2608458" y="2749882"/>
            <a:ext cx="393192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3D7C4"/>
                </a:solidFill>
              </a:rPr>
              <a:t>↓</a:t>
            </a:r>
            <a:endParaRPr lang="en-US" sz="1000" dirty="0"/>
          </a:p>
        </p:txBody>
      </p:sp>
      <p:sp>
        <p:nvSpPr>
          <p:cNvPr id="42" name="Shape 22">
            <a:extLst>
              <a:ext uri="{FF2B5EF4-FFF2-40B4-BE49-F238E27FC236}">
                <a16:creationId xmlns:a16="http://schemas.microsoft.com/office/drawing/2014/main" id="{4F42BBCA-106C-CDA1-11EF-319ACD0AC324}"/>
              </a:ext>
            </a:extLst>
          </p:cNvPr>
          <p:cNvSpPr/>
          <p:nvPr/>
        </p:nvSpPr>
        <p:spPr>
          <a:xfrm>
            <a:off x="2608458" y="2850466"/>
            <a:ext cx="3931920" cy="548640"/>
          </a:xfrm>
          <a:prstGeom prst="rect">
            <a:avLst/>
          </a:prstGeom>
          <a:solidFill>
            <a:srgbClr val="0D1526"/>
          </a:solidFill>
          <a:ln w="12700">
            <a:solidFill>
              <a:srgbClr val="63D7C4">
                <a:alpha val="35000"/>
              </a:srgbClr>
            </a:solidFill>
            <a:prstDash val="solid"/>
          </a:ln>
        </p:spPr>
      </p:sp>
      <p:sp>
        <p:nvSpPr>
          <p:cNvPr id="43" name="Shape 23">
            <a:extLst>
              <a:ext uri="{FF2B5EF4-FFF2-40B4-BE49-F238E27FC236}">
                <a16:creationId xmlns:a16="http://schemas.microsoft.com/office/drawing/2014/main" id="{C99A655F-AE33-C491-8185-0006E4C88C13}"/>
              </a:ext>
            </a:extLst>
          </p:cNvPr>
          <p:cNvSpPr/>
          <p:nvPr/>
        </p:nvSpPr>
        <p:spPr>
          <a:xfrm>
            <a:off x="2608458" y="2850466"/>
            <a:ext cx="45720" cy="548640"/>
          </a:xfrm>
          <a:prstGeom prst="rect">
            <a:avLst/>
          </a:prstGeom>
          <a:solidFill>
            <a:srgbClr val="63D7C4"/>
          </a:solidFill>
          <a:ln w="12700">
            <a:solidFill>
              <a:srgbClr val="63D7C4"/>
            </a:solidFill>
            <a:prstDash val="solid"/>
          </a:ln>
        </p:spPr>
      </p:sp>
      <p:sp>
        <p:nvSpPr>
          <p:cNvPr id="44" name="Text 24">
            <a:extLst>
              <a:ext uri="{FF2B5EF4-FFF2-40B4-BE49-F238E27FC236}">
                <a16:creationId xmlns:a16="http://schemas.microsoft.com/office/drawing/2014/main" id="{2FF6B4CF-A038-517E-213A-DCA7D2BB964F}"/>
              </a:ext>
            </a:extLst>
          </p:cNvPr>
          <p:cNvSpPr/>
          <p:nvPr/>
        </p:nvSpPr>
        <p:spPr>
          <a:xfrm>
            <a:off x="2718186" y="288704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3D7C4"/>
                </a:solidFill>
              </a:rPr>
              <a:t>③</a:t>
            </a:r>
            <a:endParaRPr lang="en-US" sz="1400" dirty="0"/>
          </a:p>
        </p:txBody>
      </p:sp>
      <p:sp>
        <p:nvSpPr>
          <p:cNvPr id="45" name="Text 25">
            <a:extLst>
              <a:ext uri="{FF2B5EF4-FFF2-40B4-BE49-F238E27FC236}">
                <a16:creationId xmlns:a16="http://schemas.microsoft.com/office/drawing/2014/main" id="{788308CF-8C98-39EA-E207-ED420E0B3F66}"/>
              </a:ext>
            </a:extLst>
          </p:cNvPr>
          <p:cNvSpPr/>
          <p:nvPr/>
        </p:nvSpPr>
        <p:spPr>
          <a:xfrm>
            <a:off x="3138810" y="2896186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100" b="1" dirty="0">
                <a:solidFill>
                  <a:schemeClr val="bg1"/>
                </a:solidFill>
              </a:rPr>
              <a:t>Residual Detection</a:t>
            </a:r>
            <a:endParaRPr lang="en-US" sz="1100" b="1" dirty="0">
              <a:solidFill>
                <a:schemeClr val="bg1"/>
              </a:solidFill>
            </a:endParaRPr>
          </a:p>
        </p:txBody>
      </p:sp>
      <p:sp>
        <p:nvSpPr>
          <p:cNvPr id="46" name="Text 26">
            <a:extLst>
              <a:ext uri="{FF2B5EF4-FFF2-40B4-BE49-F238E27FC236}">
                <a16:creationId xmlns:a16="http://schemas.microsoft.com/office/drawing/2014/main" id="{77FBC1D5-CCBD-6D85-757C-B4D2E8FE6CE7}"/>
              </a:ext>
            </a:extLst>
          </p:cNvPr>
          <p:cNvSpPr/>
          <p:nvPr/>
        </p:nvSpPr>
        <p:spPr>
          <a:xfrm>
            <a:off x="3138810" y="3124786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6"/>
                </a:solidFill>
              </a:rPr>
              <a:t>Detect deviations using rolling median and </a:t>
            </a:r>
            <a:r>
              <a:rPr lang="el-GR" sz="900" dirty="0">
                <a:solidFill>
                  <a:schemeClr val="bg2"/>
                </a:solidFill>
              </a:rPr>
              <a:t>±2σ</a:t>
            </a:r>
            <a:endParaRPr lang="en-US" sz="900" dirty="0">
              <a:solidFill>
                <a:schemeClr val="bg2"/>
              </a:solidFill>
            </a:endParaRPr>
          </a:p>
        </p:txBody>
      </p:sp>
      <p:sp>
        <p:nvSpPr>
          <p:cNvPr id="47" name="Text 27">
            <a:extLst>
              <a:ext uri="{FF2B5EF4-FFF2-40B4-BE49-F238E27FC236}">
                <a16:creationId xmlns:a16="http://schemas.microsoft.com/office/drawing/2014/main" id="{02F4D07D-803C-2FD6-6352-98B34A0CE2DA}"/>
              </a:ext>
            </a:extLst>
          </p:cNvPr>
          <p:cNvSpPr/>
          <p:nvPr/>
        </p:nvSpPr>
        <p:spPr>
          <a:xfrm>
            <a:off x="2608458" y="3408250"/>
            <a:ext cx="393192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3D7C4"/>
                </a:solidFill>
              </a:rPr>
              <a:t>↓</a:t>
            </a:r>
            <a:endParaRPr lang="en-US" sz="1000" dirty="0"/>
          </a:p>
        </p:txBody>
      </p:sp>
      <p:sp>
        <p:nvSpPr>
          <p:cNvPr id="48" name="Shape 28">
            <a:extLst>
              <a:ext uri="{FF2B5EF4-FFF2-40B4-BE49-F238E27FC236}">
                <a16:creationId xmlns:a16="http://schemas.microsoft.com/office/drawing/2014/main" id="{0C36802E-3741-02DA-8817-3FAEB0E41089}"/>
              </a:ext>
            </a:extLst>
          </p:cNvPr>
          <p:cNvSpPr/>
          <p:nvPr/>
        </p:nvSpPr>
        <p:spPr>
          <a:xfrm>
            <a:off x="2608458" y="3508834"/>
            <a:ext cx="3931920" cy="548640"/>
          </a:xfrm>
          <a:prstGeom prst="rect">
            <a:avLst/>
          </a:prstGeom>
          <a:solidFill>
            <a:srgbClr val="0D1526"/>
          </a:solidFill>
          <a:ln w="12700">
            <a:solidFill>
              <a:srgbClr val="63D7C4">
                <a:alpha val="35000"/>
              </a:srgbClr>
            </a:solidFill>
            <a:prstDash val="solid"/>
          </a:ln>
        </p:spPr>
      </p:sp>
      <p:sp>
        <p:nvSpPr>
          <p:cNvPr id="49" name="Shape 29">
            <a:extLst>
              <a:ext uri="{FF2B5EF4-FFF2-40B4-BE49-F238E27FC236}">
                <a16:creationId xmlns:a16="http://schemas.microsoft.com/office/drawing/2014/main" id="{E93732B0-10C0-48D9-6004-3389A623EF19}"/>
              </a:ext>
            </a:extLst>
          </p:cNvPr>
          <p:cNvSpPr/>
          <p:nvPr/>
        </p:nvSpPr>
        <p:spPr>
          <a:xfrm>
            <a:off x="2608458" y="3508834"/>
            <a:ext cx="45720" cy="548640"/>
          </a:xfrm>
          <a:prstGeom prst="rect">
            <a:avLst/>
          </a:prstGeom>
          <a:solidFill>
            <a:srgbClr val="63D7C4"/>
          </a:solidFill>
          <a:ln w="12700">
            <a:solidFill>
              <a:srgbClr val="63D7C4"/>
            </a:solidFill>
            <a:prstDash val="solid"/>
          </a:ln>
        </p:spPr>
      </p:sp>
      <p:sp>
        <p:nvSpPr>
          <p:cNvPr id="50" name="Text 30">
            <a:extLst>
              <a:ext uri="{FF2B5EF4-FFF2-40B4-BE49-F238E27FC236}">
                <a16:creationId xmlns:a16="http://schemas.microsoft.com/office/drawing/2014/main" id="{F1BAF8C7-B04E-34F1-D1FC-6D63E533B1F0}"/>
              </a:ext>
            </a:extLst>
          </p:cNvPr>
          <p:cNvSpPr/>
          <p:nvPr/>
        </p:nvSpPr>
        <p:spPr>
          <a:xfrm>
            <a:off x="2718186" y="354541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3D7C4"/>
                </a:solidFill>
              </a:rPr>
              <a:t>④</a:t>
            </a:r>
            <a:endParaRPr lang="en-US" sz="1400" dirty="0"/>
          </a:p>
        </p:txBody>
      </p:sp>
      <p:sp>
        <p:nvSpPr>
          <p:cNvPr id="51" name="Text 31">
            <a:extLst>
              <a:ext uri="{FF2B5EF4-FFF2-40B4-BE49-F238E27FC236}">
                <a16:creationId xmlns:a16="http://schemas.microsoft.com/office/drawing/2014/main" id="{9C7809B6-7228-CE38-6F9F-EF6C9A376773}"/>
              </a:ext>
            </a:extLst>
          </p:cNvPr>
          <p:cNvSpPr/>
          <p:nvPr/>
        </p:nvSpPr>
        <p:spPr>
          <a:xfrm>
            <a:off x="3138810" y="3554554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100" b="1" dirty="0">
                <a:solidFill>
                  <a:schemeClr val="bg1"/>
                </a:solidFill>
              </a:rPr>
              <a:t>DBSCAN Outliers</a:t>
            </a:r>
            <a:endParaRPr lang="en-US" sz="1100" b="1" dirty="0">
              <a:solidFill>
                <a:schemeClr val="bg1"/>
              </a:solidFill>
            </a:endParaRPr>
          </a:p>
        </p:txBody>
      </p:sp>
      <p:sp>
        <p:nvSpPr>
          <p:cNvPr id="52" name="Text 32">
            <a:extLst>
              <a:ext uri="{FF2B5EF4-FFF2-40B4-BE49-F238E27FC236}">
                <a16:creationId xmlns:a16="http://schemas.microsoft.com/office/drawing/2014/main" id="{B04D4A5E-9089-4C9A-C41E-62BD71DC1152}"/>
              </a:ext>
            </a:extLst>
          </p:cNvPr>
          <p:cNvSpPr/>
          <p:nvPr/>
        </p:nvSpPr>
        <p:spPr>
          <a:xfrm>
            <a:off x="3138810" y="3783154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6"/>
                </a:solidFill>
              </a:rPr>
              <a:t>Identify users that don’t fit in any cluster</a:t>
            </a:r>
            <a:endParaRPr lang="en-US" sz="900" dirty="0"/>
          </a:p>
        </p:txBody>
      </p:sp>
      <p:sp>
        <p:nvSpPr>
          <p:cNvPr id="53" name="Text 33">
            <a:extLst>
              <a:ext uri="{FF2B5EF4-FFF2-40B4-BE49-F238E27FC236}">
                <a16:creationId xmlns:a16="http://schemas.microsoft.com/office/drawing/2014/main" id="{D9AD6CE9-72C6-F56B-DDD7-AF9654520214}"/>
              </a:ext>
            </a:extLst>
          </p:cNvPr>
          <p:cNvSpPr/>
          <p:nvPr/>
        </p:nvSpPr>
        <p:spPr>
          <a:xfrm>
            <a:off x="2608458" y="4066618"/>
            <a:ext cx="393192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3D7C4"/>
                </a:solidFill>
              </a:rPr>
              <a:t>↓</a:t>
            </a:r>
            <a:endParaRPr lang="en-US" sz="1000" dirty="0"/>
          </a:p>
        </p:txBody>
      </p:sp>
      <p:sp>
        <p:nvSpPr>
          <p:cNvPr id="54" name="Shape 34">
            <a:extLst>
              <a:ext uri="{FF2B5EF4-FFF2-40B4-BE49-F238E27FC236}">
                <a16:creationId xmlns:a16="http://schemas.microsoft.com/office/drawing/2014/main" id="{6991B098-D9D3-9DCC-4124-96EDB46FFA60}"/>
              </a:ext>
            </a:extLst>
          </p:cNvPr>
          <p:cNvSpPr/>
          <p:nvPr/>
        </p:nvSpPr>
        <p:spPr>
          <a:xfrm>
            <a:off x="2608458" y="4167202"/>
            <a:ext cx="3931920" cy="548640"/>
          </a:xfrm>
          <a:prstGeom prst="rect">
            <a:avLst/>
          </a:prstGeom>
          <a:solidFill>
            <a:srgbClr val="0D1526"/>
          </a:solidFill>
          <a:ln w="12700">
            <a:solidFill>
              <a:srgbClr val="63D7C4">
                <a:alpha val="35000"/>
              </a:srgbClr>
            </a:solidFill>
            <a:prstDash val="solid"/>
          </a:ln>
        </p:spPr>
      </p:sp>
      <p:sp>
        <p:nvSpPr>
          <p:cNvPr id="55" name="Shape 35">
            <a:extLst>
              <a:ext uri="{FF2B5EF4-FFF2-40B4-BE49-F238E27FC236}">
                <a16:creationId xmlns:a16="http://schemas.microsoft.com/office/drawing/2014/main" id="{5BB1538E-EB9D-1BB4-8EC9-20CED66B6882}"/>
              </a:ext>
            </a:extLst>
          </p:cNvPr>
          <p:cNvSpPr/>
          <p:nvPr/>
        </p:nvSpPr>
        <p:spPr>
          <a:xfrm>
            <a:off x="2608458" y="4167202"/>
            <a:ext cx="45720" cy="548640"/>
          </a:xfrm>
          <a:prstGeom prst="rect">
            <a:avLst/>
          </a:prstGeom>
          <a:solidFill>
            <a:srgbClr val="63D7C4"/>
          </a:solidFill>
          <a:ln w="12700">
            <a:solidFill>
              <a:srgbClr val="63D7C4"/>
            </a:solidFill>
            <a:prstDash val="solid"/>
          </a:ln>
        </p:spPr>
      </p:sp>
      <p:sp>
        <p:nvSpPr>
          <p:cNvPr id="56" name="Text 36">
            <a:extLst>
              <a:ext uri="{FF2B5EF4-FFF2-40B4-BE49-F238E27FC236}">
                <a16:creationId xmlns:a16="http://schemas.microsoft.com/office/drawing/2014/main" id="{C5B6DACA-57EC-6F4D-BC16-605D24425A73}"/>
              </a:ext>
            </a:extLst>
          </p:cNvPr>
          <p:cNvSpPr/>
          <p:nvPr/>
        </p:nvSpPr>
        <p:spPr>
          <a:xfrm>
            <a:off x="2718186" y="420377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3D7C4"/>
                </a:solidFill>
              </a:rPr>
              <a:t>⑤</a:t>
            </a:r>
            <a:endParaRPr lang="en-US" sz="1400" dirty="0"/>
          </a:p>
        </p:txBody>
      </p:sp>
      <p:sp>
        <p:nvSpPr>
          <p:cNvPr id="57" name="Text 37">
            <a:extLst>
              <a:ext uri="{FF2B5EF4-FFF2-40B4-BE49-F238E27FC236}">
                <a16:creationId xmlns:a16="http://schemas.microsoft.com/office/drawing/2014/main" id="{3C982C79-01B1-3294-7BFB-C0BD72A6E029}"/>
              </a:ext>
            </a:extLst>
          </p:cNvPr>
          <p:cNvSpPr/>
          <p:nvPr/>
        </p:nvSpPr>
        <p:spPr>
          <a:xfrm>
            <a:off x="3138810" y="4212922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100" b="1" dirty="0">
                <a:solidFill>
                  <a:schemeClr val="bg1"/>
                </a:solidFill>
              </a:rPr>
              <a:t>Output Results</a:t>
            </a:r>
            <a:endParaRPr lang="en-US" sz="1100" b="1" dirty="0">
              <a:solidFill>
                <a:schemeClr val="bg1"/>
              </a:solidFill>
            </a:endParaRPr>
          </a:p>
        </p:txBody>
      </p:sp>
      <p:sp>
        <p:nvSpPr>
          <p:cNvPr id="58" name="Text 38">
            <a:extLst>
              <a:ext uri="{FF2B5EF4-FFF2-40B4-BE49-F238E27FC236}">
                <a16:creationId xmlns:a16="http://schemas.microsoft.com/office/drawing/2014/main" id="{09B20780-20A7-E797-8749-8FB55EC80C54}"/>
              </a:ext>
            </a:extLst>
          </p:cNvPr>
          <p:cNvSpPr/>
          <p:nvPr/>
        </p:nvSpPr>
        <p:spPr>
          <a:xfrm>
            <a:off x="3138810" y="4441522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6"/>
                </a:solidFill>
              </a:rPr>
              <a:t>Store detected anomalies for reporting</a:t>
            </a:r>
            <a:endParaRPr lang="en-US" sz="9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4E1B7A4-6AAD-DA0B-639B-E588C8589787}"/>
              </a:ext>
            </a:extLst>
          </p:cNvPr>
          <p:cNvSpPr txBox="1"/>
          <p:nvPr/>
        </p:nvSpPr>
        <p:spPr>
          <a:xfrm>
            <a:off x="281574" y="297856"/>
            <a:ext cx="45785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Flowchart — End-to-End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5964995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03FCC6-826F-90F3-D5D4-EB67F755B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0">
            <a:extLst>
              <a:ext uri="{FF2B5EF4-FFF2-40B4-BE49-F238E27FC236}">
                <a16:creationId xmlns:a16="http://schemas.microsoft.com/office/drawing/2014/main" id="{3B808CE3-19FD-BC3F-9355-155AA0037773}"/>
              </a:ext>
            </a:extLst>
          </p:cNvPr>
          <p:cNvSpPr/>
          <p:nvPr/>
        </p:nvSpPr>
        <p:spPr>
          <a:xfrm>
            <a:off x="0" y="0"/>
            <a:ext cx="36576" cy="5143500"/>
          </a:xfrm>
          <a:prstGeom prst="rect">
            <a:avLst/>
          </a:prstGeom>
          <a:solidFill>
            <a:srgbClr val="63D7C4">
              <a:alpha val="30000"/>
            </a:srgbClr>
          </a:solidFill>
          <a:ln w="12700">
            <a:solidFill>
              <a:srgbClr val="63D7C4">
                <a:alpha val="30000"/>
              </a:srgbClr>
            </a:solidFill>
            <a:prstDash val="solid"/>
          </a:ln>
        </p:spPr>
      </p:sp>
      <p:sp>
        <p:nvSpPr>
          <p:cNvPr id="29" name="Shape 2">
            <a:extLst>
              <a:ext uri="{FF2B5EF4-FFF2-40B4-BE49-F238E27FC236}">
                <a16:creationId xmlns:a16="http://schemas.microsoft.com/office/drawing/2014/main" id="{063098BB-7029-9876-19FC-5C0D1338394A}"/>
              </a:ext>
            </a:extLst>
          </p:cNvPr>
          <p:cNvSpPr/>
          <p:nvPr/>
        </p:nvSpPr>
        <p:spPr>
          <a:xfrm>
            <a:off x="0" y="0"/>
            <a:ext cx="9144000" cy="22860"/>
          </a:xfrm>
          <a:prstGeom prst="rect">
            <a:avLst/>
          </a:prstGeom>
          <a:solidFill>
            <a:srgbClr val="63D7C4">
              <a:alpha val="40000"/>
            </a:srgbClr>
          </a:solidFill>
          <a:ln w="12700">
            <a:solidFill>
              <a:srgbClr val="63D7C4">
                <a:alpha val="40000"/>
              </a:srgbClr>
            </a:solidFill>
            <a:prstDash val="solid"/>
          </a:ln>
        </p:spPr>
      </p:sp>
      <p:sp>
        <p:nvSpPr>
          <p:cNvPr id="30" name="Shape 1">
            <a:extLst>
              <a:ext uri="{FF2B5EF4-FFF2-40B4-BE49-F238E27FC236}">
                <a16:creationId xmlns:a16="http://schemas.microsoft.com/office/drawing/2014/main" id="{EA902A68-6A2A-924C-103B-0F95E0CBAD79}"/>
              </a:ext>
            </a:extLst>
          </p:cNvPr>
          <p:cNvSpPr/>
          <p:nvPr/>
        </p:nvSpPr>
        <p:spPr>
          <a:xfrm>
            <a:off x="9107424" y="0"/>
            <a:ext cx="36576" cy="5143500"/>
          </a:xfrm>
          <a:prstGeom prst="rect">
            <a:avLst/>
          </a:prstGeom>
          <a:solidFill>
            <a:srgbClr val="63D7C4">
              <a:alpha val="30000"/>
            </a:srgbClr>
          </a:solidFill>
          <a:ln w="12700">
            <a:solidFill>
              <a:srgbClr val="63D7C4">
                <a:alpha val="30000"/>
              </a:srgbClr>
            </a:solidFill>
            <a:prstDash val="solid"/>
          </a:ln>
        </p:spPr>
      </p:sp>
      <p:sp>
        <p:nvSpPr>
          <p:cNvPr id="31" name="Shape 2">
            <a:extLst>
              <a:ext uri="{FF2B5EF4-FFF2-40B4-BE49-F238E27FC236}">
                <a16:creationId xmlns:a16="http://schemas.microsoft.com/office/drawing/2014/main" id="{4FE076A6-D572-7847-7542-E43DB770DB50}"/>
              </a:ext>
            </a:extLst>
          </p:cNvPr>
          <p:cNvSpPr/>
          <p:nvPr/>
        </p:nvSpPr>
        <p:spPr>
          <a:xfrm>
            <a:off x="0" y="5132070"/>
            <a:ext cx="9144000" cy="22860"/>
          </a:xfrm>
          <a:prstGeom prst="rect">
            <a:avLst/>
          </a:prstGeom>
          <a:solidFill>
            <a:srgbClr val="63D7C4">
              <a:alpha val="40000"/>
            </a:srgbClr>
          </a:solidFill>
          <a:ln w="12700">
            <a:solidFill>
              <a:srgbClr val="63D7C4">
                <a:alpha val="40000"/>
              </a:srgbClr>
            </a:solidFill>
            <a:prstDash val="solid"/>
          </a:ln>
        </p:spPr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E8A1732-9244-0D00-81F9-0549C25140D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902" t="8001" r="3625" b="6734"/>
          <a:stretch>
            <a:fillRect/>
          </a:stretch>
        </p:blipFill>
        <p:spPr>
          <a:xfrm>
            <a:off x="883455" y="609307"/>
            <a:ext cx="7143824" cy="438560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2294AFE-19F8-9A21-F020-4CD9405D3EA6}"/>
              </a:ext>
            </a:extLst>
          </p:cNvPr>
          <p:cNvSpPr txBox="1"/>
          <p:nvPr/>
        </p:nvSpPr>
        <p:spPr>
          <a:xfrm>
            <a:off x="192332" y="161751"/>
            <a:ext cx="45785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Detector – Result :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36326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F86466-0378-6AC0-CA39-8C38A3183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0">
            <a:extLst>
              <a:ext uri="{FF2B5EF4-FFF2-40B4-BE49-F238E27FC236}">
                <a16:creationId xmlns:a16="http://schemas.microsoft.com/office/drawing/2014/main" id="{0B50C409-CF11-1C68-07A6-C8151EEF7AA0}"/>
              </a:ext>
            </a:extLst>
          </p:cNvPr>
          <p:cNvSpPr/>
          <p:nvPr/>
        </p:nvSpPr>
        <p:spPr>
          <a:xfrm>
            <a:off x="0" y="0"/>
            <a:ext cx="36576" cy="5143500"/>
          </a:xfrm>
          <a:prstGeom prst="rect">
            <a:avLst/>
          </a:prstGeom>
          <a:solidFill>
            <a:srgbClr val="63D7C4">
              <a:alpha val="30000"/>
            </a:srgbClr>
          </a:solidFill>
          <a:ln w="12700">
            <a:solidFill>
              <a:srgbClr val="63D7C4">
                <a:alpha val="30000"/>
              </a:srgbClr>
            </a:solidFill>
            <a:prstDash val="solid"/>
          </a:ln>
        </p:spPr>
      </p:sp>
      <p:sp>
        <p:nvSpPr>
          <p:cNvPr id="29" name="Shape 2">
            <a:extLst>
              <a:ext uri="{FF2B5EF4-FFF2-40B4-BE49-F238E27FC236}">
                <a16:creationId xmlns:a16="http://schemas.microsoft.com/office/drawing/2014/main" id="{31378E89-ED3E-BF35-359B-AD7872DE5214}"/>
              </a:ext>
            </a:extLst>
          </p:cNvPr>
          <p:cNvSpPr/>
          <p:nvPr/>
        </p:nvSpPr>
        <p:spPr>
          <a:xfrm>
            <a:off x="0" y="0"/>
            <a:ext cx="9144000" cy="22860"/>
          </a:xfrm>
          <a:prstGeom prst="rect">
            <a:avLst/>
          </a:prstGeom>
          <a:solidFill>
            <a:srgbClr val="63D7C4">
              <a:alpha val="40000"/>
            </a:srgbClr>
          </a:solidFill>
          <a:ln w="12700">
            <a:solidFill>
              <a:srgbClr val="63D7C4">
                <a:alpha val="40000"/>
              </a:srgbClr>
            </a:solidFill>
            <a:prstDash val="solid"/>
          </a:ln>
        </p:spPr>
      </p:sp>
      <p:sp>
        <p:nvSpPr>
          <p:cNvPr id="30" name="Shape 1">
            <a:extLst>
              <a:ext uri="{FF2B5EF4-FFF2-40B4-BE49-F238E27FC236}">
                <a16:creationId xmlns:a16="http://schemas.microsoft.com/office/drawing/2014/main" id="{72CB800B-3FF2-118F-7610-076F942DEDBB}"/>
              </a:ext>
            </a:extLst>
          </p:cNvPr>
          <p:cNvSpPr/>
          <p:nvPr/>
        </p:nvSpPr>
        <p:spPr>
          <a:xfrm>
            <a:off x="9107424" y="0"/>
            <a:ext cx="36576" cy="5143500"/>
          </a:xfrm>
          <a:prstGeom prst="rect">
            <a:avLst/>
          </a:prstGeom>
          <a:solidFill>
            <a:srgbClr val="63D7C4">
              <a:alpha val="30000"/>
            </a:srgbClr>
          </a:solidFill>
          <a:ln w="12700">
            <a:solidFill>
              <a:srgbClr val="63D7C4">
                <a:alpha val="30000"/>
              </a:srgbClr>
            </a:solidFill>
            <a:prstDash val="solid"/>
          </a:ln>
        </p:spPr>
      </p:sp>
      <p:sp>
        <p:nvSpPr>
          <p:cNvPr id="31" name="Shape 2">
            <a:extLst>
              <a:ext uri="{FF2B5EF4-FFF2-40B4-BE49-F238E27FC236}">
                <a16:creationId xmlns:a16="http://schemas.microsoft.com/office/drawing/2014/main" id="{1981224E-29E2-3A93-940E-C80B138361FA}"/>
              </a:ext>
            </a:extLst>
          </p:cNvPr>
          <p:cNvSpPr/>
          <p:nvPr/>
        </p:nvSpPr>
        <p:spPr>
          <a:xfrm>
            <a:off x="0" y="5132070"/>
            <a:ext cx="9144000" cy="22860"/>
          </a:xfrm>
          <a:prstGeom prst="rect">
            <a:avLst/>
          </a:prstGeom>
          <a:solidFill>
            <a:srgbClr val="63D7C4">
              <a:alpha val="40000"/>
            </a:srgbClr>
          </a:solidFill>
          <a:ln w="12700">
            <a:solidFill>
              <a:srgbClr val="63D7C4">
                <a:alpha val="40000"/>
              </a:srgbClr>
            </a:solidFill>
            <a:prstDash val="solid"/>
          </a:ln>
        </p:spPr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9495723-EB57-F74B-9C03-37F1C0597F7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309" t="12650" r="1171"/>
          <a:stretch>
            <a:fillRect/>
          </a:stretch>
        </p:blipFill>
        <p:spPr>
          <a:xfrm>
            <a:off x="950975" y="325316"/>
            <a:ext cx="7242049" cy="4492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2896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D2E961-D534-7412-A47B-A86A1C5FD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0">
            <a:extLst>
              <a:ext uri="{FF2B5EF4-FFF2-40B4-BE49-F238E27FC236}">
                <a16:creationId xmlns:a16="http://schemas.microsoft.com/office/drawing/2014/main" id="{B7C9CD2E-62CD-B59A-9215-B3044A057923}"/>
              </a:ext>
            </a:extLst>
          </p:cNvPr>
          <p:cNvSpPr/>
          <p:nvPr/>
        </p:nvSpPr>
        <p:spPr>
          <a:xfrm>
            <a:off x="0" y="0"/>
            <a:ext cx="36576" cy="5143500"/>
          </a:xfrm>
          <a:prstGeom prst="rect">
            <a:avLst/>
          </a:prstGeom>
          <a:solidFill>
            <a:srgbClr val="63D7C4">
              <a:alpha val="30000"/>
            </a:srgbClr>
          </a:solidFill>
          <a:ln w="12700">
            <a:solidFill>
              <a:srgbClr val="63D7C4">
                <a:alpha val="30000"/>
              </a:srgbClr>
            </a:solidFill>
            <a:prstDash val="solid"/>
          </a:ln>
        </p:spPr>
      </p:sp>
      <p:sp>
        <p:nvSpPr>
          <p:cNvPr id="29" name="Shape 2">
            <a:extLst>
              <a:ext uri="{FF2B5EF4-FFF2-40B4-BE49-F238E27FC236}">
                <a16:creationId xmlns:a16="http://schemas.microsoft.com/office/drawing/2014/main" id="{D5249B00-54E5-D788-7901-A3971BE08818}"/>
              </a:ext>
            </a:extLst>
          </p:cNvPr>
          <p:cNvSpPr/>
          <p:nvPr/>
        </p:nvSpPr>
        <p:spPr>
          <a:xfrm>
            <a:off x="0" y="0"/>
            <a:ext cx="9144000" cy="22860"/>
          </a:xfrm>
          <a:prstGeom prst="rect">
            <a:avLst/>
          </a:prstGeom>
          <a:solidFill>
            <a:srgbClr val="63D7C4">
              <a:alpha val="40000"/>
            </a:srgbClr>
          </a:solidFill>
          <a:ln w="12700">
            <a:solidFill>
              <a:srgbClr val="63D7C4">
                <a:alpha val="40000"/>
              </a:srgbClr>
            </a:solidFill>
            <a:prstDash val="solid"/>
          </a:ln>
        </p:spPr>
      </p:sp>
      <p:sp>
        <p:nvSpPr>
          <p:cNvPr id="30" name="Shape 1">
            <a:extLst>
              <a:ext uri="{FF2B5EF4-FFF2-40B4-BE49-F238E27FC236}">
                <a16:creationId xmlns:a16="http://schemas.microsoft.com/office/drawing/2014/main" id="{E0DEEF3E-51A6-F241-CFA8-2F42A64FF417}"/>
              </a:ext>
            </a:extLst>
          </p:cNvPr>
          <p:cNvSpPr/>
          <p:nvPr/>
        </p:nvSpPr>
        <p:spPr>
          <a:xfrm>
            <a:off x="9107424" y="0"/>
            <a:ext cx="36576" cy="5143500"/>
          </a:xfrm>
          <a:prstGeom prst="rect">
            <a:avLst/>
          </a:prstGeom>
          <a:solidFill>
            <a:srgbClr val="63D7C4">
              <a:alpha val="30000"/>
            </a:srgbClr>
          </a:solidFill>
          <a:ln w="12700">
            <a:solidFill>
              <a:srgbClr val="63D7C4">
                <a:alpha val="30000"/>
              </a:srgbClr>
            </a:solidFill>
            <a:prstDash val="solid"/>
          </a:ln>
        </p:spPr>
      </p:sp>
      <p:sp>
        <p:nvSpPr>
          <p:cNvPr id="31" name="Shape 2">
            <a:extLst>
              <a:ext uri="{FF2B5EF4-FFF2-40B4-BE49-F238E27FC236}">
                <a16:creationId xmlns:a16="http://schemas.microsoft.com/office/drawing/2014/main" id="{DFAEE9C3-AD6A-BE8A-A6FF-DB74F8602404}"/>
              </a:ext>
            </a:extLst>
          </p:cNvPr>
          <p:cNvSpPr/>
          <p:nvPr/>
        </p:nvSpPr>
        <p:spPr>
          <a:xfrm>
            <a:off x="0" y="5132070"/>
            <a:ext cx="9144000" cy="22860"/>
          </a:xfrm>
          <a:prstGeom prst="rect">
            <a:avLst/>
          </a:prstGeom>
          <a:solidFill>
            <a:srgbClr val="63D7C4">
              <a:alpha val="40000"/>
            </a:srgbClr>
          </a:solidFill>
          <a:ln w="12700">
            <a:solidFill>
              <a:srgbClr val="63D7C4">
                <a:alpha val="40000"/>
              </a:srgbClr>
            </a:solidFill>
            <a:prstDash val="solid"/>
          </a:ln>
        </p:spPr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F7C654-CDA0-CA7E-CECF-C8456FFAA33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594" t="10051"/>
          <a:stretch>
            <a:fillRect/>
          </a:stretch>
        </p:blipFill>
        <p:spPr>
          <a:xfrm>
            <a:off x="866150" y="264209"/>
            <a:ext cx="7411699" cy="462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6946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64C4D7-1C76-587B-797E-1D74E3D61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0">
            <a:extLst>
              <a:ext uri="{FF2B5EF4-FFF2-40B4-BE49-F238E27FC236}">
                <a16:creationId xmlns:a16="http://schemas.microsoft.com/office/drawing/2014/main" id="{CDFAE919-B317-C9A8-1A1B-2608AFDE4AE2}"/>
              </a:ext>
            </a:extLst>
          </p:cNvPr>
          <p:cNvSpPr/>
          <p:nvPr/>
        </p:nvSpPr>
        <p:spPr>
          <a:xfrm>
            <a:off x="0" y="0"/>
            <a:ext cx="36576" cy="5143500"/>
          </a:xfrm>
          <a:prstGeom prst="rect">
            <a:avLst/>
          </a:prstGeom>
          <a:solidFill>
            <a:srgbClr val="63D7C4">
              <a:alpha val="30000"/>
            </a:srgbClr>
          </a:solidFill>
          <a:ln w="12700">
            <a:solidFill>
              <a:srgbClr val="63D7C4">
                <a:alpha val="30000"/>
              </a:srgbClr>
            </a:solidFill>
            <a:prstDash val="solid"/>
          </a:ln>
        </p:spPr>
      </p:sp>
      <p:sp>
        <p:nvSpPr>
          <p:cNvPr id="29" name="Shape 2">
            <a:extLst>
              <a:ext uri="{FF2B5EF4-FFF2-40B4-BE49-F238E27FC236}">
                <a16:creationId xmlns:a16="http://schemas.microsoft.com/office/drawing/2014/main" id="{1EA36BAF-E33A-BE12-1545-D43EDB7C349C}"/>
              </a:ext>
            </a:extLst>
          </p:cNvPr>
          <p:cNvSpPr/>
          <p:nvPr/>
        </p:nvSpPr>
        <p:spPr>
          <a:xfrm>
            <a:off x="0" y="0"/>
            <a:ext cx="9144000" cy="22860"/>
          </a:xfrm>
          <a:prstGeom prst="rect">
            <a:avLst/>
          </a:prstGeom>
          <a:solidFill>
            <a:srgbClr val="63D7C4">
              <a:alpha val="40000"/>
            </a:srgbClr>
          </a:solidFill>
          <a:ln w="12700">
            <a:solidFill>
              <a:srgbClr val="63D7C4">
                <a:alpha val="40000"/>
              </a:srgbClr>
            </a:solidFill>
            <a:prstDash val="solid"/>
          </a:ln>
        </p:spPr>
      </p:sp>
      <p:sp>
        <p:nvSpPr>
          <p:cNvPr id="30" name="Shape 1">
            <a:extLst>
              <a:ext uri="{FF2B5EF4-FFF2-40B4-BE49-F238E27FC236}">
                <a16:creationId xmlns:a16="http://schemas.microsoft.com/office/drawing/2014/main" id="{FF837AA5-57AE-CD08-85EC-A607DA8EDE3D}"/>
              </a:ext>
            </a:extLst>
          </p:cNvPr>
          <p:cNvSpPr/>
          <p:nvPr/>
        </p:nvSpPr>
        <p:spPr>
          <a:xfrm>
            <a:off x="9107424" y="0"/>
            <a:ext cx="36576" cy="5143500"/>
          </a:xfrm>
          <a:prstGeom prst="rect">
            <a:avLst/>
          </a:prstGeom>
          <a:solidFill>
            <a:srgbClr val="63D7C4">
              <a:alpha val="30000"/>
            </a:srgbClr>
          </a:solidFill>
          <a:ln w="12700">
            <a:solidFill>
              <a:srgbClr val="63D7C4">
                <a:alpha val="30000"/>
              </a:srgbClr>
            </a:solidFill>
            <a:prstDash val="solid"/>
          </a:ln>
        </p:spPr>
      </p:sp>
      <p:sp>
        <p:nvSpPr>
          <p:cNvPr id="31" name="Shape 2">
            <a:extLst>
              <a:ext uri="{FF2B5EF4-FFF2-40B4-BE49-F238E27FC236}">
                <a16:creationId xmlns:a16="http://schemas.microsoft.com/office/drawing/2014/main" id="{9030945C-D5A8-692F-1CEC-D71B9EDF7C2F}"/>
              </a:ext>
            </a:extLst>
          </p:cNvPr>
          <p:cNvSpPr/>
          <p:nvPr/>
        </p:nvSpPr>
        <p:spPr>
          <a:xfrm>
            <a:off x="0" y="5132070"/>
            <a:ext cx="9144000" cy="22860"/>
          </a:xfrm>
          <a:prstGeom prst="rect">
            <a:avLst/>
          </a:prstGeom>
          <a:solidFill>
            <a:srgbClr val="63D7C4">
              <a:alpha val="40000"/>
            </a:srgbClr>
          </a:solidFill>
          <a:ln w="12700">
            <a:solidFill>
              <a:srgbClr val="63D7C4">
                <a:alpha val="40000"/>
              </a:srgbClr>
            </a:solidFill>
            <a:prstDash val="solid"/>
          </a:ln>
        </p:spPr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BEB054-8A1C-F3DB-21E9-886969220924}"/>
              </a:ext>
            </a:extLst>
          </p:cNvPr>
          <p:cNvSpPr txBox="1"/>
          <p:nvPr/>
        </p:nvSpPr>
        <p:spPr>
          <a:xfrm>
            <a:off x="403347" y="516081"/>
            <a:ext cx="74525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000" dirty="0">
                <a:solidFill>
                  <a:schemeClr val="bg1"/>
                </a:solidFill>
              </a:rPr>
              <a:t>Report Generator - </a:t>
            </a:r>
            <a:r>
              <a:rPr lang="en-IN" sz="3200" dirty="0">
                <a:solidFill>
                  <a:schemeClr val="bg1"/>
                </a:solidFill>
              </a:rPr>
              <a:t>Insights &amp; Export</a:t>
            </a:r>
            <a:endParaRPr lang="en-IN" sz="3000" dirty="0">
              <a:solidFill>
                <a:schemeClr val="bg1"/>
              </a:solidFill>
            </a:endParaRPr>
          </a:p>
        </p:txBody>
      </p:sp>
      <p:sp>
        <p:nvSpPr>
          <p:cNvPr id="2" name="Shape 3">
            <a:extLst>
              <a:ext uri="{FF2B5EF4-FFF2-40B4-BE49-F238E27FC236}">
                <a16:creationId xmlns:a16="http://schemas.microsoft.com/office/drawing/2014/main" id="{920E8E87-3630-F594-CA72-30610FA081BD}"/>
              </a:ext>
            </a:extLst>
          </p:cNvPr>
          <p:cNvSpPr/>
          <p:nvPr/>
        </p:nvSpPr>
        <p:spPr>
          <a:xfrm>
            <a:off x="502920" y="256032"/>
            <a:ext cx="1828800" cy="256032"/>
          </a:xfrm>
          <a:prstGeom prst="rect">
            <a:avLst/>
          </a:prstGeom>
          <a:solidFill>
            <a:srgbClr val="63D7C4">
              <a:alpha val="18000"/>
            </a:srgbClr>
          </a:solidFill>
          <a:ln w="12700">
            <a:solidFill>
              <a:srgbClr val="63D7C4">
                <a:alpha val="4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8CD7A255-923E-8150-FA64-67C9AE69A910}"/>
              </a:ext>
            </a:extLst>
          </p:cNvPr>
          <p:cNvSpPr/>
          <p:nvPr/>
        </p:nvSpPr>
        <p:spPr>
          <a:xfrm>
            <a:off x="502920" y="2560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63D7C4"/>
                </a:solidFill>
              </a:rPr>
              <a:t>REPORT GENERATE</a:t>
            </a:r>
            <a:endParaRPr lang="en-US" sz="750" dirty="0"/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56BB1BDB-2B1C-2209-44EF-4420CB817BBB}"/>
              </a:ext>
            </a:extLst>
          </p:cNvPr>
          <p:cNvSpPr/>
          <p:nvPr/>
        </p:nvSpPr>
        <p:spPr>
          <a:xfrm>
            <a:off x="2560320" y="256032"/>
            <a:ext cx="1463040" cy="246888"/>
          </a:xfrm>
          <a:prstGeom prst="rect">
            <a:avLst/>
          </a:prstGeom>
          <a:solidFill>
            <a:srgbClr val="F97316">
              <a:alpha val="15000"/>
            </a:srgbClr>
          </a:solidFill>
          <a:ln w="12700">
            <a:solidFill>
              <a:srgbClr val="F97316">
                <a:alpha val="40000"/>
              </a:srgbClr>
            </a:solidFill>
            <a:prstDash val="solid"/>
          </a:ln>
        </p:spPr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446FA0CC-38C2-C962-A10E-DFFFC04B4B20}"/>
              </a:ext>
            </a:extLst>
          </p:cNvPr>
          <p:cNvSpPr/>
          <p:nvPr/>
        </p:nvSpPr>
        <p:spPr>
          <a:xfrm>
            <a:off x="2560320" y="256032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97316"/>
                </a:solidFill>
              </a:rPr>
              <a:t>MILESTONE 4</a:t>
            </a:r>
            <a:endParaRPr lang="en-US" sz="75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393B34-C7F0-BA8D-C870-E934E68F3FD2}"/>
              </a:ext>
            </a:extLst>
          </p:cNvPr>
          <p:cNvSpPr txBox="1"/>
          <p:nvPr/>
        </p:nvSpPr>
        <p:spPr>
          <a:xfrm>
            <a:off x="886924" y="1355422"/>
            <a:ext cx="5272088" cy="2731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STEP 1 : Data → Processing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 b="1" dirty="0">
                <a:solidFill>
                  <a:schemeClr val="bg1"/>
                </a:solidFill>
              </a:rPr>
              <a:t>Flow: Input &amp; Preparation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chemeClr val="bg1"/>
                </a:solidFill>
              </a:rPr>
              <a:t>Load merged fitness dataset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chemeClr val="bg1"/>
                </a:solidFill>
              </a:rPr>
              <a:t>Clean and preprocess data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chemeClr val="bg1"/>
                </a:solidFill>
              </a:rPr>
              <a:t>Handle missing values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chemeClr val="bg1"/>
                </a:solidFill>
              </a:rPr>
              <a:t>Aggregate data to daily level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chemeClr val="bg1"/>
                </a:solidFill>
              </a:rPr>
              <a:t>Extract key features (HR, Steps, Sleep) </a:t>
            </a:r>
          </a:p>
        </p:txBody>
      </p:sp>
    </p:spTree>
    <p:extLst>
      <p:ext uri="{BB962C8B-B14F-4D97-AF65-F5344CB8AC3E}">
        <p14:creationId xmlns:p14="http://schemas.microsoft.com/office/powerpoint/2010/main" val="41099761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0A3BB9-5C95-04B3-96C2-16B7AF0F5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0">
            <a:extLst>
              <a:ext uri="{FF2B5EF4-FFF2-40B4-BE49-F238E27FC236}">
                <a16:creationId xmlns:a16="http://schemas.microsoft.com/office/drawing/2014/main" id="{744272AD-0DDA-0BC9-3B5F-B106F5D4441E}"/>
              </a:ext>
            </a:extLst>
          </p:cNvPr>
          <p:cNvSpPr/>
          <p:nvPr/>
        </p:nvSpPr>
        <p:spPr>
          <a:xfrm>
            <a:off x="0" y="0"/>
            <a:ext cx="36576" cy="5143500"/>
          </a:xfrm>
          <a:prstGeom prst="rect">
            <a:avLst/>
          </a:prstGeom>
          <a:solidFill>
            <a:srgbClr val="63D7C4">
              <a:alpha val="30000"/>
            </a:srgbClr>
          </a:solidFill>
          <a:ln w="12700">
            <a:solidFill>
              <a:srgbClr val="63D7C4">
                <a:alpha val="30000"/>
              </a:srgbClr>
            </a:solidFill>
            <a:prstDash val="solid"/>
          </a:ln>
        </p:spPr>
      </p:sp>
      <p:sp>
        <p:nvSpPr>
          <p:cNvPr id="29" name="Shape 2">
            <a:extLst>
              <a:ext uri="{FF2B5EF4-FFF2-40B4-BE49-F238E27FC236}">
                <a16:creationId xmlns:a16="http://schemas.microsoft.com/office/drawing/2014/main" id="{66EC55A5-F4C1-67E6-D0B1-6BC7351BECDD}"/>
              </a:ext>
            </a:extLst>
          </p:cNvPr>
          <p:cNvSpPr/>
          <p:nvPr/>
        </p:nvSpPr>
        <p:spPr>
          <a:xfrm>
            <a:off x="0" y="0"/>
            <a:ext cx="9144000" cy="22860"/>
          </a:xfrm>
          <a:prstGeom prst="rect">
            <a:avLst/>
          </a:prstGeom>
          <a:solidFill>
            <a:srgbClr val="63D7C4">
              <a:alpha val="40000"/>
            </a:srgbClr>
          </a:solidFill>
          <a:ln w="12700">
            <a:solidFill>
              <a:srgbClr val="63D7C4">
                <a:alpha val="40000"/>
              </a:srgbClr>
            </a:solidFill>
            <a:prstDash val="solid"/>
          </a:ln>
        </p:spPr>
      </p:sp>
      <p:sp>
        <p:nvSpPr>
          <p:cNvPr id="30" name="Shape 1">
            <a:extLst>
              <a:ext uri="{FF2B5EF4-FFF2-40B4-BE49-F238E27FC236}">
                <a16:creationId xmlns:a16="http://schemas.microsoft.com/office/drawing/2014/main" id="{2780FE16-FD88-050E-F205-4A84641F84C4}"/>
              </a:ext>
            </a:extLst>
          </p:cNvPr>
          <p:cNvSpPr/>
          <p:nvPr/>
        </p:nvSpPr>
        <p:spPr>
          <a:xfrm>
            <a:off x="9107424" y="0"/>
            <a:ext cx="36576" cy="5143500"/>
          </a:xfrm>
          <a:prstGeom prst="rect">
            <a:avLst/>
          </a:prstGeom>
          <a:solidFill>
            <a:srgbClr val="63D7C4">
              <a:alpha val="30000"/>
            </a:srgbClr>
          </a:solidFill>
          <a:ln w="12700">
            <a:solidFill>
              <a:srgbClr val="63D7C4">
                <a:alpha val="30000"/>
              </a:srgbClr>
            </a:solidFill>
            <a:prstDash val="solid"/>
          </a:ln>
        </p:spPr>
      </p:sp>
      <p:sp>
        <p:nvSpPr>
          <p:cNvPr id="31" name="Shape 2">
            <a:extLst>
              <a:ext uri="{FF2B5EF4-FFF2-40B4-BE49-F238E27FC236}">
                <a16:creationId xmlns:a16="http://schemas.microsoft.com/office/drawing/2014/main" id="{ADFE3B86-EB14-8A8B-7D4A-42A22D49133A}"/>
              </a:ext>
            </a:extLst>
          </p:cNvPr>
          <p:cNvSpPr/>
          <p:nvPr/>
        </p:nvSpPr>
        <p:spPr>
          <a:xfrm>
            <a:off x="0" y="5132070"/>
            <a:ext cx="9144000" cy="22860"/>
          </a:xfrm>
          <a:prstGeom prst="rect">
            <a:avLst/>
          </a:prstGeom>
          <a:solidFill>
            <a:srgbClr val="63D7C4">
              <a:alpha val="40000"/>
            </a:srgbClr>
          </a:solidFill>
          <a:ln w="12700">
            <a:solidFill>
              <a:srgbClr val="63D7C4">
                <a:alpha val="40000"/>
              </a:srgbClr>
            </a:solidFill>
            <a:prstDash val="solid"/>
          </a:ln>
        </p:spPr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2AE084-25DE-8DDF-4903-FD366EA94361}"/>
              </a:ext>
            </a:extLst>
          </p:cNvPr>
          <p:cNvSpPr txBox="1"/>
          <p:nvPr/>
        </p:nvSpPr>
        <p:spPr>
          <a:xfrm>
            <a:off x="955065" y="1229915"/>
            <a:ext cx="4578594" cy="2588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</a:rPr>
              <a:t>STEP 2 : Anomaly Detection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dirty="0">
                <a:solidFill>
                  <a:schemeClr val="bg1"/>
                </a:solidFill>
              </a:rPr>
              <a:t>Apply threshold-based rules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dirty="0">
                <a:solidFill>
                  <a:schemeClr val="bg1"/>
                </a:solidFill>
              </a:rPr>
              <a:t>Compute rolling median baseline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dirty="0">
                <a:solidFill>
                  <a:schemeClr val="bg1"/>
                </a:solidFill>
              </a:rPr>
              <a:t>Detect residual deviations (±2</a:t>
            </a:r>
            <a:r>
              <a:rPr lang="el-GR" dirty="0">
                <a:solidFill>
                  <a:schemeClr val="bg1"/>
                </a:solidFill>
              </a:rPr>
              <a:t>σ)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dirty="0">
                <a:solidFill>
                  <a:schemeClr val="bg1"/>
                </a:solidFill>
              </a:rPr>
              <a:t>Perform DBSCAN clustering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dirty="0">
                <a:solidFill>
                  <a:schemeClr val="bg1"/>
                </a:solidFill>
              </a:rPr>
              <a:t>Identify anomalies from all methods </a:t>
            </a:r>
          </a:p>
        </p:txBody>
      </p:sp>
      <p:sp>
        <p:nvSpPr>
          <p:cNvPr id="12" name="Shape 3">
            <a:extLst>
              <a:ext uri="{FF2B5EF4-FFF2-40B4-BE49-F238E27FC236}">
                <a16:creationId xmlns:a16="http://schemas.microsoft.com/office/drawing/2014/main" id="{A9FCDCA8-B73C-DD03-C4F8-AA21808F5EC8}"/>
              </a:ext>
            </a:extLst>
          </p:cNvPr>
          <p:cNvSpPr/>
          <p:nvPr/>
        </p:nvSpPr>
        <p:spPr>
          <a:xfrm>
            <a:off x="217169" y="221039"/>
            <a:ext cx="3849273" cy="705670"/>
          </a:xfrm>
          <a:prstGeom prst="rect">
            <a:avLst/>
          </a:prstGeom>
          <a:solidFill>
            <a:srgbClr val="63D7C4">
              <a:alpha val="18000"/>
            </a:srgbClr>
          </a:solidFill>
          <a:ln w="12700">
            <a:solidFill>
              <a:srgbClr val="63D7C4">
                <a:alpha val="4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D6DED6D7-0457-1C77-5C64-379B1B644EC4}"/>
              </a:ext>
            </a:extLst>
          </p:cNvPr>
          <p:cNvSpPr/>
          <p:nvPr/>
        </p:nvSpPr>
        <p:spPr>
          <a:xfrm>
            <a:off x="502919" y="294455"/>
            <a:ext cx="3405261" cy="557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200" dirty="0">
                <a:solidFill>
                  <a:srgbClr val="63D7C4"/>
                </a:solidFill>
              </a:rPr>
              <a:t>DETECTION PIPELINE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1244451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9704E8-BA7E-5681-D603-ED419C60C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0">
            <a:extLst>
              <a:ext uri="{FF2B5EF4-FFF2-40B4-BE49-F238E27FC236}">
                <a16:creationId xmlns:a16="http://schemas.microsoft.com/office/drawing/2014/main" id="{FB1F17C0-3539-255E-AE1D-EB121E58F96F}"/>
              </a:ext>
            </a:extLst>
          </p:cNvPr>
          <p:cNvSpPr/>
          <p:nvPr/>
        </p:nvSpPr>
        <p:spPr>
          <a:xfrm>
            <a:off x="0" y="0"/>
            <a:ext cx="36576" cy="5143500"/>
          </a:xfrm>
          <a:prstGeom prst="rect">
            <a:avLst/>
          </a:prstGeom>
          <a:solidFill>
            <a:srgbClr val="63D7C4">
              <a:alpha val="30000"/>
            </a:srgbClr>
          </a:solidFill>
          <a:ln w="12700">
            <a:solidFill>
              <a:srgbClr val="63D7C4">
                <a:alpha val="30000"/>
              </a:srgbClr>
            </a:solidFill>
            <a:prstDash val="solid"/>
          </a:ln>
        </p:spPr>
      </p:sp>
      <p:sp>
        <p:nvSpPr>
          <p:cNvPr id="29" name="Shape 2">
            <a:extLst>
              <a:ext uri="{FF2B5EF4-FFF2-40B4-BE49-F238E27FC236}">
                <a16:creationId xmlns:a16="http://schemas.microsoft.com/office/drawing/2014/main" id="{10A4B680-561B-2459-86C2-24AC4B2CCE56}"/>
              </a:ext>
            </a:extLst>
          </p:cNvPr>
          <p:cNvSpPr/>
          <p:nvPr/>
        </p:nvSpPr>
        <p:spPr>
          <a:xfrm>
            <a:off x="0" y="0"/>
            <a:ext cx="9144000" cy="22860"/>
          </a:xfrm>
          <a:prstGeom prst="rect">
            <a:avLst/>
          </a:prstGeom>
          <a:solidFill>
            <a:srgbClr val="63D7C4">
              <a:alpha val="40000"/>
            </a:srgbClr>
          </a:solidFill>
          <a:ln w="12700">
            <a:solidFill>
              <a:srgbClr val="63D7C4">
                <a:alpha val="40000"/>
              </a:srgbClr>
            </a:solidFill>
            <a:prstDash val="solid"/>
          </a:ln>
        </p:spPr>
      </p:sp>
      <p:sp>
        <p:nvSpPr>
          <p:cNvPr id="30" name="Shape 1">
            <a:extLst>
              <a:ext uri="{FF2B5EF4-FFF2-40B4-BE49-F238E27FC236}">
                <a16:creationId xmlns:a16="http://schemas.microsoft.com/office/drawing/2014/main" id="{B25328B0-4AA8-9B51-B135-B375380ED74A}"/>
              </a:ext>
            </a:extLst>
          </p:cNvPr>
          <p:cNvSpPr/>
          <p:nvPr/>
        </p:nvSpPr>
        <p:spPr>
          <a:xfrm>
            <a:off x="9107424" y="0"/>
            <a:ext cx="36576" cy="5143500"/>
          </a:xfrm>
          <a:prstGeom prst="rect">
            <a:avLst/>
          </a:prstGeom>
          <a:solidFill>
            <a:srgbClr val="63D7C4">
              <a:alpha val="30000"/>
            </a:srgbClr>
          </a:solidFill>
          <a:ln w="12700">
            <a:solidFill>
              <a:srgbClr val="63D7C4">
                <a:alpha val="30000"/>
              </a:srgbClr>
            </a:solidFill>
            <a:prstDash val="solid"/>
          </a:ln>
        </p:spPr>
      </p:sp>
      <p:sp>
        <p:nvSpPr>
          <p:cNvPr id="31" name="Shape 2">
            <a:extLst>
              <a:ext uri="{FF2B5EF4-FFF2-40B4-BE49-F238E27FC236}">
                <a16:creationId xmlns:a16="http://schemas.microsoft.com/office/drawing/2014/main" id="{AA400227-28BE-19A7-8A08-7388F3E4F029}"/>
              </a:ext>
            </a:extLst>
          </p:cNvPr>
          <p:cNvSpPr/>
          <p:nvPr/>
        </p:nvSpPr>
        <p:spPr>
          <a:xfrm>
            <a:off x="0" y="5132070"/>
            <a:ext cx="9144000" cy="22860"/>
          </a:xfrm>
          <a:prstGeom prst="rect">
            <a:avLst/>
          </a:prstGeom>
          <a:solidFill>
            <a:srgbClr val="63D7C4">
              <a:alpha val="40000"/>
            </a:srgbClr>
          </a:solidFill>
          <a:ln w="12700">
            <a:solidFill>
              <a:srgbClr val="63D7C4">
                <a:alpha val="40000"/>
              </a:srgbClr>
            </a:solidFill>
            <a:prstDash val="solid"/>
          </a:ln>
        </p:spPr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12C8D0-73F9-5F4E-84B7-9C13D58CF1FB}"/>
              </a:ext>
            </a:extLst>
          </p:cNvPr>
          <p:cNvSpPr txBox="1"/>
          <p:nvPr/>
        </p:nvSpPr>
        <p:spPr>
          <a:xfrm>
            <a:off x="955065" y="1229915"/>
            <a:ext cx="4578594" cy="2588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STEP 3 : Results &amp; Report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Combine all detected anomalies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Generate visualizations (charts)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Create detailed anomaly tables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Summarize insights and KPIs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Export report (PDF &amp; CSV) </a:t>
            </a:r>
          </a:p>
        </p:txBody>
      </p:sp>
      <p:sp>
        <p:nvSpPr>
          <p:cNvPr id="12" name="Shape 3">
            <a:extLst>
              <a:ext uri="{FF2B5EF4-FFF2-40B4-BE49-F238E27FC236}">
                <a16:creationId xmlns:a16="http://schemas.microsoft.com/office/drawing/2014/main" id="{7C8ED871-904C-D1BD-CA35-4418F96B56FD}"/>
              </a:ext>
            </a:extLst>
          </p:cNvPr>
          <p:cNvSpPr/>
          <p:nvPr/>
        </p:nvSpPr>
        <p:spPr>
          <a:xfrm>
            <a:off x="217169" y="221039"/>
            <a:ext cx="3849273" cy="705670"/>
          </a:xfrm>
          <a:prstGeom prst="rect">
            <a:avLst/>
          </a:prstGeom>
          <a:solidFill>
            <a:srgbClr val="63D7C4">
              <a:alpha val="18000"/>
            </a:srgbClr>
          </a:solidFill>
          <a:ln w="12700">
            <a:solidFill>
              <a:srgbClr val="63D7C4">
                <a:alpha val="4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096B01D8-EBC8-A886-D4C8-D63D8A63B766}"/>
              </a:ext>
            </a:extLst>
          </p:cNvPr>
          <p:cNvSpPr/>
          <p:nvPr/>
        </p:nvSpPr>
        <p:spPr>
          <a:xfrm>
            <a:off x="439174" y="307556"/>
            <a:ext cx="3405261" cy="557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200" dirty="0">
                <a:solidFill>
                  <a:srgbClr val="63D7C4"/>
                </a:solidFill>
              </a:rPr>
              <a:t>OUTPUT &amp; REPORT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1991322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1D1CD2-6F56-EDB4-1EAB-2306BF449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0">
            <a:extLst>
              <a:ext uri="{FF2B5EF4-FFF2-40B4-BE49-F238E27FC236}">
                <a16:creationId xmlns:a16="http://schemas.microsoft.com/office/drawing/2014/main" id="{74A3E9FE-28B0-8F72-35D1-1CACEF09965B}"/>
              </a:ext>
            </a:extLst>
          </p:cNvPr>
          <p:cNvSpPr/>
          <p:nvPr/>
        </p:nvSpPr>
        <p:spPr>
          <a:xfrm>
            <a:off x="0" y="0"/>
            <a:ext cx="36576" cy="5143500"/>
          </a:xfrm>
          <a:prstGeom prst="rect">
            <a:avLst/>
          </a:prstGeom>
          <a:solidFill>
            <a:srgbClr val="63D7C4">
              <a:alpha val="30000"/>
            </a:srgbClr>
          </a:solidFill>
          <a:ln w="12700">
            <a:solidFill>
              <a:srgbClr val="63D7C4">
                <a:alpha val="30000"/>
              </a:srgbClr>
            </a:solidFill>
            <a:prstDash val="solid"/>
          </a:ln>
        </p:spPr>
      </p:sp>
      <p:sp>
        <p:nvSpPr>
          <p:cNvPr id="29" name="Shape 2">
            <a:extLst>
              <a:ext uri="{FF2B5EF4-FFF2-40B4-BE49-F238E27FC236}">
                <a16:creationId xmlns:a16="http://schemas.microsoft.com/office/drawing/2014/main" id="{38929691-C1C2-6380-16C4-3311B3332AF2}"/>
              </a:ext>
            </a:extLst>
          </p:cNvPr>
          <p:cNvSpPr/>
          <p:nvPr/>
        </p:nvSpPr>
        <p:spPr>
          <a:xfrm>
            <a:off x="0" y="0"/>
            <a:ext cx="9144000" cy="22860"/>
          </a:xfrm>
          <a:prstGeom prst="rect">
            <a:avLst/>
          </a:prstGeom>
          <a:solidFill>
            <a:srgbClr val="63D7C4">
              <a:alpha val="40000"/>
            </a:srgbClr>
          </a:solidFill>
          <a:ln w="12700">
            <a:solidFill>
              <a:srgbClr val="63D7C4">
                <a:alpha val="40000"/>
              </a:srgbClr>
            </a:solidFill>
            <a:prstDash val="solid"/>
          </a:ln>
        </p:spPr>
      </p:sp>
      <p:sp>
        <p:nvSpPr>
          <p:cNvPr id="30" name="Shape 1">
            <a:extLst>
              <a:ext uri="{FF2B5EF4-FFF2-40B4-BE49-F238E27FC236}">
                <a16:creationId xmlns:a16="http://schemas.microsoft.com/office/drawing/2014/main" id="{D0EA84A6-718C-4AF5-3A6C-8DF5F815BC24}"/>
              </a:ext>
            </a:extLst>
          </p:cNvPr>
          <p:cNvSpPr/>
          <p:nvPr/>
        </p:nvSpPr>
        <p:spPr>
          <a:xfrm>
            <a:off x="9107424" y="0"/>
            <a:ext cx="36576" cy="5143500"/>
          </a:xfrm>
          <a:prstGeom prst="rect">
            <a:avLst/>
          </a:prstGeom>
          <a:solidFill>
            <a:srgbClr val="63D7C4">
              <a:alpha val="30000"/>
            </a:srgbClr>
          </a:solidFill>
          <a:ln w="12700">
            <a:solidFill>
              <a:srgbClr val="63D7C4">
                <a:alpha val="30000"/>
              </a:srgbClr>
            </a:solidFill>
            <a:prstDash val="solid"/>
          </a:ln>
        </p:spPr>
      </p:sp>
      <p:sp>
        <p:nvSpPr>
          <p:cNvPr id="31" name="Shape 2">
            <a:extLst>
              <a:ext uri="{FF2B5EF4-FFF2-40B4-BE49-F238E27FC236}">
                <a16:creationId xmlns:a16="http://schemas.microsoft.com/office/drawing/2014/main" id="{DB1072A6-A96F-8692-C776-73FF0692725A}"/>
              </a:ext>
            </a:extLst>
          </p:cNvPr>
          <p:cNvSpPr/>
          <p:nvPr/>
        </p:nvSpPr>
        <p:spPr>
          <a:xfrm>
            <a:off x="0" y="5132070"/>
            <a:ext cx="9144000" cy="22860"/>
          </a:xfrm>
          <a:prstGeom prst="rect">
            <a:avLst/>
          </a:prstGeom>
          <a:solidFill>
            <a:srgbClr val="63D7C4">
              <a:alpha val="40000"/>
            </a:srgbClr>
          </a:solidFill>
          <a:ln w="12700">
            <a:solidFill>
              <a:srgbClr val="63D7C4">
                <a:alpha val="40000"/>
              </a:srgbClr>
            </a:solidFill>
            <a:prstDash val="solid"/>
          </a:ln>
        </p:spPr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A0302A4-235B-F114-04D3-4C41094B47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822" y="641442"/>
            <a:ext cx="8350067" cy="429441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3EA850D-BF17-1865-7C9C-3178CA1C67E6}"/>
              </a:ext>
            </a:extLst>
          </p:cNvPr>
          <p:cNvSpPr txBox="1"/>
          <p:nvPr/>
        </p:nvSpPr>
        <p:spPr>
          <a:xfrm>
            <a:off x="218708" y="207644"/>
            <a:ext cx="45785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&amp; DASHBOARD</a:t>
            </a:r>
            <a:r>
              <a:rPr lang="en-US" sz="1800" b="1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RESULT :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08996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54EADD-1297-31D7-5BF0-F063E6128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0">
            <a:extLst>
              <a:ext uri="{FF2B5EF4-FFF2-40B4-BE49-F238E27FC236}">
                <a16:creationId xmlns:a16="http://schemas.microsoft.com/office/drawing/2014/main" id="{E9B2DD6F-C02E-47D7-615D-519D609D3EFF}"/>
              </a:ext>
            </a:extLst>
          </p:cNvPr>
          <p:cNvSpPr/>
          <p:nvPr/>
        </p:nvSpPr>
        <p:spPr>
          <a:xfrm>
            <a:off x="0" y="0"/>
            <a:ext cx="36576" cy="5143500"/>
          </a:xfrm>
          <a:prstGeom prst="rect">
            <a:avLst/>
          </a:prstGeom>
          <a:solidFill>
            <a:srgbClr val="63D7C4">
              <a:alpha val="30000"/>
            </a:srgbClr>
          </a:solidFill>
          <a:ln w="12700">
            <a:solidFill>
              <a:srgbClr val="63D7C4">
                <a:alpha val="30000"/>
              </a:srgbClr>
            </a:solidFill>
            <a:prstDash val="solid"/>
          </a:ln>
        </p:spPr>
      </p:sp>
      <p:sp>
        <p:nvSpPr>
          <p:cNvPr id="29" name="Shape 2">
            <a:extLst>
              <a:ext uri="{FF2B5EF4-FFF2-40B4-BE49-F238E27FC236}">
                <a16:creationId xmlns:a16="http://schemas.microsoft.com/office/drawing/2014/main" id="{8C7F1C2E-AFB3-0A11-3CD4-ADDAA64569F5}"/>
              </a:ext>
            </a:extLst>
          </p:cNvPr>
          <p:cNvSpPr/>
          <p:nvPr/>
        </p:nvSpPr>
        <p:spPr>
          <a:xfrm>
            <a:off x="0" y="0"/>
            <a:ext cx="9144000" cy="22860"/>
          </a:xfrm>
          <a:prstGeom prst="rect">
            <a:avLst/>
          </a:prstGeom>
          <a:solidFill>
            <a:srgbClr val="63D7C4">
              <a:alpha val="40000"/>
            </a:srgbClr>
          </a:solidFill>
          <a:ln w="12700">
            <a:solidFill>
              <a:srgbClr val="63D7C4">
                <a:alpha val="40000"/>
              </a:srgbClr>
            </a:solidFill>
            <a:prstDash val="solid"/>
          </a:ln>
        </p:spPr>
      </p:sp>
      <p:sp>
        <p:nvSpPr>
          <p:cNvPr id="30" name="Shape 1">
            <a:extLst>
              <a:ext uri="{FF2B5EF4-FFF2-40B4-BE49-F238E27FC236}">
                <a16:creationId xmlns:a16="http://schemas.microsoft.com/office/drawing/2014/main" id="{F8232CAF-25F8-DFF8-7E31-AE5E0C26D09A}"/>
              </a:ext>
            </a:extLst>
          </p:cNvPr>
          <p:cNvSpPr/>
          <p:nvPr/>
        </p:nvSpPr>
        <p:spPr>
          <a:xfrm>
            <a:off x="9107424" y="0"/>
            <a:ext cx="36576" cy="5143500"/>
          </a:xfrm>
          <a:prstGeom prst="rect">
            <a:avLst/>
          </a:prstGeom>
          <a:solidFill>
            <a:srgbClr val="63D7C4">
              <a:alpha val="30000"/>
            </a:srgbClr>
          </a:solidFill>
          <a:ln w="12700">
            <a:solidFill>
              <a:srgbClr val="63D7C4">
                <a:alpha val="30000"/>
              </a:srgbClr>
            </a:solidFill>
            <a:prstDash val="solid"/>
          </a:ln>
        </p:spPr>
      </p:sp>
      <p:sp>
        <p:nvSpPr>
          <p:cNvPr id="31" name="Shape 2">
            <a:extLst>
              <a:ext uri="{FF2B5EF4-FFF2-40B4-BE49-F238E27FC236}">
                <a16:creationId xmlns:a16="http://schemas.microsoft.com/office/drawing/2014/main" id="{C9A6744F-3F28-B415-E40B-10D068A0BAEE}"/>
              </a:ext>
            </a:extLst>
          </p:cNvPr>
          <p:cNvSpPr/>
          <p:nvPr/>
        </p:nvSpPr>
        <p:spPr>
          <a:xfrm>
            <a:off x="0" y="5132070"/>
            <a:ext cx="9144000" cy="22860"/>
          </a:xfrm>
          <a:prstGeom prst="rect">
            <a:avLst/>
          </a:prstGeom>
          <a:solidFill>
            <a:srgbClr val="63D7C4">
              <a:alpha val="40000"/>
            </a:srgbClr>
          </a:solidFill>
          <a:ln w="12700">
            <a:solidFill>
              <a:srgbClr val="63D7C4">
                <a:alpha val="40000"/>
              </a:srgbClr>
            </a:solidFill>
            <a:prstDash val="solid"/>
          </a:ln>
        </p:spPr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798555-DEFA-1EC6-718C-720A380E49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840" y="308496"/>
            <a:ext cx="8540320" cy="4672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7080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" cy="5143500"/>
          </a:xfrm>
          <a:prstGeom prst="rect">
            <a:avLst/>
          </a:prstGeom>
          <a:solidFill>
            <a:srgbClr val="63D7C4">
              <a:alpha val="30000"/>
            </a:srgbClr>
          </a:solidFill>
          <a:ln w="12700">
            <a:solidFill>
              <a:srgbClr val="63D7C4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07424" y="0"/>
            <a:ext cx="36576" cy="5143500"/>
          </a:xfrm>
          <a:prstGeom prst="rect">
            <a:avLst/>
          </a:prstGeom>
          <a:solidFill>
            <a:srgbClr val="63D7C4">
              <a:alpha val="30000"/>
            </a:srgbClr>
          </a:solidFill>
          <a:ln w="12700">
            <a:solidFill>
              <a:srgbClr val="63D7C4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22860"/>
          </a:xfrm>
          <a:prstGeom prst="rect">
            <a:avLst/>
          </a:prstGeom>
          <a:solidFill>
            <a:srgbClr val="63D7C4">
              <a:alpha val="40000"/>
            </a:srgbClr>
          </a:solidFill>
          <a:ln w="12700">
            <a:solidFill>
              <a:srgbClr val="63D7C4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256032"/>
            <a:ext cx="1828800" cy="256032"/>
          </a:xfrm>
          <a:prstGeom prst="rect">
            <a:avLst/>
          </a:prstGeom>
          <a:solidFill>
            <a:srgbClr val="63D7C4">
              <a:alpha val="18000"/>
            </a:srgbClr>
          </a:solidFill>
          <a:ln w="12700">
            <a:solidFill>
              <a:srgbClr val="63D7C4">
                <a:alpha val="4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2560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63D7C4"/>
                </a:solidFill>
              </a:rPr>
              <a:t>RESULTS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Results &amp; Findings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2697480" cy="1600200"/>
          </a:xfrm>
          <a:prstGeom prst="rect">
            <a:avLst/>
          </a:prstGeom>
          <a:solidFill>
            <a:srgbClr val="0D1526">
              <a:alpha val="90000"/>
            </a:srgbClr>
          </a:solidFill>
          <a:ln w="12700">
            <a:solidFill>
              <a:srgbClr val="63D7C4">
                <a:alpha val="2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417320"/>
            <a:ext cx="50292" cy="1600200"/>
          </a:xfrm>
          <a:prstGeom prst="rect">
            <a:avLst/>
          </a:prstGeom>
          <a:solidFill>
            <a:srgbClr val="63D7C4"/>
          </a:solidFill>
          <a:ln w="12700">
            <a:solidFill>
              <a:srgbClr val="63D7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508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🔧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170432" y="1527048"/>
            <a:ext cx="1691640" cy="256032"/>
          </a:xfrm>
          <a:prstGeom prst="rect">
            <a:avLst/>
          </a:prstGeom>
          <a:solidFill>
            <a:srgbClr val="63D7C4">
              <a:alpha val="20000"/>
            </a:srgbClr>
          </a:solidFill>
          <a:ln w="12700">
            <a:solidFill>
              <a:srgbClr val="63D7C4">
                <a:alpha val="4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70432" y="152704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50" dirty="0">
                <a:solidFill>
                  <a:srgbClr val="63D7C4"/>
                </a:solidFill>
              </a:rPr>
              <a:t>ZERO NULLS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66928" y="1892808"/>
            <a:ext cx="2450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2EAF4"/>
                </a:solidFill>
              </a:rPr>
              <a:t>Preprocessing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66928" y="2194560"/>
            <a:ext cx="24871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6"/>
                </a:solidFill>
              </a:rPr>
              <a:t>36,500 rows × 16 cols loaded; 21,951 nulls resolved via interpolation + Unknown fill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364992" y="1417320"/>
            <a:ext cx="2697480" cy="1600200"/>
          </a:xfrm>
          <a:prstGeom prst="rect">
            <a:avLst/>
          </a:prstGeom>
          <a:solidFill>
            <a:srgbClr val="0D1526">
              <a:alpha val="90000"/>
            </a:srgbClr>
          </a:solidFill>
          <a:ln w="12700">
            <a:solidFill>
              <a:srgbClr val="F97316">
                <a:alpha val="2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364992" y="1417320"/>
            <a:ext cx="50292" cy="16002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1508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📁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078224" y="1527048"/>
            <a:ext cx="1691640" cy="256032"/>
          </a:xfrm>
          <a:prstGeom prst="rect">
            <a:avLst/>
          </a:prstGeom>
          <a:solidFill>
            <a:srgbClr val="F97316">
              <a:alpha val="20000"/>
            </a:srgbClr>
          </a:solidFill>
          <a:ln w="12700">
            <a:solidFill>
              <a:srgbClr val="F97316">
                <a:alpha val="4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78224" y="152704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50" dirty="0">
                <a:solidFill>
                  <a:srgbClr val="F97316"/>
                </a:solidFill>
              </a:rPr>
              <a:t>5 CSVs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474720" y="1892808"/>
            <a:ext cx="2450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2EAF4"/>
                </a:solidFill>
              </a:rPr>
              <a:t>5-File Merge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474720" y="2194560"/>
            <a:ext cx="24871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6"/>
                </a:solidFill>
              </a:rPr>
              <a:t>Daily Activity, Steps, Intensities, Sleep, Heart Rate merged into one master DataFrame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272784" y="1417320"/>
            <a:ext cx="2697480" cy="1600200"/>
          </a:xfrm>
          <a:prstGeom prst="rect">
            <a:avLst/>
          </a:prstGeom>
          <a:solidFill>
            <a:srgbClr val="0D1526">
              <a:alpha val="90000"/>
            </a:srgbClr>
          </a:solidFill>
          <a:ln w="12700">
            <a:solidFill>
              <a:srgbClr val="818CF8">
                <a:alpha val="2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72784" y="1417320"/>
            <a:ext cx="50292" cy="160020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82512" y="1508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⚗️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6986016" y="1527048"/>
            <a:ext cx="1691640" cy="256032"/>
          </a:xfrm>
          <a:prstGeom prst="rect">
            <a:avLst/>
          </a:prstGeom>
          <a:solidFill>
            <a:srgbClr val="818CF8">
              <a:alpha val="20000"/>
            </a:srgbClr>
          </a:solidFill>
          <a:ln w="12700">
            <a:solidFill>
              <a:srgbClr val="818CF8">
                <a:alpha val="4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86016" y="152704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50" dirty="0">
                <a:solidFill>
                  <a:srgbClr val="818CF8"/>
                </a:solidFill>
              </a:rPr>
              <a:t>11 Features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382512" y="1892808"/>
            <a:ext cx="2450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2EAF4"/>
                </a:solidFill>
              </a:rPr>
              <a:t>TSFresh ML-1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382512" y="2194560"/>
            <a:ext cx="24871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6"/>
                </a:solidFill>
              </a:rPr>
              <a:t>Statistical HR features extracted per user; normalised heatmap visualised via sns.heatmap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" y="3172968"/>
            <a:ext cx="2697480" cy="1600200"/>
          </a:xfrm>
          <a:prstGeom prst="rect">
            <a:avLst/>
          </a:prstGeom>
          <a:solidFill>
            <a:srgbClr val="0D1526">
              <a:alpha val="90000"/>
            </a:srgbClr>
          </a:solidFill>
          <a:ln w="12700">
            <a:solidFill>
              <a:srgbClr val="FBBF24">
                <a:alpha val="2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" y="3172968"/>
            <a:ext cx="50292" cy="160020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" y="32644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📅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1170432" y="3282696"/>
            <a:ext cx="1691640" cy="256032"/>
          </a:xfrm>
          <a:prstGeom prst="rect">
            <a:avLst/>
          </a:prstGeom>
          <a:solidFill>
            <a:srgbClr val="FBBF24">
              <a:alpha val="20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70432" y="328269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50" dirty="0">
                <a:solidFill>
                  <a:srgbClr val="FBBF24"/>
                </a:solidFill>
              </a:rPr>
              <a:t>3 Forecasts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66928" y="3648456"/>
            <a:ext cx="2450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2EAF4"/>
                </a:solidFill>
              </a:rPr>
              <a:t>Prophet ML-2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566928" y="3950208"/>
            <a:ext cx="24871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6"/>
                </a:solidFill>
              </a:rPr>
              <a:t>HR (90% CI), Steps (80% CI), Sleep (80% CI) — all 30 days ahead with weekly seasonality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364992" y="3172968"/>
            <a:ext cx="2697480" cy="1600200"/>
          </a:xfrm>
          <a:prstGeom prst="rect">
            <a:avLst/>
          </a:prstGeom>
          <a:solidFill>
            <a:srgbClr val="0D1526">
              <a:alpha val="90000"/>
            </a:srgbClr>
          </a:solidFill>
          <a:ln w="12700">
            <a:solidFill>
              <a:srgbClr val="34D399">
                <a:alpha val="2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364992" y="3172968"/>
            <a:ext cx="50292" cy="16002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74720" y="32644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🔵</a:t>
            </a:r>
            <a:endParaRPr lang="en-US" sz="2000" dirty="0"/>
          </a:p>
        </p:txBody>
      </p:sp>
      <p:sp>
        <p:nvSpPr>
          <p:cNvPr id="39" name="Shape 37"/>
          <p:cNvSpPr/>
          <p:nvPr/>
        </p:nvSpPr>
        <p:spPr>
          <a:xfrm>
            <a:off x="4078224" y="3282696"/>
            <a:ext cx="1691640" cy="256032"/>
          </a:xfrm>
          <a:prstGeom prst="rect">
            <a:avLst/>
          </a:prstGeom>
          <a:solidFill>
            <a:srgbClr val="34D399">
              <a:alpha val="20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078224" y="328269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50" dirty="0">
                <a:solidFill>
                  <a:srgbClr val="34D399"/>
                </a:solidFill>
              </a:rPr>
              <a:t>4 Methods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474720" y="3648456"/>
            <a:ext cx="2450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2EAF4"/>
                </a:solidFill>
              </a:rPr>
              <a:t>Clustering ML-3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3474720" y="3950208"/>
            <a:ext cx="24871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6"/>
                </a:solidFill>
              </a:rPr>
              <a:t>KMeans + DBSCAN on 6 activity features; PCA and t-SNE projections rendered side-by-side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272784" y="3172968"/>
            <a:ext cx="2697480" cy="1600200"/>
          </a:xfrm>
          <a:prstGeom prst="rect">
            <a:avLst/>
          </a:prstGeom>
          <a:solidFill>
            <a:srgbClr val="0D1526">
              <a:alpha val="90000"/>
            </a:srgbClr>
          </a:solidFill>
          <a:ln w="12700">
            <a:solidFill>
              <a:srgbClr val="F87171">
                <a:alpha val="25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272784" y="3172968"/>
            <a:ext cx="50292" cy="160020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82512" y="32644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🚨</a:t>
            </a:r>
            <a:endParaRPr lang="en-US" sz="2000" dirty="0"/>
          </a:p>
        </p:txBody>
      </p:sp>
      <p:sp>
        <p:nvSpPr>
          <p:cNvPr id="46" name="Shape 44"/>
          <p:cNvSpPr/>
          <p:nvPr/>
        </p:nvSpPr>
        <p:spPr>
          <a:xfrm>
            <a:off x="6986016" y="3282696"/>
            <a:ext cx="1691640" cy="256032"/>
          </a:xfrm>
          <a:prstGeom prst="rect">
            <a:avLst/>
          </a:prstGeom>
          <a:solidFill>
            <a:srgbClr val="F87171">
              <a:alpha val="20000"/>
            </a:srgbClr>
          </a:solidFill>
          <a:ln w="12700">
            <a:solidFill>
              <a:srgbClr val="F87171">
                <a:alpha val="45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986016" y="328269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50" dirty="0">
                <a:solidFill>
                  <a:srgbClr val="F87171"/>
                </a:solidFill>
              </a:rPr>
              <a:t>90%+ Accuracy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382512" y="3648456"/>
            <a:ext cx="2450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2EAF4"/>
                </a:solidFill>
              </a:rPr>
              <a:t>Anomaly ML-4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6382512" y="3950208"/>
            <a:ext cx="24871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6"/>
                </a:solidFill>
              </a:rPr>
              <a:t>3 detection methods; 5 interactive Plotly charts; simulated detection accuracy verified ≥ 90%</a:t>
            </a:r>
            <a:endParaRPr lang="en-US" sz="9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" cy="5143500"/>
          </a:xfrm>
          <a:prstGeom prst="rect">
            <a:avLst/>
          </a:prstGeom>
          <a:solidFill>
            <a:srgbClr val="63D7C4">
              <a:alpha val="30000"/>
            </a:srgbClr>
          </a:solidFill>
          <a:ln w="12700">
            <a:solidFill>
              <a:srgbClr val="63D7C4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07424" y="0"/>
            <a:ext cx="36576" cy="5143500"/>
          </a:xfrm>
          <a:prstGeom prst="rect">
            <a:avLst/>
          </a:prstGeom>
          <a:solidFill>
            <a:srgbClr val="63D7C4">
              <a:alpha val="30000"/>
            </a:srgbClr>
          </a:solidFill>
          <a:ln w="12700">
            <a:solidFill>
              <a:srgbClr val="63D7C4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22860"/>
          </a:xfrm>
          <a:prstGeom prst="rect">
            <a:avLst/>
          </a:prstGeom>
          <a:solidFill>
            <a:srgbClr val="63D7C4">
              <a:alpha val="40000"/>
            </a:srgbClr>
          </a:solidFill>
          <a:ln w="12700">
            <a:solidFill>
              <a:srgbClr val="63D7C4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256032"/>
            <a:ext cx="1828800" cy="256032"/>
          </a:xfrm>
          <a:prstGeom prst="rect">
            <a:avLst/>
          </a:prstGeom>
          <a:solidFill>
            <a:srgbClr val="63D7C4">
              <a:alpha val="18000"/>
            </a:srgbClr>
          </a:solidFill>
          <a:ln w="12700">
            <a:solidFill>
              <a:srgbClr val="63D7C4">
                <a:alpha val="4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2560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63D7C4"/>
                </a:solidFill>
              </a:rPr>
              <a:t>TECHNOLOGY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4160520" cy="777240"/>
          </a:xfrm>
          <a:prstGeom prst="rect">
            <a:avLst/>
          </a:prstGeom>
          <a:solidFill>
            <a:srgbClr val="0D1526"/>
          </a:solidFill>
          <a:ln w="12700">
            <a:solidFill>
              <a:srgbClr val="63D7C4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417320"/>
            <a:ext cx="45720" cy="777240"/>
          </a:xfrm>
          <a:prstGeom prst="rect">
            <a:avLst/>
          </a:prstGeom>
          <a:solidFill>
            <a:srgbClr val="63D7C4"/>
          </a:solidFill>
          <a:ln w="12700">
            <a:solidFill>
              <a:srgbClr val="63D7C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5216" y="1536192"/>
            <a:ext cx="1234440" cy="219456"/>
          </a:xfrm>
          <a:prstGeom prst="rect">
            <a:avLst/>
          </a:prstGeom>
          <a:solidFill>
            <a:srgbClr val="63D7C4">
              <a:alpha val="18000"/>
            </a:srgbClr>
          </a:solidFill>
          <a:ln w="12700">
            <a:solidFill>
              <a:srgbClr val="63D7C4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" y="1536192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kern="0" spc="80" dirty="0">
                <a:solidFill>
                  <a:srgbClr val="63D7C4"/>
                </a:solidFill>
              </a:rPr>
              <a:t>FRONTEND / UI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1901952" y="1508760"/>
            <a:ext cx="2578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2EAF4"/>
                </a:solidFill>
              </a:rPr>
              <a:t>Streamlit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85216" y="1837944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6"/>
                </a:solidFill>
              </a:rPr>
              <a:t>Interactive two-section web app with dark-theme CSS, session state, sidebar controls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313432"/>
            <a:ext cx="4160520" cy="777240"/>
          </a:xfrm>
          <a:prstGeom prst="rect">
            <a:avLst/>
          </a:prstGeom>
          <a:solidFill>
            <a:srgbClr val="0D1526"/>
          </a:solidFill>
          <a:ln w="12700">
            <a:solidFill>
              <a:srgbClr val="F97316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313432"/>
            <a:ext cx="45720" cy="7772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5216" y="2432304"/>
            <a:ext cx="1234440" cy="219456"/>
          </a:xfrm>
          <a:prstGeom prst="rect">
            <a:avLst/>
          </a:prstGeom>
          <a:solidFill>
            <a:srgbClr val="F97316">
              <a:alpha val="18000"/>
            </a:srgbClr>
          </a:solidFill>
          <a:ln w="12700">
            <a:solidFill>
              <a:srgbClr val="F97316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5216" y="2432304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kern="0" spc="80" dirty="0">
                <a:solidFill>
                  <a:srgbClr val="F97316"/>
                </a:solidFill>
              </a:rPr>
              <a:t>DATA PROCESSING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1901952" y="2404872"/>
            <a:ext cx="2578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2EAF4"/>
                </a:solidFill>
              </a:rPr>
              <a:t>Pandas &amp; NumPy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85216" y="2734056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6"/>
                </a:solidFill>
              </a:rPr>
              <a:t>Loading, interpolation, merging, groupby aggregation, time resampling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3209544"/>
            <a:ext cx="4160520" cy="777240"/>
          </a:xfrm>
          <a:prstGeom prst="rect">
            <a:avLst/>
          </a:prstGeom>
          <a:solidFill>
            <a:srgbClr val="0D1526"/>
          </a:solidFill>
          <a:ln w="12700">
            <a:solidFill>
              <a:srgbClr val="818CF8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209544"/>
            <a:ext cx="45720" cy="77724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5216" y="3328416"/>
            <a:ext cx="1234440" cy="219456"/>
          </a:xfrm>
          <a:prstGeom prst="rect">
            <a:avLst/>
          </a:prstGeom>
          <a:solidFill>
            <a:srgbClr val="818CF8">
              <a:alpha val="18000"/>
            </a:srgbClr>
          </a:solidFill>
          <a:ln w="12700">
            <a:solidFill>
              <a:srgbClr val="818CF8">
                <a:alpha val="4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5216" y="3328416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kern="0" spc="80" dirty="0">
                <a:solidFill>
                  <a:srgbClr val="818CF8"/>
                </a:solidFill>
              </a:rPr>
              <a:t>VISUALISATION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1901952" y="3300984"/>
            <a:ext cx="2578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2EAF4"/>
                </a:solidFill>
              </a:rPr>
              <a:t>Matplotlib &amp; Seaborn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85216" y="3630168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6"/>
                </a:solidFill>
              </a:rPr>
              <a:t>KDE histograms, missing-value charts, heatmaps, scatter plots, bar charts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" y="4105656"/>
            <a:ext cx="4160520" cy="777240"/>
          </a:xfrm>
          <a:prstGeom prst="rect">
            <a:avLst/>
          </a:prstGeom>
          <a:solidFill>
            <a:srgbClr val="0D1526"/>
          </a:solidFill>
          <a:ln w="12700">
            <a:solidFill>
              <a:srgbClr val="FBBF24">
                <a:alpha val="3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4105656"/>
            <a:ext cx="45720" cy="77724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85216" y="4224528"/>
            <a:ext cx="1234440" cy="219456"/>
          </a:xfrm>
          <a:prstGeom prst="rect">
            <a:avLst/>
          </a:prstGeom>
          <a:solidFill>
            <a:srgbClr val="FBBF24">
              <a:alpha val="18000"/>
            </a:srgbClr>
          </a:solidFill>
          <a:ln w="12700">
            <a:solidFill>
              <a:srgbClr val="FBBF24">
                <a:alpha val="4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5216" y="4224528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kern="0" spc="80" dirty="0">
                <a:solidFill>
                  <a:srgbClr val="FBBF24"/>
                </a:solidFill>
              </a:rPr>
              <a:t>INTERACTIVE CHARTS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1901952" y="4197096"/>
            <a:ext cx="2578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2EAF4"/>
                </a:solidFill>
              </a:rPr>
              <a:t>Plotly &amp; Plotly Express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85216" y="4526280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6"/>
                </a:solidFill>
              </a:rPr>
              <a:t>Anomaly overlays, CI bands, DBSCAN scatter, accuracy bar chart — all interactive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800600" y="1417320"/>
            <a:ext cx="4160520" cy="777240"/>
          </a:xfrm>
          <a:prstGeom prst="rect">
            <a:avLst/>
          </a:prstGeom>
          <a:solidFill>
            <a:srgbClr val="0D1526"/>
          </a:solidFill>
          <a:ln w="12700">
            <a:solidFill>
              <a:srgbClr val="34D399">
                <a:alpha val="3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00600" y="1417320"/>
            <a:ext cx="45720" cy="7772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928616" y="1536192"/>
            <a:ext cx="1234440" cy="219456"/>
          </a:xfrm>
          <a:prstGeom prst="rect">
            <a:avLst/>
          </a:prstGeom>
          <a:solidFill>
            <a:srgbClr val="34D399">
              <a:alpha val="18000"/>
            </a:srgbClr>
          </a:solidFill>
          <a:ln w="12700">
            <a:solidFill>
              <a:srgbClr val="34D399">
                <a:alpha val="4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28616" y="1536192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kern="0" spc="80" dirty="0">
                <a:solidFill>
                  <a:srgbClr val="34D399"/>
                </a:solidFill>
              </a:rPr>
              <a:t>FEATURE ENGINEERING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6245352" y="1508760"/>
            <a:ext cx="2578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2EAF4"/>
                </a:solidFill>
              </a:rPr>
              <a:t>TSFresh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928616" y="1837944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6"/>
                </a:solidFill>
              </a:rPr>
              <a:t>MinimalFCParameters — statistical features from HR time-series per user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800600" y="2313432"/>
            <a:ext cx="4160520" cy="777240"/>
          </a:xfrm>
          <a:prstGeom prst="rect">
            <a:avLst/>
          </a:prstGeom>
          <a:solidFill>
            <a:srgbClr val="0D1526"/>
          </a:solidFill>
          <a:ln w="12700">
            <a:solidFill>
              <a:srgbClr val="F687B3">
                <a:alpha val="3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800600" y="2313432"/>
            <a:ext cx="45720" cy="777240"/>
          </a:xfrm>
          <a:prstGeom prst="rect">
            <a:avLst/>
          </a:prstGeom>
          <a:solidFill>
            <a:srgbClr val="F687B3"/>
          </a:solidFill>
          <a:ln w="12700">
            <a:solidFill>
              <a:srgbClr val="F687B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928616" y="2432304"/>
            <a:ext cx="1234440" cy="219456"/>
          </a:xfrm>
          <a:prstGeom prst="rect">
            <a:avLst/>
          </a:prstGeom>
          <a:solidFill>
            <a:srgbClr val="F687B3">
              <a:alpha val="18000"/>
            </a:srgbClr>
          </a:solidFill>
          <a:ln w="12700">
            <a:solidFill>
              <a:srgbClr val="F687B3">
                <a:alpha val="4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28616" y="2432304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kern="0" spc="80" dirty="0">
                <a:solidFill>
                  <a:srgbClr val="F687B3"/>
                </a:solidFill>
              </a:rPr>
              <a:t>FORECASTING</a:t>
            </a:r>
            <a:endParaRPr lang="en-US" sz="650" dirty="0"/>
          </a:p>
        </p:txBody>
      </p:sp>
      <p:sp>
        <p:nvSpPr>
          <p:cNvPr id="42" name="Text 40"/>
          <p:cNvSpPr/>
          <p:nvPr/>
        </p:nvSpPr>
        <p:spPr>
          <a:xfrm>
            <a:off x="6245352" y="2404872"/>
            <a:ext cx="2578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2EAF4"/>
                </a:solidFill>
              </a:rPr>
              <a:t>Prophet (Meta)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928616" y="2734056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6"/>
                </a:solidFill>
              </a:rPr>
              <a:t>Weekly seasonality, CI bands, multi-metric 30-day forecasts for HR, Steps, Sleep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800600" y="3209544"/>
            <a:ext cx="4160520" cy="777240"/>
          </a:xfrm>
          <a:prstGeom prst="rect">
            <a:avLst/>
          </a:prstGeom>
          <a:solidFill>
            <a:srgbClr val="0D1526"/>
          </a:solidFill>
          <a:ln w="12700">
            <a:solidFill>
              <a:srgbClr val="F87171">
                <a:alpha val="3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800600" y="3209544"/>
            <a:ext cx="45720" cy="77724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928616" y="3328416"/>
            <a:ext cx="1234440" cy="219456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F87171">
                <a:alpha val="4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28616" y="3328416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kern="0" spc="80" dirty="0">
                <a:solidFill>
                  <a:srgbClr val="F87171"/>
                </a:solidFill>
              </a:rPr>
              <a:t>ML / CLUSTERING</a:t>
            </a:r>
            <a:endParaRPr lang="en-US" sz="650" dirty="0"/>
          </a:p>
        </p:txBody>
      </p:sp>
      <p:sp>
        <p:nvSpPr>
          <p:cNvPr id="48" name="Text 46"/>
          <p:cNvSpPr/>
          <p:nvPr/>
        </p:nvSpPr>
        <p:spPr>
          <a:xfrm>
            <a:off x="6245352" y="3300984"/>
            <a:ext cx="2578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2EAF4"/>
                </a:solidFill>
              </a:rPr>
              <a:t>Scikit-Learn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4928616" y="3630168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6"/>
                </a:solidFill>
              </a:rPr>
              <a:t>KMeans, DBSCAN, PCA, t-SNE, StandardScaler, MinMaxScaler</a:t>
            </a:r>
            <a:endParaRPr lang="en-US" sz="950" dirty="0"/>
          </a:p>
        </p:txBody>
      </p:sp>
      <p:sp>
        <p:nvSpPr>
          <p:cNvPr id="50" name="Shape 42">
            <a:extLst>
              <a:ext uri="{FF2B5EF4-FFF2-40B4-BE49-F238E27FC236}">
                <a16:creationId xmlns:a16="http://schemas.microsoft.com/office/drawing/2014/main" id="{6E47696F-6C45-F4F5-EDF1-55720A60593B}"/>
              </a:ext>
            </a:extLst>
          </p:cNvPr>
          <p:cNvSpPr/>
          <p:nvPr/>
        </p:nvSpPr>
        <p:spPr>
          <a:xfrm>
            <a:off x="4800600" y="4090299"/>
            <a:ext cx="4160520" cy="777240"/>
          </a:xfrm>
          <a:prstGeom prst="rect">
            <a:avLst/>
          </a:prstGeom>
          <a:solidFill>
            <a:srgbClr val="0D1526"/>
          </a:solidFill>
          <a:ln w="12700">
            <a:solidFill>
              <a:srgbClr val="F87171">
                <a:alpha val="30000"/>
              </a:srgbClr>
            </a:solidFill>
            <a:prstDash val="solid"/>
          </a:ln>
        </p:spPr>
      </p:sp>
      <p:sp>
        <p:nvSpPr>
          <p:cNvPr id="51" name="Shape 43">
            <a:extLst>
              <a:ext uri="{FF2B5EF4-FFF2-40B4-BE49-F238E27FC236}">
                <a16:creationId xmlns:a16="http://schemas.microsoft.com/office/drawing/2014/main" id="{0FF92493-BADA-5931-9B54-7E60AA881D16}"/>
              </a:ext>
            </a:extLst>
          </p:cNvPr>
          <p:cNvSpPr/>
          <p:nvPr/>
        </p:nvSpPr>
        <p:spPr>
          <a:xfrm>
            <a:off x="4800600" y="4090299"/>
            <a:ext cx="45720" cy="77724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52" name="Shape 44">
            <a:extLst>
              <a:ext uri="{FF2B5EF4-FFF2-40B4-BE49-F238E27FC236}">
                <a16:creationId xmlns:a16="http://schemas.microsoft.com/office/drawing/2014/main" id="{A042A0C8-43B4-AC4A-F711-95F5CACF6D8D}"/>
              </a:ext>
            </a:extLst>
          </p:cNvPr>
          <p:cNvSpPr/>
          <p:nvPr/>
        </p:nvSpPr>
        <p:spPr>
          <a:xfrm>
            <a:off x="4928616" y="4209171"/>
            <a:ext cx="1234440" cy="219456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F87171">
                <a:alpha val="40000"/>
              </a:srgbClr>
            </a:solidFill>
            <a:prstDash val="solid"/>
          </a:ln>
        </p:spPr>
      </p:sp>
      <p:sp>
        <p:nvSpPr>
          <p:cNvPr id="53" name="Text 45">
            <a:extLst>
              <a:ext uri="{FF2B5EF4-FFF2-40B4-BE49-F238E27FC236}">
                <a16:creationId xmlns:a16="http://schemas.microsoft.com/office/drawing/2014/main" id="{ACA35094-E2CD-8DDB-415D-F7E66F31DEC9}"/>
              </a:ext>
            </a:extLst>
          </p:cNvPr>
          <p:cNvSpPr/>
          <p:nvPr/>
        </p:nvSpPr>
        <p:spPr>
          <a:xfrm>
            <a:off x="4928616" y="4209171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kern="0" spc="80" dirty="0">
                <a:solidFill>
                  <a:srgbClr val="F87171"/>
                </a:solidFill>
              </a:rPr>
              <a:t>REPORTING</a:t>
            </a:r>
            <a:endParaRPr lang="en-US" sz="650" dirty="0"/>
          </a:p>
        </p:txBody>
      </p:sp>
      <p:sp>
        <p:nvSpPr>
          <p:cNvPr id="54" name="Text 46">
            <a:extLst>
              <a:ext uri="{FF2B5EF4-FFF2-40B4-BE49-F238E27FC236}">
                <a16:creationId xmlns:a16="http://schemas.microsoft.com/office/drawing/2014/main" id="{2BE86E31-E839-3BB3-584A-EDA17723982B}"/>
              </a:ext>
            </a:extLst>
          </p:cNvPr>
          <p:cNvSpPr/>
          <p:nvPr/>
        </p:nvSpPr>
        <p:spPr>
          <a:xfrm>
            <a:off x="6245352" y="4181739"/>
            <a:ext cx="2578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E2EAF4"/>
                </a:solidFill>
              </a:rPr>
              <a:t>ReportLAB</a:t>
            </a:r>
            <a:r>
              <a:rPr lang="en-US" sz="1200" b="1" dirty="0">
                <a:solidFill>
                  <a:srgbClr val="E2EAF4"/>
                </a:solidFill>
              </a:rPr>
              <a:t> &amp; CSV export</a:t>
            </a:r>
            <a:endParaRPr lang="en-US" sz="1200" dirty="0"/>
          </a:p>
        </p:txBody>
      </p:sp>
      <p:sp>
        <p:nvSpPr>
          <p:cNvPr id="55" name="Text 47">
            <a:extLst>
              <a:ext uri="{FF2B5EF4-FFF2-40B4-BE49-F238E27FC236}">
                <a16:creationId xmlns:a16="http://schemas.microsoft.com/office/drawing/2014/main" id="{881EFC95-A8D4-3AF6-F7D4-8BCDEDF8DE82}"/>
              </a:ext>
            </a:extLst>
          </p:cNvPr>
          <p:cNvSpPr/>
          <p:nvPr/>
        </p:nvSpPr>
        <p:spPr>
          <a:xfrm>
            <a:off x="4928616" y="4510923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6"/>
                </a:solidFill>
              </a:rPr>
              <a:t>Generate structured PDF reports and export anomaly data for analysis</a:t>
            </a:r>
            <a:endParaRPr lang="en-US" sz="9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7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41148" cy="41148"/>
          </a:xfrm>
          <a:prstGeom prst="ellipse">
            <a:avLst/>
          </a:prstGeom>
          <a:solidFill>
            <a:srgbClr val="63D7C4">
              <a:alpha val="12000"/>
            </a:srgbClr>
          </a:solidFill>
          <a:ln w="12700">
            <a:solidFill>
              <a:srgbClr val="63D7C4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0" y="365760"/>
            <a:ext cx="41148" cy="41148"/>
          </a:xfrm>
          <a:prstGeom prst="ellipse">
            <a:avLst/>
          </a:prstGeom>
          <a:solidFill>
            <a:srgbClr val="63D7C4">
              <a:alpha val="12000"/>
            </a:srgbClr>
          </a:solidFill>
          <a:ln w="12700">
            <a:solidFill>
              <a:srgbClr val="63D7C4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468880" y="365760"/>
            <a:ext cx="41148" cy="41148"/>
          </a:xfrm>
          <a:prstGeom prst="ellipse">
            <a:avLst/>
          </a:prstGeom>
          <a:solidFill>
            <a:srgbClr val="63D7C4">
              <a:alpha val="12000"/>
            </a:srgbClr>
          </a:solidFill>
          <a:ln w="12700">
            <a:solidFill>
              <a:srgbClr val="63D7C4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0" y="365760"/>
            <a:ext cx="41148" cy="41148"/>
          </a:xfrm>
          <a:prstGeom prst="ellipse">
            <a:avLst/>
          </a:prstGeom>
          <a:solidFill>
            <a:srgbClr val="63D7C4">
              <a:alpha val="12000"/>
            </a:srgbClr>
          </a:solidFill>
          <a:ln w="12700">
            <a:solidFill>
              <a:srgbClr val="63D7C4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480560" y="365760"/>
            <a:ext cx="41148" cy="41148"/>
          </a:xfrm>
          <a:prstGeom prst="ellipse">
            <a:avLst/>
          </a:prstGeom>
          <a:solidFill>
            <a:srgbClr val="63D7C4">
              <a:alpha val="12000"/>
            </a:srgbClr>
          </a:solidFill>
          <a:ln w="12700">
            <a:solidFill>
              <a:srgbClr val="63D7C4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0" y="365760"/>
            <a:ext cx="41148" cy="41148"/>
          </a:xfrm>
          <a:prstGeom prst="ellipse">
            <a:avLst/>
          </a:prstGeom>
          <a:solidFill>
            <a:srgbClr val="63D7C4">
              <a:alpha val="12000"/>
            </a:srgbClr>
          </a:solidFill>
          <a:ln w="12700">
            <a:solidFill>
              <a:srgbClr val="63D7C4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92240" y="365760"/>
            <a:ext cx="41148" cy="41148"/>
          </a:xfrm>
          <a:prstGeom prst="ellipse">
            <a:avLst/>
          </a:prstGeom>
          <a:solidFill>
            <a:srgbClr val="63D7C4">
              <a:alpha val="12000"/>
            </a:srgbClr>
          </a:solidFill>
          <a:ln w="12700">
            <a:solidFill>
              <a:srgbClr val="63D7C4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0" y="365760"/>
            <a:ext cx="41148" cy="41148"/>
          </a:xfrm>
          <a:prstGeom prst="ellipse">
            <a:avLst/>
          </a:prstGeom>
          <a:solidFill>
            <a:srgbClr val="63D7C4">
              <a:alpha val="12000"/>
            </a:srgbClr>
          </a:solidFill>
          <a:ln w="12700">
            <a:solidFill>
              <a:srgbClr val="63D7C4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03920" y="365760"/>
            <a:ext cx="41148" cy="41148"/>
          </a:xfrm>
          <a:prstGeom prst="ellipse">
            <a:avLst/>
          </a:prstGeom>
          <a:solidFill>
            <a:srgbClr val="63D7C4">
              <a:alpha val="12000"/>
            </a:srgbClr>
          </a:solidFill>
          <a:ln w="12700">
            <a:solidFill>
              <a:srgbClr val="63D7C4">
                <a:alpha val="1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371600"/>
            <a:ext cx="41148" cy="41148"/>
          </a:xfrm>
          <a:prstGeom prst="ellipse">
            <a:avLst/>
          </a:prstGeom>
          <a:solidFill>
            <a:srgbClr val="63D7C4">
              <a:alpha val="12000"/>
            </a:srgbClr>
          </a:solidFill>
          <a:ln w="12700">
            <a:solidFill>
              <a:srgbClr val="63D7C4">
                <a:alpha val="1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63040" y="1371600"/>
            <a:ext cx="41148" cy="41148"/>
          </a:xfrm>
          <a:prstGeom prst="ellipse">
            <a:avLst/>
          </a:prstGeom>
          <a:solidFill>
            <a:srgbClr val="63D7C4">
              <a:alpha val="12000"/>
            </a:srgbClr>
          </a:solidFill>
          <a:ln w="12700">
            <a:solidFill>
              <a:srgbClr val="63D7C4">
                <a:alpha val="1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68880" y="1371600"/>
            <a:ext cx="41148" cy="41148"/>
          </a:xfrm>
          <a:prstGeom prst="ellipse">
            <a:avLst/>
          </a:prstGeom>
          <a:solidFill>
            <a:srgbClr val="63D7C4">
              <a:alpha val="12000"/>
            </a:srgbClr>
          </a:solidFill>
          <a:ln w="12700">
            <a:solidFill>
              <a:srgbClr val="63D7C4">
                <a:alpha val="1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74720" y="1371600"/>
            <a:ext cx="41148" cy="41148"/>
          </a:xfrm>
          <a:prstGeom prst="ellipse">
            <a:avLst/>
          </a:prstGeom>
          <a:solidFill>
            <a:srgbClr val="63D7C4">
              <a:alpha val="12000"/>
            </a:srgbClr>
          </a:solidFill>
          <a:ln w="12700">
            <a:solidFill>
              <a:srgbClr val="63D7C4">
                <a:alpha val="1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80560" y="1371600"/>
            <a:ext cx="41148" cy="41148"/>
          </a:xfrm>
          <a:prstGeom prst="ellipse">
            <a:avLst/>
          </a:prstGeom>
          <a:solidFill>
            <a:srgbClr val="63D7C4">
              <a:alpha val="12000"/>
            </a:srgbClr>
          </a:solidFill>
          <a:ln w="12700">
            <a:solidFill>
              <a:srgbClr val="63D7C4">
                <a:alpha val="1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1371600"/>
            <a:ext cx="41148" cy="41148"/>
          </a:xfrm>
          <a:prstGeom prst="ellipse">
            <a:avLst/>
          </a:prstGeom>
          <a:solidFill>
            <a:srgbClr val="63D7C4">
              <a:alpha val="12000"/>
            </a:srgbClr>
          </a:solidFill>
          <a:ln w="12700">
            <a:solidFill>
              <a:srgbClr val="63D7C4">
                <a:alpha val="1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92240" y="1371600"/>
            <a:ext cx="41148" cy="41148"/>
          </a:xfrm>
          <a:prstGeom prst="ellipse">
            <a:avLst/>
          </a:prstGeom>
          <a:solidFill>
            <a:srgbClr val="63D7C4">
              <a:alpha val="12000"/>
            </a:srgbClr>
          </a:solidFill>
          <a:ln w="12700">
            <a:solidFill>
              <a:srgbClr val="63D7C4">
                <a:alpha val="1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98080" y="1371600"/>
            <a:ext cx="41148" cy="41148"/>
          </a:xfrm>
          <a:prstGeom prst="ellipse">
            <a:avLst/>
          </a:prstGeom>
          <a:solidFill>
            <a:srgbClr val="63D7C4">
              <a:alpha val="12000"/>
            </a:srgbClr>
          </a:solidFill>
          <a:ln w="12700">
            <a:solidFill>
              <a:srgbClr val="63D7C4">
                <a:alpha val="1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03920" y="1371600"/>
            <a:ext cx="41148" cy="41148"/>
          </a:xfrm>
          <a:prstGeom prst="ellipse">
            <a:avLst/>
          </a:prstGeom>
          <a:solidFill>
            <a:srgbClr val="63D7C4">
              <a:alpha val="12000"/>
            </a:srgbClr>
          </a:solidFill>
          <a:ln w="12700">
            <a:solidFill>
              <a:srgbClr val="63D7C4">
                <a:alpha val="1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2377440"/>
            <a:ext cx="41148" cy="41148"/>
          </a:xfrm>
          <a:prstGeom prst="ellipse">
            <a:avLst/>
          </a:prstGeom>
          <a:solidFill>
            <a:srgbClr val="63D7C4">
              <a:alpha val="12000"/>
            </a:srgbClr>
          </a:solidFill>
          <a:ln w="12700">
            <a:solidFill>
              <a:srgbClr val="63D7C4">
                <a:alpha val="1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463040" y="2377440"/>
            <a:ext cx="41148" cy="41148"/>
          </a:xfrm>
          <a:prstGeom prst="ellipse">
            <a:avLst/>
          </a:prstGeom>
          <a:solidFill>
            <a:srgbClr val="63D7C4">
              <a:alpha val="12000"/>
            </a:srgbClr>
          </a:solidFill>
          <a:ln w="12700">
            <a:solidFill>
              <a:srgbClr val="63D7C4">
                <a:alpha val="12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468880" y="2377440"/>
            <a:ext cx="41148" cy="41148"/>
          </a:xfrm>
          <a:prstGeom prst="ellipse">
            <a:avLst/>
          </a:prstGeom>
          <a:solidFill>
            <a:srgbClr val="63D7C4">
              <a:alpha val="12000"/>
            </a:srgbClr>
          </a:solidFill>
          <a:ln w="12700">
            <a:solidFill>
              <a:srgbClr val="63D7C4">
                <a:alpha val="12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74720" y="2377440"/>
            <a:ext cx="41148" cy="41148"/>
          </a:xfrm>
          <a:prstGeom prst="ellipse">
            <a:avLst/>
          </a:prstGeom>
          <a:solidFill>
            <a:srgbClr val="63D7C4">
              <a:alpha val="12000"/>
            </a:srgbClr>
          </a:solidFill>
          <a:ln w="12700">
            <a:solidFill>
              <a:srgbClr val="63D7C4">
                <a:alpha val="12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80560" y="2377440"/>
            <a:ext cx="41148" cy="41148"/>
          </a:xfrm>
          <a:prstGeom prst="ellipse">
            <a:avLst/>
          </a:prstGeom>
          <a:solidFill>
            <a:srgbClr val="63D7C4">
              <a:alpha val="12000"/>
            </a:srgbClr>
          </a:solidFill>
          <a:ln w="12700">
            <a:solidFill>
              <a:srgbClr val="63D7C4">
                <a:alpha val="12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0" y="2377440"/>
            <a:ext cx="41148" cy="41148"/>
          </a:xfrm>
          <a:prstGeom prst="ellipse">
            <a:avLst/>
          </a:prstGeom>
          <a:solidFill>
            <a:srgbClr val="63D7C4">
              <a:alpha val="12000"/>
            </a:srgbClr>
          </a:solidFill>
          <a:ln w="12700">
            <a:solidFill>
              <a:srgbClr val="63D7C4">
                <a:alpha val="12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92240" y="2377440"/>
            <a:ext cx="41148" cy="41148"/>
          </a:xfrm>
          <a:prstGeom prst="ellipse">
            <a:avLst/>
          </a:prstGeom>
          <a:solidFill>
            <a:srgbClr val="63D7C4">
              <a:alpha val="12000"/>
            </a:srgbClr>
          </a:solidFill>
          <a:ln w="12700">
            <a:solidFill>
              <a:srgbClr val="63D7C4">
                <a:alpha val="12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498080" y="2377440"/>
            <a:ext cx="41148" cy="41148"/>
          </a:xfrm>
          <a:prstGeom prst="ellipse">
            <a:avLst/>
          </a:prstGeom>
          <a:solidFill>
            <a:srgbClr val="63D7C4">
              <a:alpha val="12000"/>
            </a:srgbClr>
          </a:solidFill>
          <a:ln w="12700">
            <a:solidFill>
              <a:srgbClr val="63D7C4">
                <a:alpha val="12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503920" y="2377440"/>
            <a:ext cx="41148" cy="41148"/>
          </a:xfrm>
          <a:prstGeom prst="ellipse">
            <a:avLst/>
          </a:prstGeom>
          <a:solidFill>
            <a:srgbClr val="63D7C4">
              <a:alpha val="12000"/>
            </a:srgbClr>
          </a:solidFill>
          <a:ln w="12700">
            <a:solidFill>
              <a:srgbClr val="63D7C4">
                <a:alpha val="12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3383280"/>
            <a:ext cx="41148" cy="41148"/>
          </a:xfrm>
          <a:prstGeom prst="ellipse">
            <a:avLst/>
          </a:prstGeom>
          <a:solidFill>
            <a:srgbClr val="63D7C4">
              <a:alpha val="12000"/>
            </a:srgbClr>
          </a:solidFill>
          <a:ln w="12700">
            <a:solidFill>
              <a:srgbClr val="63D7C4">
                <a:alpha val="12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463040" y="3383280"/>
            <a:ext cx="41148" cy="41148"/>
          </a:xfrm>
          <a:prstGeom prst="ellipse">
            <a:avLst/>
          </a:prstGeom>
          <a:solidFill>
            <a:srgbClr val="63D7C4">
              <a:alpha val="12000"/>
            </a:srgbClr>
          </a:solidFill>
          <a:ln w="12700">
            <a:solidFill>
              <a:srgbClr val="63D7C4">
                <a:alpha val="12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468880" y="3383280"/>
            <a:ext cx="41148" cy="41148"/>
          </a:xfrm>
          <a:prstGeom prst="ellipse">
            <a:avLst/>
          </a:prstGeom>
          <a:solidFill>
            <a:srgbClr val="63D7C4">
              <a:alpha val="12000"/>
            </a:srgbClr>
          </a:solidFill>
          <a:ln w="12700">
            <a:solidFill>
              <a:srgbClr val="63D7C4">
                <a:alpha val="12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474720" y="3383280"/>
            <a:ext cx="41148" cy="41148"/>
          </a:xfrm>
          <a:prstGeom prst="ellipse">
            <a:avLst/>
          </a:prstGeom>
          <a:solidFill>
            <a:srgbClr val="63D7C4">
              <a:alpha val="12000"/>
            </a:srgbClr>
          </a:solidFill>
          <a:ln w="12700">
            <a:solidFill>
              <a:srgbClr val="63D7C4">
                <a:alpha val="12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480560" y="3383280"/>
            <a:ext cx="41148" cy="41148"/>
          </a:xfrm>
          <a:prstGeom prst="ellipse">
            <a:avLst/>
          </a:prstGeom>
          <a:solidFill>
            <a:srgbClr val="63D7C4">
              <a:alpha val="12000"/>
            </a:srgbClr>
          </a:solidFill>
          <a:ln w="12700">
            <a:solidFill>
              <a:srgbClr val="63D7C4">
                <a:alpha val="12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86400" y="3383280"/>
            <a:ext cx="41148" cy="41148"/>
          </a:xfrm>
          <a:prstGeom prst="ellipse">
            <a:avLst/>
          </a:prstGeom>
          <a:solidFill>
            <a:srgbClr val="63D7C4">
              <a:alpha val="12000"/>
            </a:srgbClr>
          </a:solidFill>
          <a:ln w="12700">
            <a:solidFill>
              <a:srgbClr val="63D7C4">
                <a:alpha val="12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92240" y="3383280"/>
            <a:ext cx="41148" cy="41148"/>
          </a:xfrm>
          <a:prstGeom prst="ellipse">
            <a:avLst/>
          </a:prstGeom>
          <a:solidFill>
            <a:srgbClr val="63D7C4">
              <a:alpha val="12000"/>
            </a:srgbClr>
          </a:solidFill>
          <a:ln w="12700">
            <a:solidFill>
              <a:srgbClr val="63D7C4">
                <a:alpha val="12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498080" y="3383280"/>
            <a:ext cx="41148" cy="41148"/>
          </a:xfrm>
          <a:prstGeom prst="ellipse">
            <a:avLst/>
          </a:prstGeom>
          <a:solidFill>
            <a:srgbClr val="63D7C4">
              <a:alpha val="12000"/>
            </a:srgbClr>
          </a:solidFill>
          <a:ln w="12700">
            <a:solidFill>
              <a:srgbClr val="63D7C4">
                <a:alpha val="12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503920" y="3383280"/>
            <a:ext cx="41148" cy="41148"/>
          </a:xfrm>
          <a:prstGeom prst="ellipse">
            <a:avLst/>
          </a:prstGeom>
          <a:solidFill>
            <a:srgbClr val="63D7C4">
              <a:alpha val="12000"/>
            </a:srgbClr>
          </a:solidFill>
          <a:ln w="12700">
            <a:solidFill>
              <a:srgbClr val="63D7C4">
                <a:alpha val="12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57200" y="4389120"/>
            <a:ext cx="41148" cy="41148"/>
          </a:xfrm>
          <a:prstGeom prst="ellipse">
            <a:avLst/>
          </a:prstGeom>
          <a:solidFill>
            <a:srgbClr val="63D7C4">
              <a:alpha val="12000"/>
            </a:srgbClr>
          </a:solidFill>
          <a:ln w="12700">
            <a:solidFill>
              <a:srgbClr val="63D7C4">
                <a:alpha val="12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463040" y="4389120"/>
            <a:ext cx="41148" cy="41148"/>
          </a:xfrm>
          <a:prstGeom prst="ellipse">
            <a:avLst/>
          </a:prstGeom>
          <a:solidFill>
            <a:srgbClr val="63D7C4">
              <a:alpha val="12000"/>
            </a:srgbClr>
          </a:solidFill>
          <a:ln w="12700">
            <a:solidFill>
              <a:srgbClr val="63D7C4">
                <a:alpha val="12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468880" y="4389120"/>
            <a:ext cx="41148" cy="41148"/>
          </a:xfrm>
          <a:prstGeom prst="ellipse">
            <a:avLst/>
          </a:prstGeom>
          <a:solidFill>
            <a:srgbClr val="63D7C4">
              <a:alpha val="12000"/>
            </a:srgbClr>
          </a:solidFill>
          <a:ln w="12700">
            <a:solidFill>
              <a:srgbClr val="63D7C4">
                <a:alpha val="12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474720" y="4389120"/>
            <a:ext cx="41148" cy="41148"/>
          </a:xfrm>
          <a:prstGeom prst="ellipse">
            <a:avLst/>
          </a:prstGeom>
          <a:solidFill>
            <a:srgbClr val="63D7C4">
              <a:alpha val="12000"/>
            </a:srgbClr>
          </a:solidFill>
          <a:ln w="12700">
            <a:solidFill>
              <a:srgbClr val="63D7C4">
                <a:alpha val="12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480560" y="4389120"/>
            <a:ext cx="41148" cy="41148"/>
          </a:xfrm>
          <a:prstGeom prst="ellipse">
            <a:avLst/>
          </a:prstGeom>
          <a:solidFill>
            <a:srgbClr val="63D7C4">
              <a:alpha val="12000"/>
            </a:srgbClr>
          </a:solidFill>
          <a:ln w="12700">
            <a:solidFill>
              <a:srgbClr val="63D7C4">
                <a:alpha val="12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486400" y="4389120"/>
            <a:ext cx="41148" cy="41148"/>
          </a:xfrm>
          <a:prstGeom prst="ellipse">
            <a:avLst/>
          </a:prstGeom>
          <a:solidFill>
            <a:srgbClr val="63D7C4">
              <a:alpha val="12000"/>
            </a:srgbClr>
          </a:solidFill>
          <a:ln w="12700">
            <a:solidFill>
              <a:srgbClr val="63D7C4">
                <a:alpha val="12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492240" y="4389120"/>
            <a:ext cx="41148" cy="41148"/>
          </a:xfrm>
          <a:prstGeom prst="ellipse">
            <a:avLst/>
          </a:prstGeom>
          <a:solidFill>
            <a:srgbClr val="63D7C4">
              <a:alpha val="12000"/>
            </a:srgbClr>
          </a:solidFill>
          <a:ln w="12700">
            <a:solidFill>
              <a:srgbClr val="63D7C4">
                <a:alpha val="12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498080" y="4389120"/>
            <a:ext cx="41148" cy="41148"/>
          </a:xfrm>
          <a:prstGeom prst="ellipse">
            <a:avLst/>
          </a:prstGeom>
          <a:solidFill>
            <a:srgbClr val="63D7C4">
              <a:alpha val="12000"/>
            </a:srgbClr>
          </a:solidFill>
          <a:ln w="12700">
            <a:solidFill>
              <a:srgbClr val="63D7C4">
                <a:alpha val="12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503920" y="4389120"/>
            <a:ext cx="41148" cy="41148"/>
          </a:xfrm>
          <a:prstGeom prst="ellipse">
            <a:avLst/>
          </a:prstGeom>
          <a:solidFill>
            <a:srgbClr val="63D7C4">
              <a:alpha val="12000"/>
            </a:srgbClr>
          </a:solidFill>
          <a:ln w="12700">
            <a:solidFill>
              <a:srgbClr val="63D7C4">
                <a:alpha val="12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828800" y="914400"/>
            <a:ext cx="5486400" cy="3200400"/>
          </a:xfrm>
          <a:prstGeom prst="ellipse">
            <a:avLst/>
          </a:prstGeom>
          <a:solidFill>
            <a:srgbClr val="63D7C4">
              <a:alpha val="4000"/>
            </a:srgbClr>
          </a:solidFill>
          <a:ln w="12700">
            <a:solidFill>
              <a:srgbClr val="63D7C4">
                <a:alpha val="4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291840" y="777240"/>
            <a:ext cx="2560320" cy="274320"/>
          </a:xfrm>
          <a:prstGeom prst="rect">
            <a:avLst/>
          </a:prstGeom>
          <a:solidFill>
            <a:srgbClr val="63D7C4">
              <a:alpha val="20000"/>
            </a:srgbClr>
          </a:solidFill>
          <a:ln w="12700">
            <a:solidFill>
              <a:srgbClr val="63D7C4">
                <a:alpha val="45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91840" y="7772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63D7C4"/>
                </a:solidFill>
              </a:rPr>
              <a:t>FITPULSE ANALYTICS  ·  ML PIPELINE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914400" y="123444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600" b="1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7600" dirty="0"/>
          </a:p>
        </p:txBody>
      </p:sp>
      <p:sp>
        <p:nvSpPr>
          <p:cNvPr id="51" name="Text 49"/>
          <p:cNvSpPr/>
          <p:nvPr/>
        </p:nvSpPr>
        <p:spPr>
          <a:xfrm>
            <a:off x="914400" y="2670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A96"/>
                </a:solidFill>
              </a:rPr>
              <a:t>FitPulse Analytics  ·  ML Pipeline  ·  Satindra Kumar B S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3200400" y="3154680"/>
            <a:ext cx="2743200" cy="22860"/>
          </a:xfrm>
          <a:prstGeom prst="rect">
            <a:avLst/>
          </a:prstGeom>
          <a:solidFill>
            <a:srgbClr val="63D7C4">
              <a:alpha val="50000"/>
            </a:srgbClr>
          </a:solidFill>
          <a:ln w="12700">
            <a:solidFill>
              <a:srgbClr val="63D7C4">
                <a:alpha val="50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0" y="0"/>
            <a:ext cx="36576" cy="5143500"/>
          </a:xfrm>
          <a:prstGeom prst="rect">
            <a:avLst/>
          </a:prstGeom>
          <a:solidFill>
            <a:srgbClr val="63D7C4">
              <a:alpha val="30000"/>
            </a:srgbClr>
          </a:solidFill>
          <a:ln w="12700">
            <a:solidFill>
              <a:srgbClr val="63D7C4">
                <a:alpha val="30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9107424" y="0"/>
            <a:ext cx="36576" cy="5143500"/>
          </a:xfrm>
          <a:prstGeom prst="rect">
            <a:avLst/>
          </a:prstGeom>
          <a:solidFill>
            <a:srgbClr val="63D7C4">
              <a:alpha val="30000"/>
            </a:srgbClr>
          </a:solidFill>
          <a:ln w="12700">
            <a:solidFill>
              <a:srgbClr val="63D7C4">
                <a:alpha val="30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0" y="0"/>
            <a:ext cx="9144000" cy="22860"/>
          </a:xfrm>
          <a:prstGeom prst="rect">
            <a:avLst/>
          </a:prstGeom>
          <a:solidFill>
            <a:srgbClr val="63D7C4">
              <a:alpha val="40000"/>
            </a:srgbClr>
          </a:solidFill>
          <a:ln w="12700">
            <a:solidFill>
              <a:srgbClr val="63D7C4">
                <a:alpha val="4000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</TotalTime>
  <Words>1924</Words>
  <Application>Microsoft Office PowerPoint</Application>
  <PresentationFormat>On-screen Show (16:9)</PresentationFormat>
  <Paragraphs>440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6" baseType="lpstr"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FitPulse Analytics</dc:title>
  <dc:subject>PptxGenJS Presentation</dc:subject>
  <dc:creator>PptxGenJS</dc:creator>
  <cp:lastModifiedBy>SATINDRA KUMAR B S</cp:lastModifiedBy>
  <cp:revision>6</cp:revision>
  <dcterms:created xsi:type="dcterms:W3CDTF">2026-03-27T15:24:55Z</dcterms:created>
  <dcterms:modified xsi:type="dcterms:W3CDTF">2026-03-31T06:36:36Z</dcterms:modified>
</cp:coreProperties>
</file>